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700" r:id="rId6"/>
  </p:sldMasterIdLst>
  <p:notesMasterIdLst>
    <p:notesMasterId r:id="rId16"/>
  </p:notesMasterIdLst>
  <p:sldIdLst>
    <p:sldId id="2147481598" r:id="rId7"/>
    <p:sldId id="463" r:id="rId8"/>
    <p:sldId id="2147482017" r:id="rId9"/>
    <p:sldId id="2147481627" r:id="rId10"/>
    <p:sldId id="2147481557" r:id="rId11"/>
    <p:sldId id="2147481618" r:id="rId12"/>
    <p:sldId id="2147481997" r:id="rId13"/>
    <p:sldId id="2147481612" r:id="rId14"/>
    <p:sldId id="2147481621" r:id="rId15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1F1"/>
    <a:srgbClr val="DFD0B7"/>
    <a:srgbClr val="B99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73BCBA-7170-4A11-B281-0D97790B1EA0}" v="1" dt="2026-10-26T15:27:07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8" d="100"/>
          <a:sy n="118" d="100"/>
        </p:scale>
        <p:origin x="110" y="86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 Bischof CSP AG" userId="ba93d954-b76e-4f3f-b92c-c8f06e28efaa" providerId="ADAL" clId="{6C1CAD37-7E2D-4028-AEB6-26C52642B686}"/>
    <pc:docChg chg="undo custSel addSld delSld modSld sldOrd">
      <pc:chgData name="Adrian Bischof CSP AG" userId="ba93d954-b76e-4f3f-b92c-c8f06e28efaa" providerId="ADAL" clId="{6C1CAD37-7E2D-4028-AEB6-26C52642B686}" dt="2026-10-26T15:28:07.960" v="4312" actId="47"/>
      <pc:docMkLst>
        <pc:docMk/>
      </pc:docMkLst>
      <pc:sldChg chg="modSp del mod">
        <pc:chgData name="Adrian Bischof CSP AG" userId="ba93d954-b76e-4f3f-b92c-c8f06e28efaa" providerId="ADAL" clId="{6C1CAD37-7E2D-4028-AEB6-26C52642B686}" dt="2026-10-26T15:20:48.686" v="4267" actId="47"/>
        <pc:sldMkLst>
          <pc:docMk/>
          <pc:sldMk cId="219996874" sldId="256"/>
        </pc:sldMkLst>
      </pc:sldChg>
      <pc:sldChg chg="del">
        <pc:chgData name="Adrian Bischof CSP AG" userId="ba93d954-b76e-4f3f-b92c-c8f06e28efaa" providerId="ADAL" clId="{6C1CAD37-7E2D-4028-AEB6-26C52642B686}" dt="2026-10-26T15:22:14.432" v="4291" actId="47"/>
        <pc:sldMkLst>
          <pc:docMk/>
          <pc:sldMk cId="2766994596" sldId="348"/>
        </pc:sldMkLst>
      </pc:sldChg>
      <pc:sldChg chg="del">
        <pc:chgData name="Adrian Bischof CSP AG" userId="ba93d954-b76e-4f3f-b92c-c8f06e28efaa" providerId="ADAL" clId="{6C1CAD37-7E2D-4028-AEB6-26C52642B686}" dt="2026-10-26T15:22:57.587" v="4306" actId="47"/>
        <pc:sldMkLst>
          <pc:docMk/>
          <pc:sldMk cId="85644547" sldId="456"/>
        </pc:sldMkLst>
      </pc:sldChg>
      <pc:sldChg chg="del">
        <pc:chgData name="Adrian Bischof CSP AG" userId="ba93d954-b76e-4f3f-b92c-c8f06e28efaa" providerId="ADAL" clId="{6C1CAD37-7E2D-4028-AEB6-26C52642B686}" dt="2026-10-26T15:22:50.263" v="4305" actId="47"/>
        <pc:sldMkLst>
          <pc:docMk/>
          <pc:sldMk cId="1488966129" sldId="457"/>
        </pc:sldMkLst>
      </pc:sldChg>
      <pc:sldChg chg="del">
        <pc:chgData name="Adrian Bischof CSP AG" userId="ba93d954-b76e-4f3f-b92c-c8f06e28efaa" providerId="ADAL" clId="{6C1CAD37-7E2D-4028-AEB6-26C52642B686}" dt="2026-10-26T15:22:15.828" v="4292" actId="47"/>
        <pc:sldMkLst>
          <pc:docMk/>
          <pc:sldMk cId="129462402" sldId="459"/>
        </pc:sldMkLst>
      </pc:sldChg>
      <pc:sldChg chg="addSp delSp modSp del mod ord">
        <pc:chgData name="Adrian Bischof CSP AG" userId="ba93d954-b76e-4f3f-b92c-c8f06e28efaa" providerId="ADAL" clId="{6C1CAD37-7E2D-4028-AEB6-26C52642B686}" dt="2026-10-26T15:20:48.686" v="4267" actId="47"/>
        <pc:sldMkLst>
          <pc:docMk/>
          <pc:sldMk cId="2494259864" sldId="460"/>
        </pc:sldMkLst>
      </pc:sldChg>
      <pc:sldChg chg="del">
        <pc:chgData name="Adrian Bischof CSP AG" userId="ba93d954-b76e-4f3f-b92c-c8f06e28efaa" providerId="ADAL" clId="{6C1CAD37-7E2D-4028-AEB6-26C52642B686}" dt="2026-10-26T15:22:57.587" v="4306" actId="47"/>
        <pc:sldMkLst>
          <pc:docMk/>
          <pc:sldMk cId="2460680347" sldId="461"/>
        </pc:sldMkLst>
      </pc:sldChg>
      <pc:sldChg chg="modSp del mod">
        <pc:chgData name="Adrian Bischof CSP AG" userId="ba93d954-b76e-4f3f-b92c-c8f06e28efaa" providerId="ADAL" clId="{6C1CAD37-7E2D-4028-AEB6-26C52642B686}" dt="2026-10-26T15:20:48.686" v="4267" actId="47"/>
        <pc:sldMkLst>
          <pc:docMk/>
          <pc:sldMk cId="3674619481" sldId="462"/>
        </pc:sldMkLst>
      </pc:sldChg>
      <pc:sldChg chg="ord">
        <pc:chgData name="Adrian Bischof CSP AG" userId="ba93d954-b76e-4f3f-b92c-c8f06e28efaa" providerId="ADAL" clId="{6C1CAD37-7E2D-4028-AEB6-26C52642B686}" dt="2026-10-26T15:21:06.905" v="4270"/>
        <pc:sldMkLst>
          <pc:docMk/>
          <pc:sldMk cId="4247972401" sldId="463"/>
        </pc:sldMkLst>
      </pc:sldChg>
      <pc:sldChg chg="del">
        <pc:chgData name="Adrian Bischof CSP AG" userId="ba93d954-b76e-4f3f-b92c-c8f06e28efaa" providerId="ADAL" clId="{6C1CAD37-7E2D-4028-AEB6-26C52642B686}" dt="2026-10-26T15:21:13.782" v="4272" actId="47"/>
        <pc:sldMkLst>
          <pc:docMk/>
          <pc:sldMk cId="1571813338" sldId="2147471096"/>
        </pc:sldMkLst>
      </pc:sldChg>
      <pc:sldChg chg="del">
        <pc:chgData name="Adrian Bischof CSP AG" userId="ba93d954-b76e-4f3f-b92c-c8f06e28efaa" providerId="ADAL" clId="{6C1CAD37-7E2D-4028-AEB6-26C52642B686}" dt="2026-10-26T15:22:24.854" v="4300" actId="47"/>
        <pc:sldMkLst>
          <pc:docMk/>
          <pc:sldMk cId="924486583" sldId="2147471099"/>
        </pc:sldMkLst>
      </pc:sldChg>
      <pc:sldChg chg="add del">
        <pc:chgData name="Adrian Bischof CSP AG" userId="ba93d954-b76e-4f3f-b92c-c8f06e28efaa" providerId="ADAL" clId="{6C1CAD37-7E2D-4028-AEB6-26C52642B686}" dt="2026-10-26T15:22:43.763" v="4303" actId="47"/>
        <pc:sldMkLst>
          <pc:docMk/>
          <pc:sldMk cId="2749111874" sldId="2147471102"/>
        </pc:sldMkLst>
      </pc:sldChg>
      <pc:sldChg chg="add del">
        <pc:chgData name="Adrian Bischof CSP AG" userId="ba93d954-b76e-4f3f-b92c-c8f06e28efaa" providerId="ADAL" clId="{6C1CAD37-7E2D-4028-AEB6-26C52642B686}" dt="2026-10-26T15:22:43.763" v="4303" actId="47"/>
        <pc:sldMkLst>
          <pc:docMk/>
          <pc:sldMk cId="3320835654" sldId="2147471103"/>
        </pc:sldMkLst>
      </pc:sldChg>
      <pc:sldChg chg="del">
        <pc:chgData name="Adrian Bischof CSP AG" userId="ba93d954-b76e-4f3f-b92c-c8f06e28efaa" providerId="ADAL" clId="{6C1CAD37-7E2D-4028-AEB6-26C52642B686}" dt="2026-10-26T15:22:43.763" v="4303" actId="47"/>
        <pc:sldMkLst>
          <pc:docMk/>
          <pc:sldMk cId="3468607536" sldId="2147471108"/>
        </pc:sldMkLst>
      </pc:sldChg>
      <pc:sldChg chg="del">
        <pc:chgData name="Adrian Bischof CSP AG" userId="ba93d954-b76e-4f3f-b92c-c8f06e28efaa" providerId="ADAL" clId="{6C1CAD37-7E2D-4028-AEB6-26C52642B686}" dt="2026-10-26T15:22:43.763" v="4303" actId="47"/>
        <pc:sldMkLst>
          <pc:docMk/>
          <pc:sldMk cId="2656707068" sldId="2147471109"/>
        </pc:sldMkLst>
      </pc:sldChg>
      <pc:sldChg chg="add del">
        <pc:chgData name="Adrian Bischof CSP AG" userId="ba93d954-b76e-4f3f-b92c-c8f06e28efaa" providerId="ADAL" clId="{6C1CAD37-7E2D-4028-AEB6-26C52642B686}" dt="2026-10-26T15:22:43.763" v="4303" actId="47"/>
        <pc:sldMkLst>
          <pc:docMk/>
          <pc:sldMk cId="4185389792" sldId="2147471117"/>
        </pc:sldMkLst>
      </pc:sldChg>
      <pc:sldChg chg="del">
        <pc:chgData name="Adrian Bischof CSP AG" userId="ba93d954-b76e-4f3f-b92c-c8f06e28efaa" providerId="ADAL" clId="{6C1CAD37-7E2D-4028-AEB6-26C52642B686}" dt="2026-10-26T15:21:03.209" v="4268" actId="47"/>
        <pc:sldMkLst>
          <pc:docMk/>
          <pc:sldMk cId="856925162" sldId="2147481554"/>
        </pc:sldMkLst>
      </pc:sldChg>
      <pc:sldChg chg="del">
        <pc:chgData name="Adrian Bischof CSP AG" userId="ba93d954-b76e-4f3f-b92c-c8f06e28efaa" providerId="ADAL" clId="{6C1CAD37-7E2D-4028-AEB6-26C52642B686}" dt="2026-10-26T15:21:37.177" v="4278" actId="47"/>
        <pc:sldMkLst>
          <pc:docMk/>
          <pc:sldMk cId="1873296130" sldId="2147481555"/>
        </pc:sldMkLst>
      </pc:sldChg>
      <pc:sldChg chg="del">
        <pc:chgData name="Adrian Bischof CSP AG" userId="ba93d954-b76e-4f3f-b92c-c8f06e28efaa" providerId="ADAL" clId="{6C1CAD37-7E2D-4028-AEB6-26C52642B686}" dt="2026-10-26T15:22:19.788" v="4296" actId="47"/>
        <pc:sldMkLst>
          <pc:docMk/>
          <pc:sldMk cId="3322506454" sldId="2147481575"/>
        </pc:sldMkLst>
      </pc:sldChg>
      <pc:sldChg chg="ord">
        <pc:chgData name="Adrian Bischof CSP AG" userId="ba93d954-b76e-4f3f-b92c-c8f06e28efaa" providerId="ADAL" clId="{6C1CAD37-7E2D-4028-AEB6-26C52642B686}" dt="2026-10-26T15:27:38.765" v="4310"/>
        <pc:sldMkLst>
          <pc:docMk/>
          <pc:sldMk cId="2272419250" sldId="2147481598"/>
        </pc:sldMkLst>
      </pc:sldChg>
      <pc:sldChg chg="del">
        <pc:chgData name="Adrian Bischof CSP AG" userId="ba93d954-b76e-4f3f-b92c-c8f06e28efaa" providerId="ADAL" clId="{6C1CAD37-7E2D-4028-AEB6-26C52642B686}" dt="2026-10-26T15:22:23.252" v="4299" actId="47"/>
        <pc:sldMkLst>
          <pc:docMk/>
          <pc:sldMk cId="2497964009" sldId="2147481599"/>
        </pc:sldMkLst>
      </pc:sldChg>
      <pc:sldChg chg="add del">
        <pc:chgData name="Adrian Bischof CSP AG" userId="ba93d954-b76e-4f3f-b92c-c8f06e28efaa" providerId="ADAL" clId="{6C1CAD37-7E2D-4028-AEB6-26C52642B686}" dt="2026-10-26T15:22:47.888" v="4304" actId="47"/>
        <pc:sldMkLst>
          <pc:docMk/>
          <pc:sldMk cId="1439100812" sldId="2147481600"/>
        </pc:sldMkLst>
      </pc:sldChg>
      <pc:sldChg chg="add del">
        <pc:chgData name="Adrian Bischof CSP AG" userId="ba93d954-b76e-4f3f-b92c-c8f06e28efaa" providerId="ADAL" clId="{6C1CAD37-7E2D-4028-AEB6-26C52642B686}" dt="2026-10-26T15:22:47.888" v="4304" actId="47"/>
        <pc:sldMkLst>
          <pc:docMk/>
          <pc:sldMk cId="2086663055" sldId="2147481601"/>
        </pc:sldMkLst>
      </pc:sldChg>
      <pc:sldChg chg="del">
        <pc:chgData name="Adrian Bischof CSP AG" userId="ba93d954-b76e-4f3f-b92c-c8f06e28efaa" providerId="ADAL" clId="{6C1CAD37-7E2D-4028-AEB6-26C52642B686}" dt="2026-10-26T15:21:08.796" v="4271" actId="47"/>
        <pc:sldMkLst>
          <pc:docMk/>
          <pc:sldMk cId="2211421615" sldId="2147481607"/>
        </pc:sldMkLst>
      </pc:sldChg>
      <pc:sldChg chg="del">
        <pc:chgData name="Adrian Bischof CSP AG" userId="ba93d954-b76e-4f3f-b92c-c8f06e28efaa" providerId="ADAL" clId="{6C1CAD37-7E2D-4028-AEB6-26C52642B686}" dt="2026-10-26T15:22:43.763" v="4303" actId="47"/>
        <pc:sldMkLst>
          <pc:docMk/>
          <pc:sldMk cId="505738593" sldId="2147481608"/>
        </pc:sldMkLst>
      </pc:sldChg>
      <pc:sldChg chg="del">
        <pc:chgData name="Adrian Bischof CSP AG" userId="ba93d954-b76e-4f3f-b92c-c8f06e28efaa" providerId="ADAL" clId="{6C1CAD37-7E2D-4028-AEB6-26C52642B686}" dt="2026-10-26T15:22:57.587" v="4306" actId="47"/>
        <pc:sldMkLst>
          <pc:docMk/>
          <pc:sldMk cId="2496867244" sldId="2147481611"/>
        </pc:sldMkLst>
      </pc:sldChg>
      <pc:sldChg chg="ord">
        <pc:chgData name="Adrian Bischof CSP AG" userId="ba93d954-b76e-4f3f-b92c-c8f06e28efaa" providerId="ADAL" clId="{6C1CAD37-7E2D-4028-AEB6-26C52642B686}" dt="2026-10-26T15:21:49.830" v="4285"/>
        <pc:sldMkLst>
          <pc:docMk/>
          <pc:sldMk cId="3446609002" sldId="2147481618"/>
        </pc:sldMkLst>
      </pc:sldChg>
      <pc:sldChg chg="del">
        <pc:chgData name="Adrian Bischof CSP AG" userId="ba93d954-b76e-4f3f-b92c-c8f06e28efaa" providerId="ADAL" clId="{6C1CAD37-7E2D-4028-AEB6-26C52642B686}" dt="2026-10-26T15:21:43.403" v="4281" actId="47"/>
        <pc:sldMkLst>
          <pc:docMk/>
          <pc:sldMk cId="2160655456" sldId="2147481619"/>
        </pc:sldMkLst>
      </pc:sldChg>
      <pc:sldChg chg="del">
        <pc:chgData name="Adrian Bischof CSP AG" userId="ba93d954-b76e-4f3f-b92c-c8f06e28efaa" providerId="ADAL" clId="{6C1CAD37-7E2D-4028-AEB6-26C52642B686}" dt="2026-10-26T15:23:07.077" v="4307" actId="47"/>
        <pc:sldMkLst>
          <pc:docMk/>
          <pc:sldMk cId="1654452280" sldId="2147481620"/>
        </pc:sldMkLst>
      </pc:sldChg>
      <pc:sldChg chg="ord">
        <pc:chgData name="Adrian Bischof CSP AG" userId="ba93d954-b76e-4f3f-b92c-c8f06e28efaa" providerId="ADAL" clId="{6C1CAD37-7E2D-4028-AEB6-26C52642B686}" dt="2026-10-26T15:21:19.705" v="4274"/>
        <pc:sldMkLst>
          <pc:docMk/>
          <pc:sldMk cId="2653488307" sldId="2147481627"/>
        </pc:sldMkLst>
      </pc:sldChg>
      <pc:sldChg chg="del">
        <pc:chgData name="Adrian Bischof CSP AG" userId="ba93d954-b76e-4f3f-b92c-c8f06e28efaa" providerId="ADAL" clId="{6C1CAD37-7E2D-4028-AEB6-26C52642B686}" dt="2026-10-26T15:22:22.151" v="4298" actId="47"/>
        <pc:sldMkLst>
          <pc:docMk/>
          <pc:sldMk cId="3999988259" sldId="2147481629"/>
        </pc:sldMkLst>
      </pc:sldChg>
      <pc:sldChg chg="del">
        <pc:chgData name="Adrian Bischof CSP AG" userId="ba93d954-b76e-4f3f-b92c-c8f06e28efaa" providerId="ADAL" clId="{6C1CAD37-7E2D-4028-AEB6-26C52642B686}" dt="2026-10-26T15:21:41.905" v="4280" actId="47"/>
        <pc:sldMkLst>
          <pc:docMk/>
          <pc:sldMk cId="2334356368" sldId="2147481974"/>
        </pc:sldMkLst>
      </pc:sldChg>
      <pc:sldChg chg="del">
        <pc:chgData name="Adrian Bischof CSP AG" userId="ba93d954-b76e-4f3f-b92c-c8f06e28efaa" providerId="ADAL" clId="{6C1CAD37-7E2D-4028-AEB6-26C52642B686}" dt="2026-10-26T15:27:48.607" v="4311" actId="47"/>
        <pc:sldMkLst>
          <pc:docMk/>
          <pc:sldMk cId="2777860627" sldId="2147481980"/>
        </pc:sldMkLst>
      </pc:sldChg>
      <pc:sldChg chg="del">
        <pc:chgData name="Adrian Bischof CSP AG" userId="ba93d954-b76e-4f3f-b92c-c8f06e28efaa" providerId="ADAL" clId="{6C1CAD37-7E2D-4028-AEB6-26C52642B686}" dt="2026-10-26T15:22:11.518" v="4289" actId="47"/>
        <pc:sldMkLst>
          <pc:docMk/>
          <pc:sldMk cId="143654876" sldId="2147481984"/>
        </pc:sldMkLst>
      </pc:sldChg>
      <pc:sldChg chg="del">
        <pc:chgData name="Adrian Bischof CSP AG" userId="ba93d954-b76e-4f3f-b92c-c8f06e28efaa" providerId="ADAL" clId="{6C1CAD37-7E2D-4028-AEB6-26C52642B686}" dt="2026-10-26T15:21:38.231" v="4279" actId="47"/>
        <pc:sldMkLst>
          <pc:docMk/>
          <pc:sldMk cId="1461464308" sldId="2147481985"/>
        </pc:sldMkLst>
      </pc:sldChg>
      <pc:sldChg chg="del">
        <pc:chgData name="Adrian Bischof CSP AG" userId="ba93d954-b76e-4f3f-b92c-c8f06e28efaa" providerId="ADAL" clId="{6C1CAD37-7E2D-4028-AEB6-26C52642B686}" dt="2026-10-26T15:22:20.600" v="4297" actId="47"/>
        <pc:sldMkLst>
          <pc:docMk/>
          <pc:sldMk cId="994139435" sldId="2147481986"/>
        </pc:sldMkLst>
      </pc:sldChg>
      <pc:sldChg chg="del">
        <pc:chgData name="Adrian Bischof CSP AG" userId="ba93d954-b76e-4f3f-b92c-c8f06e28efaa" providerId="ADAL" clId="{6C1CAD37-7E2D-4028-AEB6-26C52642B686}" dt="2026-10-26T15:21:32.587" v="4275" actId="47"/>
        <pc:sldMkLst>
          <pc:docMk/>
          <pc:sldMk cId="2565355395" sldId="2147481987"/>
        </pc:sldMkLst>
      </pc:sldChg>
      <pc:sldChg chg="modSp add del mod">
        <pc:chgData name="Adrian Bischof CSP AG" userId="ba93d954-b76e-4f3f-b92c-c8f06e28efaa" providerId="ADAL" clId="{6C1CAD37-7E2D-4028-AEB6-26C52642B686}" dt="2026-10-26T15:20:48.686" v="4267" actId="47"/>
        <pc:sldMkLst>
          <pc:docMk/>
          <pc:sldMk cId="965522109" sldId="2147481989"/>
        </pc:sldMkLst>
      </pc:sldChg>
      <pc:sldChg chg="del">
        <pc:chgData name="Adrian Bischof CSP AG" userId="ba93d954-b76e-4f3f-b92c-c8f06e28efaa" providerId="ADAL" clId="{6C1CAD37-7E2D-4028-AEB6-26C52642B686}" dt="2026-10-26T15:22:17.980" v="4295" actId="47"/>
        <pc:sldMkLst>
          <pc:docMk/>
          <pc:sldMk cId="2837413468" sldId="2147481990"/>
        </pc:sldMkLst>
      </pc:sldChg>
      <pc:sldChg chg="del">
        <pc:chgData name="Adrian Bischof CSP AG" userId="ba93d954-b76e-4f3f-b92c-c8f06e28efaa" providerId="ADAL" clId="{6C1CAD37-7E2D-4028-AEB6-26C52642B686}" dt="2026-10-26T15:21:51.805" v="4286" actId="47"/>
        <pc:sldMkLst>
          <pc:docMk/>
          <pc:sldMk cId="3426057491" sldId="2147481991"/>
        </pc:sldMkLst>
      </pc:sldChg>
      <pc:sldChg chg="del">
        <pc:chgData name="Adrian Bischof CSP AG" userId="ba93d954-b76e-4f3f-b92c-c8f06e28efaa" providerId="ADAL" clId="{6C1CAD37-7E2D-4028-AEB6-26C52642B686}" dt="2026-10-26T15:22:05.423" v="4288" actId="47"/>
        <pc:sldMkLst>
          <pc:docMk/>
          <pc:sldMk cId="188441608" sldId="2147481992"/>
        </pc:sldMkLst>
      </pc:sldChg>
      <pc:sldChg chg="del">
        <pc:chgData name="Adrian Bischof CSP AG" userId="ba93d954-b76e-4f3f-b92c-c8f06e28efaa" providerId="ADAL" clId="{6C1CAD37-7E2D-4028-AEB6-26C52642B686}" dt="2026-10-26T15:28:07.960" v="4312" actId="47"/>
        <pc:sldMkLst>
          <pc:docMk/>
          <pc:sldMk cId="2828948678" sldId="2147481994"/>
        </pc:sldMkLst>
      </pc:sldChg>
      <pc:sldChg chg="del">
        <pc:chgData name="Adrian Bischof CSP AG" userId="ba93d954-b76e-4f3f-b92c-c8f06e28efaa" providerId="ADAL" clId="{6C1CAD37-7E2D-4028-AEB6-26C52642B686}" dt="2026-10-26T15:21:34.257" v="4276" actId="47"/>
        <pc:sldMkLst>
          <pc:docMk/>
          <pc:sldMk cId="152429098" sldId="2147481995"/>
        </pc:sldMkLst>
      </pc:sldChg>
      <pc:sldChg chg="del">
        <pc:chgData name="Adrian Bischof CSP AG" userId="ba93d954-b76e-4f3f-b92c-c8f06e28efaa" providerId="ADAL" clId="{6C1CAD37-7E2D-4028-AEB6-26C52642B686}" dt="2026-10-26T15:21:36.543" v="4277" actId="47"/>
        <pc:sldMkLst>
          <pc:docMk/>
          <pc:sldMk cId="47539189" sldId="2147481996"/>
        </pc:sldMkLst>
      </pc:sldChg>
      <pc:sldChg chg="del">
        <pc:chgData name="Adrian Bischof CSP AG" userId="ba93d954-b76e-4f3f-b92c-c8f06e28efaa" providerId="ADAL" clId="{6C1CAD37-7E2D-4028-AEB6-26C52642B686}" dt="2026-10-26T15:22:17.311" v="4294" actId="47"/>
        <pc:sldMkLst>
          <pc:docMk/>
          <pc:sldMk cId="3482054672" sldId="2147481998"/>
        </pc:sldMkLst>
      </pc:sldChg>
      <pc:sldChg chg="del">
        <pc:chgData name="Adrian Bischof CSP AG" userId="ba93d954-b76e-4f3f-b92c-c8f06e28efaa" providerId="ADAL" clId="{6C1CAD37-7E2D-4028-AEB6-26C52642B686}" dt="2026-10-26T15:22:03.199" v="4287" actId="47"/>
        <pc:sldMkLst>
          <pc:docMk/>
          <pc:sldMk cId="778523235" sldId="2147481999"/>
        </pc:sldMkLst>
      </pc:sldChg>
      <pc:sldChg chg="del">
        <pc:chgData name="Adrian Bischof CSP AG" userId="ba93d954-b76e-4f3f-b92c-c8f06e28efaa" providerId="ADAL" clId="{6C1CAD37-7E2D-4028-AEB6-26C52642B686}" dt="2026-10-26T15:22:12.859" v="4290" actId="47"/>
        <pc:sldMkLst>
          <pc:docMk/>
          <pc:sldMk cId="1123058540" sldId="2147482000"/>
        </pc:sldMkLst>
      </pc:sldChg>
      <pc:sldChg chg="del">
        <pc:chgData name="Adrian Bischof CSP AG" userId="ba93d954-b76e-4f3f-b92c-c8f06e28efaa" providerId="ADAL" clId="{6C1CAD37-7E2D-4028-AEB6-26C52642B686}" dt="2026-10-26T15:22:16.453" v="4293" actId="47"/>
        <pc:sldMkLst>
          <pc:docMk/>
          <pc:sldMk cId="2052586008" sldId="2147482001"/>
        </pc:sldMkLst>
      </pc:sldChg>
      <pc:sldChg chg="add">
        <pc:chgData name="Adrian Bischof CSP AG" userId="ba93d954-b76e-4f3f-b92c-c8f06e28efaa" providerId="ADAL" clId="{6C1CAD37-7E2D-4028-AEB6-26C52642B686}" dt="2026-10-26T15:27:07.325" v="4308"/>
        <pc:sldMkLst>
          <pc:docMk/>
          <pc:sldMk cId="4269050528" sldId="2147482017"/>
        </pc:sldMkLst>
      </pc:sldChg>
      <pc:sldMasterChg chg="delSldLayout">
        <pc:chgData name="Adrian Bischof CSP AG" userId="ba93d954-b76e-4f3f-b92c-c8f06e28efaa" providerId="ADAL" clId="{6C1CAD37-7E2D-4028-AEB6-26C52642B686}" dt="2026-10-26T15:22:43.763" v="4303" actId="47"/>
        <pc:sldMasterMkLst>
          <pc:docMk/>
          <pc:sldMasterMk cId="985514993" sldId="2147483660"/>
        </pc:sldMasterMkLst>
        <pc:sldLayoutChg chg="del">
          <pc:chgData name="Adrian Bischof CSP AG" userId="ba93d954-b76e-4f3f-b92c-c8f06e28efaa" providerId="ADAL" clId="{6C1CAD37-7E2D-4028-AEB6-26C52642B686}" dt="2026-10-26T15:22:43.763" v="4303" actId="47"/>
          <pc:sldLayoutMkLst>
            <pc:docMk/>
            <pc:sldMasterMk cId="985514993" sldId="2147483660"/>
            <pc:sldLayoutMk cId="619185964" sldId="214748369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E69B5-3543-4FF3-AF26-A4968D95304E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E3B8D-6203-4B15-AB43-BDAA0FF6AEA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5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FD0D9-31B4-11A4-6A3F-4AA4F7CC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1AB8F-E10D-67DC-5772-9B408900A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E4771-3FDF-2423-A7CF-BA923000F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210AB-97D6-171E-CCE4-FF7082135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E0020C-34B3-4644-B138-3A9503ECB2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311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E17C2-1475-A478-C0D7-75F8FD43C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ED36C-79FF-89A6-0925-D1BC669AD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8661C-047F-35D0-EC46-67438F1F5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09C8D-0EEC-4999-D522-6E8FB2F77C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19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4E3B8D-6203-4B15-AB43-BDAA0FF6AEA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128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A352-B508-7CCA-3A4A-87A4FB1B1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5966866-04ED-6B8A-F74B-2FEB39645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CF3B616-3A9F-C323-437F-471705102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A9FFB4-3E24-B02A-686D-67C430E55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4E3B8D-6203-4B15-AB43-BDAA0FF6AEA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091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Funnel</a:t>
            </a:r>
            <a:r>
              <a:rPr lang="de-CH" dirty="0"/>
              <a:t>  - Gates</a:t>
            </a:r>
          </a:p>
          <a:p>
            <a:r>
              <a:rPr lang="de-CH" dirty="0"/>
              <a:t>Matrix mit diversen </a:t>
            </a:r>
            <a:r>
              <a:rPr lang="de-CH" dirty="0" err="1"/>
              <a:t>gewichtungen</a:t>
            </a:r>
            <a:endParaRPr lang="de-CH" dirty="0"/>
          </a:p>
          <a:p>
            <a:r>
              <a:rPr lang="de-CH" dirty="0"/>
              <a:t>Ressourcen versus Nutzen</a:t>
            </a:r>
          </a:p>
          <a:p>
            <a:r>
              <a:rPr lang="de-CH" dirty="0" err="1"/>
              <a:t>Waterline</a:t>
            </a:r>
            <a:endParaRPr lang="de-CH" dirty="0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4E3B8D-6203-4B15-AB43-BDAA0FF6AEA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220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5DAAD83-993F-4298-83A1-CD990206B4DD}"/>
              </a:ext>
            </a:extLst>
          </p:cNvPr>
          <p:cNvGrpSpPr/>
          <p:nvPr userDrawn="1"/>
        </p:nvGrpSpPr>
        <p:grpSpPr>
          <a:xfrm>
            <a:off x="0" y="3032125"/>
            <a:ext cx="12192000" cy="3825875"/>
            <a:chOff x="0" y="2608263"/>
            <a:chExt cx="9144001" cy="2535237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12960E97-54B1-4E01-8C28-B065FC340413}"/>
                </a:ext>
              </a:extLst>
            </p:cNvPr>
            <p:cNvSpPr/>
            <p:nvPr userDrawn="1"/>
          </p:nvSpPr>
          <p:spPr>
            <a:xfrm>
              <a:off x="0" y="2608263"/>
              <a:ext cx="91440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9" name="Parallelogramm 8">
              <a:extLst>
                <a:ext uri="{FF2B5EF4-FFF2-40B4-BE49-F238E27FC236}">
                  <a16:creationId xmlns:a16="http://schemas.microsoft.com/office/drawing/2014/main" id="{0BC97C79-BC41-455F-911E-09C085A660D7}"/>
                </a:ext>
              </a:extLst>
            </p:cNvPr>
            <p:cNvSpPr/>
            <p:nvPr userDrawn="1"/>
          </p:nvSpPr>
          <p:spPr>
            <a:xfrm>
              <a:off x="5727032" y="2608263"/>
              <a:ext cx="3416969" cy="2535237"/>
            </a:xfrm>
            <a:prstGeom prst="parallelogram">
              <a:avLst>
                <a:gd name="adj" fmla="val 5052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EB5166AA-4A6F-4DB5-B6C5-8ABD7A4C855A}"/>
                </a:ext>
              </a:extLst>
            </p:cNvPr>
            <p:cNvSpPr/>
            <p:nvPr userDrawn="1"/>
          </p:nvSpPr>
          <p:spPr>
            <a:xfrm flipH="1">
              <a:off x="2677026" y="2608263"/>
              <a:ext cx="5927224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1" name="Parallelogramm 10">
              <a:extLst>
                <a:ext uri="{FF2B5EF4-FFF2-40B4-BE49-F238E27FC236}">
                  <a16:creationId xmlns:a16="http://schemas.microsoft.com/office/drawing/2014/main" id="{7668BD9C-CB6F-4571-877B-9D0F9E59DCFB}"/>
                </a:ext>
              </a:extLst>
            </p:cNvPr>
            <p:cNvSpPr/>
            <p:nvPr userDrawn="1"/>
          </p:nvSpPr>
          <p:spPr>
            <a:xfrm>
              <a:off x="420946" y="2608263"/>
              <a:ext cx="5047407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36B8DD-062A-4CA8-9240-15D5B1B8CE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11110922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D929D84A-733F-4874-B0D9-57EBA31357CE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1CF094C0-EFAB-4066-8D9C-03DA362762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11110913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8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3241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- Bildplatzh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5DAAD83-993F-4298-83A1-CD990206B4DD}"/>
              </a:ext>
            </a:extLst>
          </p:cNvPr>
          <p:cNvGrpSpPr/>
          <p:nvPr userDrawn="1"/>
        </p:nvGrpSpPr>
        <p:grpSpPr>
          <a:xfrm>
            <a:off x="0" y="3032125"/>
            <a:ext cx="12192000" cy="3825875"/>
            <a:chOff x="0" y="2608263"/>
            <a:chExt cx="9144001" cy="2535237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12960E97-54B1-4E01-8C28-B065FC340413}"/>
                </a:ext>
              </a:extLst>
            </p:cNvPr>
            <p:cNvSpPr/>
            <p:nvPr userDrawn="1"/>
          </p:nvSpPr>
          <p:spPr>
            <a:xfrm>
              <a:off x="0" y="2608263"/>
              <a:ext cx="91440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9" name="Parallelogramm 8">
              <a:extLst>
                <a:ext uri="{FF2B5EF4-FFF2-40B4-BE49-F238E27FC236}">
                  <a16:creationId xmlns:a16="http://schemas.microsoft.com/office/drawing/2014/main" id="{0BC97C79-BC41-455F-911E-09C085A660D7}"/>
                </a:ext>
              </a:extLst>
            </p:cNvPr>
            <p:cNvSpPr/>
            <p:nvPr userDrawn="1"/>
          </p:nvSpPr>
          <p:spPr>
            <a:xfrm>
              <a:off x="5727032" y="2608263"/>
              <a:ext cx="3416969" cy="2535237"/>
            </a:xfrm>
            <a:prstGeom prst="parallelogram">
              <a:avLst>
                <a:gd name="adj" fmla="val 5052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EB5166AA-4A6F-4DB5-B6C5-8ABD7A4C855A}"/>
                </a:ext>
              </a:extLst>
            </p:cNvPr>
            <p:cNvSpPr/>
            <p:nvPr userDrawn="1"/>
          </p:nvSpPr>
          <p:spPr>
            <a:xfrm flipH="1">
              <a:off x="2677026" y="2608263"/>
              <a:ext cx="5927224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1" name="Parallelogramm 10">
              <a:extLst>
                <a:ext uri="{FF2B5EF4-FFF2-40B4-BE49-F238E27FC236}">
                  <a16:creationId xmlns:a16="http://schemas.microsoft.com/office/drawing/2014/main" id="{7668BD9C-CB6F-4571-877B-9D0F9E59DCFB}"/>
                </a:ext>
              </a:extLst>
            </p:cNvPr>
            <p:cNvSpPr/>
            <p:nvPr userDrawn="1"/>
          </p:nvSpPr>
          <p:spPr>
            <a:xfrm>
              <a:off x="420946" y="2608263"/>
              <a:ext cx="5047407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36B8DD-062A-4CA8-9240-15D5B1B8CE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11110922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E3C0ED92-8E68-4CC0-8D27-CBB9406330A1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1CF094C0-EFAB-4066-8D9C-03DA362762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11110913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8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A026631A-EF2D-47E5-BF78-DF8F00BCDA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3780" y="3032124"/>
            <a:ext cx="6909534" cy="3825875"/>
          </a:xfrm>
          <a:prstGeom prst="parallelogram">
            <a:avLst>
              <a:gd name="adj" fmla="val 5089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513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A118F019-2D00-4E6F-A7C1-5C603F458B15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grpSp>
        <p:nvGrpSpPr>
          <p:cNvPr id="15" name="Gruppieren 2">
            <a:extLst>
              <a:ext uri="{FF2B5EF4-FFF2-40B4-BE49-F238E27FC236}">
                <a16:creationId xmlns:a16="http://schemas.microsoft.com/office/drawing/2014/main" id="{69CFE4FA-5183-4B4B-B438-8859E4C44605}"/>
              </a:ext>
            </a:extLst>
          </p:cNvPr>
          <p:cNvGrpSpPr/>
          <p:nvPr userDrawn="1"/>
        </p:nvGrpSpPr>
        <p:grpSpPr>
          <a:xfrm>
            <a:off x="0" y="3032125"/>
            <a:ext cx="12192000" cy="3825875"/>
            <a:chOff x="0" y="2608263"/>
            <a:chExt cx="9144001" cy="2535237"/>
          </a:xfrm>
        </p:grpSpPr>
        <p:sp>
          <p:nvSpPr>
            <p:cNvPr id="16" name="Rechteck 7">
              <a:extLst>
                <a:ext uri="{FF2B5EF4-FFF2-40B4-BE49-F238E27FC236}">
                  <a16:creationId xmlns:a16="http://schemas.microsoft.com/office/drawing/2014/main" id="{B814E407-C45D-48D9-B230-46F21673274B}"/>
                </a:ext>
              </a:extLst>
            </p:cNvPr>
            <p:cNvSpPr/>
            <p:nvPr userDrawn="1"/>
          </p:nvSpPr>
          <p:spPr>
            <a:xfrm>
              <a:off x="0" y="2608263"/>
              <a:ext cx="91440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7" name="Parallelogramm 8">
              <a:extLst>
                <a:ext uri="{FF2B5EF4-FFF2-40B4-BE49-F238E27FC236}">
                  <a16:creationId xmlns:a16="http://schemas.microsoft.com/office/drawing/2014/main" id="{C8C112E6-CBBE-4533-8360-A58B0D942443}"/>
                </a:ext>
              </a:extLst>
            </p:cNvPr>
            <p:cNvSpPr/>
            <p:nvPr userDrawn="1"/>
          </p:nvSpPr>
          <p:spPr>
            <a:xfrm>
              <a:off x="5727032" y="2608263"/>
              <a:ext cx="3416969" cy="2535237"/>
            </a:xfrm>
            <a:prstGeom prst="parallelogram">
              <a:avLst>
                <a:gd name="adj" fmla="val 5052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8" name="Parallelogramm 9">
              <a:extLst>
                <a:ext uri="{FF2B5EF4-FFF2-40B4-BE49-F238E27FC236}">
                  <a16:creationId xmlns:a16="http://schemas.microsoft.com/office/drawing/2014/main" id="{8E665A82-EE71-458E-B8B5-FF38A2E53346}"/>
                </a:ext>
              </a:extLst>
            </p:cNvPr>
            <p:cNvSpPr/>
            <p:nvPr userDrawn="1"/>
          </p:nvSpPr>
          <p:spPr>
            <a:xfrm flipH="1">
              <a:off x="2677026" y="2608263"/>
              <a:ext cx="5927224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9" name="Parallelogramm 10">
              <a:extLst>
                <a:ext uri="{FF2B5EF4-FFF2-40B4-BE49-F238E27FC236}">
                  <a16:creationId xmlns:a16="http://schemas.microsoft.com/office/drawing/2014/main" id="{9139438F-EC8E-4914-8ADC-AB63B380A046}"/>
                </a:ext>
              </a:extLst>
            </p:cNvPr>
            <p:cNvSpPr/>
            <p:nvPr userDrawn="1"/>
          </p:nvSpPr>
          <p:spPr>
            <a:xfrm>
              <a:off x="420946" y="2608263"/>
              <a:ext cx="5047407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</p:grp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82888233-F8B6-4053-A590-8C1FDE669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11110913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8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79988A53-9A36-4895-A184-CBED5C7E95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11110922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pic>
        <p:nvPicPr>
          <p:cNvPr id="3" name="Grafik 2" descr="Ein Bild, das Tisch, drinnen, Raum, Mann enthält.&#10;&#10;Automatisch generierte Beschreibung">
            <a:extLst>
              <a:ext uri="{FF2B5EF4-FFF2-40B4-BE49-F238E27FC236}">
                <a16:creationId xmlns:a16="http://schemas.microsoft.com/office/drawing/2014/main" id="{07036AD6-05CD-4F16-BD31-E7A8658D7A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" t="13989" r="-2"/>
          <a:stretch/>
        </p:blipFill>
        <p:spPr>
          <a:xfrm>
            <a:off x="543780" y="3032124"/>
            <a:ext cx="6909534" cy="3825875"/>
          </a:xfrm>
          <a:prstGeom prst="parallelogram">
            <a:avLst>
              <a:gd name="adj" fmla="val 50761"/>
            </a:avLst>
          </a:prstGeom>
        </p:spPr>
      </p:pic>
    </p:spTree>
    <p:extLst>
      <p:ext uri="{BB962C8B-B14F-4D97-AF65-F5344CB8AC3E}">
        <p14:creationId xmlns:p14="http://schemas.microsoft.com/office/powerpoint/2010/main" val="262851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85C1B93C-F71E-4512-8FC2-E164B121EAD0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grpSp>
        <p:nvGrpSpPr>
          <p:cNvPr id="15" name="Gruppieren 2">
            <a:extLst>
              <a:ext uri="{FF2B5EF4-FFF2-40B4-BE49-F238E27FC236}">
                <a16:creationId xmlns:a16="http://schemas.microsoft.com/office/drawing/2014/main" id="{69CFE4FA-5183-4B4B-B438-8859E4C44605}"/>
              </a:ext>
            </a:extLst>
          </p:cNvPr>
          <p:cNvGrpSpPr/>
          <p:nvPr userDrawn="1"/>
        </p:nvGrpSpPr>
        <p:grpSpPr>
          <a:xfrm>
            <a:off x="0" y="3032125"/>
            <a:ext cx="12192000" cy="3825875"/>
            <a:chOff x="0" y="2608263"/>
            <a:chExt cx="9144001" cy="2535237"/>
          </a:xfrm>
        </p:grpSpPr>
        <p:sp>
          <p:nvSpPr>
            <p:cNvPr id="16" name="Rechteck 7">
              <a:extLst>
                <a:ext uri="{FF2B5EF4-FFF2-40B4-BE49-F238E27FC236}">
                  <a16:creationId xmlns:a16="http://schemas.microsoft.com/office/drawing/2014/main" id="{B814E407-C45D-48D9-B230-46F21673274B}"/>
                </a:ext>
              </a:extLst>
            </p:cNvPr>
            <p:cNvSpPr/>
            <p:nvPr userDrawn="1"/>
          </p:nvSpPr>
          <p:spPr>
            <a:xfrm>
              <a:off x="0" y="2608263"/>
              <a:ext cx="91440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7" name="Parallelogramm 8">
              <a:extLst>
                <a:ext uri="{FF2B5EF4-FFF2-40B4-BE49-F238E27FC236}">
                  <a16:creationId xmlns:a16="http://schemas.microsoft.com/office/drawing/2014/main" id="{C8C112E6-CBBE-4533-8360-A58B0D942443}"/>
                </a:ext>
              </a:extLst>
            </p:cNvPr>
            <p:cNvSpPr/>
            <p:nvPr userDrawn="1"/>
          </p:nvSpPr>
          <p:spPr>
            <a:xfrm>
              <a:off x="5727032" y="2608263"/>
              <a:ext cx="3416969" cy="2535237"/>
            </a:xfrm>
            <a:prstGeom prst="parallelogram">
              <a:avLst>
                <a:gd name="adj" fmla="val 5052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8" name="Parallelogramm 9">
              <a:extLst>
                <a:ext uri="{FF2B5EF4-FFF2-40B4-BE49-F238E27FC236}">
                  <a16:creationId xmlns:a16="http://schemas.microsoft.com/office/drawing/2014/main" id="{8E665A82-EE71-458E-B8B5-FF38A2E53346}"/>
                </a:ext>
              </a:extLst>
            </p:cNvPr>
            <p:cNvSpPr/>
            <p:nvPr userDrawn="1"/>
          </p:nvSpPr>
          <p:spPr>
            <a:xfrm flipH="1">
              <a:off x="2677026" y="2608263"/>
              <a:ext cx="5927224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9" name="Parallelogramm 10">
              <a:extLst>
                <a:ext uri="{FF2B5EF4-FFF2-40B4-BE49-F238E27FC236}">
                  <a16:creationId xmlns:a16="http://schemas.microsoft.com/office/drawing/2014/main" id="{9139438F-EC8E-4914-8ADC-AB63B380A046}"/>
                </a:ext>
              </a:extLst>
            </p:cNvPr>
            <p:cNvSpPr/>
            <p:nvPr userDrawn="1"/>
          </p:nvSpPr>
          <p:spPr>
            <a:xfrm>
              <a:off x="420946" y="2608263"/>
              <a:ext cx="5047407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</p:grp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82888233-F8B6-4053-A590-8C1FDE669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11110913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8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79988A53-9A36-4895-A184-CBED5C7E95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11110922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pic>
        <p:nvPicPr>
          <p:cNvPr id="7" name="Grafik 6" descr="Ein Bild, das Person, Mann, drinnen, stehend enthält.&#10;&#10;Automatisch generierte Beschreibung">
            <a:extLst>
              <a:ext uri="{FF2B5EF4-FFF2-40B4-BE49-F238E27FC236}">
                <a16:creationId xmlns:a16="http://schemas.microsoft.com/office/drawing/2014/main" id="{5527B67E-7778-4F50-9393-647EAB3748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" r="379" b="10668"/>
          <a:stretch/>
        </p:blipFill>
        <p:spPr>
          <a:xfrm>
            <a:off x="543780" y="3032124"/>
            <a:ext cx="6909534" cy="3825875"/>
          </a:xfrm>
          <a:prstGeom prst="parallelogram">
            <a:avLst>
              <a:gd name="adj" fmla="val 50689"/>
            </a:avLst>
          </a:prstGeom>
        </p:spPr>
      </p:pic>
    </p:spTree>
    <p:extLst>
      <p:ext uri="{BB962C8B-B14F-4D97-AF65-F5344CB8AC3E}">
        <p14:creationId xmlns:p14="http://schemas.microsoft.com/office/powerpoint/2010/main" val="2455522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 -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E29CC955-ADFA-4553-8993-DE8E962F4B54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grpSp>
        <p:nvGrpSpPr>
          <p:cNvPr id="15" name="Gruppieren 2">
            <a:extLst>
              <a:ext uri="{FF2B5EF4-FFF2-40B4-BE49-F238E27FC236}">
                <a16:creationId xmlns:a16="http://schemas.microsoft.com/office/drawing/2014/main" id="{69CFE4FA-5183-4B4B-B438-8859E4C44605}"/>
              </a:ext>
            </a:extLst>
          </p:cNvPr>
          <p:cNvGrpSpPr/>
          <p:nvPr userDrawn="1"/>
        </p:nvGrpSpPr>
        <p:grpSpPr>
          <a:xfrm>
            <a:off x="0" y="3032125"/>
            <a:ext cx="12192000" cy="3825875"/>
            <a:chOff x="0" y="2608263"/>
            <a:chExt cx="9144001" cy="2535237"/>
          </a:xfrm>
        </p:grpSpPr>
        <p:sp>
          <p:nvSpPr>
            <p:cNvPr id="16" name="Rechteck 7">
              <a:extLst>
                <a:ext uri="{FF2B5EF4-FFF2-40B4-BE49-F238E27FC236}">
                  <a16:creationId xmlns:a16="http://schemas.microsoft.com/office/drawing/2014/main" id="{B814E407-C45D-48D9-B230-46F21673274B}"/>
                </a:ext>
              </a:extLst>
            </p:cNvPr>
            <p:cNvSpPr/>
            <p:nvPr userDrawn="1"/>
          </p:nvSpPr>
          <p:spPr>
            <a:xfrm>
              <a:off x="0" y="2608263"/>
              <a:ext cx="91440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7" name="Parallelogramm 8">
              <a:extLst>
                <a:ext uri="{FF2B5EF4-FFF2-40B4-BE49-F238E27FC236}">
                  <a16:creationId xmlns:a16="http://schemas.microsoft.com/office/drawing/2014/main" id="{C8C112E6-CBBE-4533-8360-A58B0D942443}"/>
                </a:ext>
              </a:extLst>
            </p:cNvPr>
            <p:cNvSpPr/>
            <p:nvPr userDrawn="1"/>
          </p:nvSpPr>
          <p:spPr>
            <a:xfrm>
              <a:off x="5727032" y="2608263"/>
              <a:ext cx="3416969" cy="2535237"/>
            </a:xfrm>
            <a:prstGeom prst="parallelogram">
              <a:avLst>
                <a:gd name="adj" fmla="val 5052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8" name="Parallelogramm 9">
              <a:extLst>
                <a:ext uri="{FF2B5EF4-FFF2-40B4-BE49-F238E27FC236}">
                  <a16:creationId xmlns:a16="http://schemas.microsoft.com/office/drawing/2014/main" id="{8E665A82-EE71-458E-B8B5-FF38A2E53346}"/>
                </a:ext>
              </a:extLst>
            </p:cNvPr>
            <p:cNvSpPr/>
            <p:nvPr userDrawn="1"/>
          </p:nvSpPr>
          <p:spPr>
            <a:xfrm flipH="1">
              <a:off x="2677026" y="2608263"/>
              <a:ext cx="5927224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9" name="Parallelogramm 10">
              <a:extLst>
                <a:ext uri="{FF2B5EF4-FFF2-40B4-BE49-F238E27FC236}">
                  <a16:creationId xmlns:a16="http://schemas.microsoft.com/office/drawing/2014/main" id="{9139438F-EC8E-4914-8ADC-AB63B380A046}"/>
                </a:ext>
              </a:extLst>
            </p:cNvPr>
            <p:cNvSpPr/>
            <p:nvPr userDrawn="1"/>
          </p:nvSpPr>
          <p:spPr>
            <a:xfrm>
              <a:off x="420946" y="2608263"/>
              <a:ext cx="5047407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</p:grp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82888233-F8B6-4053-A590-8C1FDE669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11110913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8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79988A53-9A36-4895-A184-CBED5C7E95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11110922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pic>
        <p:nvPicPr>
          <p:cNvPr id="8" name="Grafik 7" descr="Ein Bild, das Computer, Raum, Tisch enthält.&#10;&#10;Automatisch generierte Beschreibung">
            <a:extLst>
              <a:ext uri="{FF2B5EF4-FFF2-40B4-BE49-F238E27FC236}">
                <a16:creationId xmlns:a16="http://schemas.microsoft.com/office/drawing/2014/main" id="{9D137A53-9BF4-4C66-8EDA-A277BC93FF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" t="14082" r="-81" b="-54"/>
          <a:stretch/>
        </p:blipFill>
        <p:spPr>
          <a:xfrm>
            <a:off x="543780" y="3032124"/>
            <a:ext cx="6909534" cy="3825875"/>
          </a:xfrm>
          <a:prstGeom prst="parallelogram">
            <a:avLst>
              <a:gd name="adj" fmla="val 50634"/>
            </a:avLst>
          </a:prstGeom>
        </p:spPr>
      </p:pic>
    </p:spTree>
    <p:extLst>
      <p:ext uri="{BB962C8B-B14F-4D97-AF65-F5344CB8AC3E}">
        <p14:creationId xmlns:p14="http://schemas.microsoft.com/office/powerpoint/2010/main" val="3110407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 -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25EF5B7-AEAB-4173-909F-1E855854EEC3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grpSp>
        <p:nvGrpSpPr>
          <p:cNvPr id="15" name="Gruppieren 2">
            <a:extLst>
              <a:ext uri="{FF2B5EF4-FFF2-40B4-BE49-F238E27FC236}">
                <a16:creationId xmlns:a16="http://schemas.microsoft.com/office/drawing/2014/main" id="{69CFE4FA-5183-4B4B-B438-8859E4C44605}"/>
              </a:ext>
            </a:extLst>
          </p:cNvPr>
          <p:cNvGrpSpPr/>
          <p:nvPr userDrawn="1"/>
        </p:nvGrpSpPr>
        <p:grpSpPr>
          <a:xfrm>
            <a:off x="0" y="3032125"/>
            <a:ext cx="12192000" cy="3825875"/>
            <a:chOff x="0" y="2608263"/>
            <a:chExt cx="9144001" cy="2535237"/>
          </a:xfrm>
        </p:grpSpPr>
        <p:sp>
          <p:nvSpPr>
            <p:cNvPr id="16" name="Rechteck 7">
              <a:extLst>
                <a:ext uri="{FF2B5EF4-FFF2-40B4-BE49-F238E27FC236}">
                  <a16:creationId xmlns:a16="http://schemas.microsoft.com/office/drawing/2014/main" id="{B814E407-C45D-48D9-B230-46F21673274B}"/>
                </a:ext>
              </a:extLst>
            </p:cNvPr>
            <p:cNvSpPr/>
            <p:nvPr userDrawn="1"/>
          </p:nvSpPr>
          <p:spPr>
            <a:xfrm>
              <a:off x="0" y="2608263"/>
              <a:ext cx="91440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7" name="Parallelogramm 8">
              <a:extLst>
                <a:ext uri="{FF2B5EF4-FFF2-40B4-BE49-F238E27FC236}">
                  <a16:creationId xmlns:a16="http://schemas.microsoft.com/office/drawing/2014/main" id="{C8C112E6-CBBE-4533-8360-A58B0D942443}"/>
                </a:ext>
              </a:extLst>
            </p:cNvPr>
            <p:cNvSpPr/>
            <p:nvPr userDrawn="1"/>
          </p:nvSpPr>
          <p:spPr>
            <a:xfrm>
              <a:off x="5727032" y="2608263"/>
              <a:ext cx="3416969" cy="2535237"/>
            </a:xfrm>
            <a:prstGeom prst="parallelogram">
              <a:avLst>
                <a:gd name="adj" fmla="val 5052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8" name="Parallelogramm 9">
              <a:extLst>
                <a:ext uri="{FF2B5EF4-FFF2-40B4-BE49-F238E27FC236}">
                  <a16:creationId xmlns:a16="http://schemas.microsoft.com/office/drawing/2014/main" id="{8E665A82-EE71-458E-B8B5-FF38A2E53346}"/>
                </a:ext>
              </a:extLst>
            </p:cNvPr>
            <p:cNvSpPr/>
            <p:nvPr userDrawn="1"/>
          </p:nvSpPr>
          <p:spPr>
            <a:xfrm flipH="1">
              <a:off x="2677026" y="2608263"/>
              <a:ext cx="5927224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9" name="Parallelogramm 10">
              <a:extLst>
                <a:ext uri="{FF2B5EF4-FFF2-40B4-BE49-F238E27FC236}">
                  <a16:creationId xmlns:a16="http://schemas.microsoft.com/office/drawing/2014/main" id="{9139438F-EC8E-4914-8ADC-AB63B380A046}"/>
                </a:ext>
              </a:extLst>
            </p:cNvPr>
            <p:cNvSpPr/>
            <p:nvPr userDrawn="1"/>
          </p:nvSpPr>
          <p:spPr>
            <a:xfrm>
              <a:off x="420946" y="2608263"/>
              <a:ext cx="5047407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</p:grp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82888233-F8B6-4053-A590-8C1FDE669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11110913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8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79988A53-9A36-4895-A184-CBED5C7E95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11110922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pic>
        <p:nvPicPr>
          <p:cNvPr id="3" name="Grafik 2" descr="Ein Bild, das Person, drinnen, Küche, stehend enthält.&#10;&#10;Automatisch generierte Beschreibung">
            <a:extLst>
              <a:ext uri="{FF2B5EF4-FFF2-40B4-BE49-F238E27FC236}">
                <a16:creationId xmlns:a16="http://schemas.microsoft.com/office/drawing/2014/main" id="{DB046451-7EBE-46FD-9332-73B53E9A97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2" r="295" b="7373"/>
          <a:stretch/>
        </p:blipFill>
        <p:spPr>
          <a:xfrm>
            <a:off x="543780" y="3032124"/>
            <a:ext cx="6909534" cy="3825875"/>
          </a:xfrm>
          <a:prstGeom prst="parallelogram">
            <a:avLst>
              <a:gd name="adj" fmla="val 50802"/>
            </a:avLst>
          </a:prstGeom>
        </p:spPr>
      </p:pic>
    </p:spTree>
    <p:extLst>
      <p:ext uri="{BB962C8B-B14F-4D97-AF65-F5344CB8AC3E}">
        <p14:creationId xmlns:p14="http://schemas.microsoft.com/office/powerpoint/2010/main" val="82796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 -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8FC88011-2A6B-4095-B2F9-D5853D869C86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grpSp>
        <p:nvGrpSpPr>
          <p:cNvPr id="15" name="Gruppieren 2">
            <a:extLst>
              <a:ext uri="{FF2B5EF4-FFF2-40B4-BE49-F238E27FC236}">
                <a16:creationId xmlns:a16="http://schemas.microsoft.com/office/drawing/2014/main" id="{69CFE4FA-5183-4B4B-B438-8859E4C44605}"/>
              </a:ext>
            </a:extLst>
          </p:cNvPr>
          <p:cNvGrpSpPr/>
          <p:nvPr userDrawn="1"/>
        </p:nvGrpSpPr>
        <p:grpSpPr>
          <a:xfrm>
            <a:off x="0" y="3032125"/>
            <a:ext cx="12192000" cy="3825875"/>
            <a:chOff x="0" y="2608263"/>
            <a:chExt cx="9144001" cy="2535237"/>
          </a:xfrm>
        </p:grpSpPr>
        <p:sp>
          <p:nvSpPr>
            <p:cNvPr id="16" name="Rechteck 7">
              <a:extLst>
                <a:ext uri="{FF2B5EF4-FFF2-40B4-BE49-F238E27FC236}">
                  <a16:creationId xmlns:a16="http://schemas.microsoft.com/office/drawing/2014/main" id="{B814E407-C45D-48D9-B230-46F21673274B}"/>
                </a:ext>
              </a:extLst>
            </p:cNvPr>
            <p:cNvSpPr/>
            <p:nvPr userDrawn="1"/>
          </p:nvSpPr>
          <p:spPr>
            <a:xfrm>
              <a:off x="0" y="2608263"/>
              <a:ext cx="91440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7" name="Parallelogramm 8">
              <a:extLst>
                <a:ext uri="{FF2B5EF4-FFF2-40B4-BE49-F238E27FC236}">
                  <a16:creationId xmlns:a16="http://schemas.microsoft.com/office/drawing/2014/main" id="{C8C112E6-CBBE-4533-8360-A58B0D942443}"/>
                </a:ext>
              </a:extLst>
            </p:cNvPr>
            <p:cNvSpPr/>
            <p:nvPr userDrawn="1"/>
          </p:nvSpPr>
          <p:spPr>
            <a:xfrm>
              <a:off x="5727032" y="2608263"/>
              <a:ext cx="3416969" cy="2535237"/>
            </a:xfrm>
            <a:prstGeom prst="parallelogram">
              <a:avLst>
                <a:gd name="adj" fmla="val 5052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8" name="Parallelogramm 9">
              <a:extLst>
                <a:ext uri="{FF2B5EF4-FFF2-40B4-BE49-F238E27FC236}">
                  <a16:creationId xmlns:a16="http://schemas.microsoft.com/office/drawing/2014/main" id="{8E665A82-EE71-458E-B8B5-FF38A2E53346}"/>
                </a:ext>
              </a:extLst>
            </p:cNvPr>
            <p:cNvSpPr/>
            <p:nvPr userDrawn="1"/>
          </p:nvSpPr>
          <p:spPr>
            <a:xfrm flipH="1">
              <a:off x="2677026" y="2608263"/>
              <a:ext cx="5927224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9" name="Parallelogramm 10">
              <a:extLst>
                <a:ext uri="{FF2B5EF4-FFF2-40B4-BE49-F238E27FC236}">
                  <a16:creationId xmlns:a16="http://schemas.microsoft.com/office/drawing/2014/main" id="{9139438F-EC8E-4914-8ADC-AB63B380A046}"/>
                </a:ext>
              </a:extLst>
            </p:cNvPr>
            <p:cNvSpPr/>
            <p:nvPr userDrawn="1"/>
          </p:nvSpPr>
          <p:spPr>
            <a:xfrm>
              <a:off x="420946" y="2608263"/>
              <a:ext cx="5047407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</p:grp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82888233-F8B6-4053-A590-8C1FDE669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11110913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8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79988A53-9A36-4895-A184-CBED5C7E95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11110922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pic>
        <p:nvPicPr>
          <p:cNvPr id="7" name="Grafik 6" descr="Ein Bild, das drinnen, Person, stehend, Küche enthält.&#10;&#10;Automatisch generierte Beschreibung">
            <a:extLst>
              <a:ext uri="{FF2B5EF4-FFF2-40B4-BE49-F238E27FC236}">
                <a16:creationId xmlns:a16="http://schemas.microsoft.com/office/drawing/2014/main" id="{080AB76F-6636-4E0D-B9BD-74C1DBA4E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" t="10333" b="5899"/>
          <a:stretch/>
        </p:blipFill>
        <p:spPr>
          <a:xfrm>
            <a:off x="543780" y="3032124"/>
            <a:ext cx="6909534" cy="3825875"/>
          </a:xfrm>
          <a:prstGeom prst="parallelogram">
            <a:avLst>
              <a:gd name="adj" fmla="val 50480"/>
            </a:avLst>
          </a:prstGeom>
        </p:spPr>
      </p:pic>
    </p:spTree>
    <p:extLst>
      <p:ext uri="{BB962C8B-B14F-4D97-AF65-F5344CB8AC3E}">
        <p14:creationId xmlns:p14="http://schemas.microsoft.com/office/powerpoint/2010/main" val="48941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 -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8A1D26BA-8BC0-4419-97F2-745246D89FCD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grpSp>
        <p:nvGrpSpPr>
          <p:cNvPr id="15" name="Gruppieren 2">
            <a:extLst>
              <a:ext uri="{FF2B5EF4-FFF2-40B4-BE49-F238E27FC236}">
                <a16:creationId xmlns:a16="http://schemas.microsoft.com/office/drawing/2014/main" id="{69CFE4FA-5183-4B4B-B438-8859E4C44605}"/>
              </a:ext>
            </a:extLst>
          </p:cNvPr>
          <p:cNvGrpSpPr/>
          <p:nvPr userDrawn="1"/>
        </p:nvGrpSpPr>
        <p:grpSpPr>
          <a:xfrm>
            <a:off x="0" y="3032125"/>
            <a:ext cx="12192000" cy="3825875"/>
            <a:chOff x="0" y="2608263"/>
            <a:chExt cx="9144001" cy="2535237"/>
          </a:xfrm>
        </p:grpSpPr>
        <p:sp>
          <p:nvSpPr>
            <p:cNvPr id="16" name="Rechteck 7">
              <a:extLst>
                <a:ext uri="{FF2B5EF4-FFF2-40B4-BE49-F238E27FC236}">
                  <a16:creationId xmlns:a16="http://schemas.microsoft.com/office/drawing/2014/main" id="{B814E407-C45D-48D9-B230-46F21673274B}"/>
                </a:ext>
              </a:extLst>
            </p:cNvPr>
            <p:cNvSpPr/>
            <p:nvPr userDrawn="1"/>
          </p:nvSpPr>
          <p:spPr>
            <a:xfrm>
              <a:off x="0" y="2608263"/>
              <a:ext cx="91440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7" name="Parallelogramm 8">
              <a:extLst>
                <a:ext uri="{FF2B5EF4-FFF2-40B4-BE49-F238E27FC236}">
                  <a16:creationId xmlns:a16="http://schemas.microsoft.com/office/drawing/2014/main" id="{C8C112E6-CBBE-4533-8360-A58B0D942443}"/>
                </a:ext>
              </a:extLst>
            </p:cNvPr>
            <p:cNvSpPr/>
            <p:nvPr userDrawn="1"/>
          </p:nvSpPr>
          <p:spPr>
            <a:xfrm>
              <a:off x="5727032" y="2608263"/>
              <a:ext cx="3416969" cy="2535237"/>
            </a:xfrm>
            <a:prstGeom prst="parallelogram">
              <a:avLst>
                <a:gd name="adj" fmla="val 5052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8" name="Parallelogramm 9">
              <a:extLst>
                <a:ext uri="{FF2B5EF4-FFF2-40B4-BE49-F238E27FC236}">
                  <a16:creationId xmlns:a16="http://schemas.microsoft.com/office/drawing/2014/main" id="{8E665A82-EE71-458E-B8B5-FF38A2E53346}"/>
                </a:ext>
              </a:extLst>
            </p:cNvPr>
            <p:cNvSpPr/>
            <p:nvPr userDrawn="1"/>
          </p:nvSpPr>
          <p:spPr>
            <a:xfrm flipH="1">
              <a:off x="2677026" y="2608263"/>
              <a:ext cx="5927224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9" name="Parallelogramm 10">
              <a:extLst>
                <a:ext uri="{FF2B5EF4-FFF2-40B4-BE49-F238E27FC236}">
                  <a16:creationId xmlns:a16="http://schemas.microsoft.com/office/drawing/2014/main" id="{9139438F-EC8E-4914-8ADC-AB63B380A046}"/>
                </a:ext>
              </a:extLst>
            </p:cNvPr>
            <p:cNvSpPr/>
            <p:nvPr userDrawn="1"/>
          </p:nvSpPr>
          <p:spPr>
            <a:xfrm>
              <a:off x="420946" y="2608263"/>
              <a:ext cx="5047407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</p:grp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82888233-F8B6-4053-A590-8C1FDE669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11110913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8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79988A53-9A36-4895-A184-CBED5C7E95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11110922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pic>
        <p:nvPicPr>
          <p:cNvPr id="3" name="Grafik 2" descr="Ein Bild, das Person, drinnen, Tisch, sitzend enthält.&#10;&#10;Automatisch generierte Beschreibung">
            <a:extLst>
              <a:ext uri="{FF2B5EF4-FFF2-40B4-BE49-F238E27FC236}">
                <a16:creationId xmlns:a16="http://schemas.microsoft.com/office/drawing/2014/main" id="{D7A3D639-5C56-42CB-89B2-C3F93E7239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" t="11102" r="-96" b="4317"/>
          <a:stretch/>
        </p:blipFill>
        <p:spPr>
          <a:xfrm>
            <a:off x="543780" y="3032124"/>
            <a:ext cx="6909534" cy="3825875"/>
          </a:xfrm>
          <a:prstGeom prst="parallelogram">
            <a:avLst>
              <a:gd name="adj" fmla="val 50480"/>
            </a:avLst>
          </a:prstGeom>
        </p:spPr>
      </p:pic>
    </p:spTree>
    <p:extLst>
      <p:ext uri="{BB962C8B-B14F-4D97-AF65-F5344CB8AC3E}">
        <p14:creationId xmlns:p14="http://schemas.microsoft.com/office/powerpoint/2010/main" val="2664724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FD24166F-E641-47C4-A7D4-046E2919F915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grpSp>
        <p:nvGrpSpPr>
          <p:cNvPr id="13" name="Gruppieren 6">
            <a:extLst>
              <a:ext uri="{FF2B5EF4-FFF2-40B4-BE49-F238E27FC236}">
                <a16:creationId xmlns:a16="http://schemas.microsoft.com/office/drawing/2014/main" id="{6D513A65-6B00-44BA-8983-D89B48D5D9C0}"/>
              </a:ext>
            </a:extLst>
          </p:cNvPr>
          <p:cNvGrpSpPr/>
          <p:nvPr userDrawn="1"/>
        </p:nvGrpSpPr>
        <p:grpSpPr>
          <a:xfrm>
            <a:off x="8303741" y="0"/>
            <a:ext cx="3888259" cy="6866368"/>
            <a:chOff x="6235700" y="-6351"/>
            <a:chExt cx="2917825" cy="515265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FFED266-241D-44F4-BB96-A11D04115A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rgbClr val="DFB9C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604D1CB-B842-4FD4-ABD2-08EFD59BF5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rgbClr val="545E6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4DD798EA-C261-45DC-859B-6847CA3C0F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DA158B9-FFC8-4F10-B8F9-4A8D898E75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79200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8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9CDB44A-812C-413B-9748-BB68151A37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7920000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95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59966A51-3941-4433-927B-D490780D0908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grpSp>
        <p:nvGrpSpPr>
          <p:cNvPr id="17" name="Gruppieren 9">
            <a:extLst>
              <a:ext uri="{FF2B5EF4-FFF2-40B4-BE49-F238E27FC236}">
                <a16:creationId xmlns:a16="http://schemas.microsoft.com/office/drawing/2014/main" id="{5B174682-4147-4770-8BE3-F7CAB30C194F}"/>
              </a:ext>
            </a:extLst>
          </p:cNvPr>
          <p:cNvGrpSpPr/>
          <p:nvPr userDrawn="1"/>
        </p:nvGrpSpPr>
        <p:grpSpPr>
          <a:xfrm>
            <a:off x="8300317" y="-1"/>
            <a:ext cx="3891684" cy="6872417"/>
            <a:chOff x="6235700" y="-6351"/>
            <a:chExt cx="2917825" cy="515265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A097193C-B786-4A09-A8D3-4BC7639DD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rgbClr val="DFB9C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BE5848E-BAAC-41DC-A43B-CFD4A4C61D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rgbClr val="545E6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5B2BFC97-D776-4122-9C48-D2C7435184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BF79567A-CECB-4BA2-A716-9001152B52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7278" y="3493"/>
            <a:ext cx="6689519" cy="6869774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137 h 4040572"/>
              <a:gd name="connsiteX1" fmla="*/ 1282700 w 5054964"/>
              <a:gd name="connsiteY1" fmla="*/ 5425 h 4040572"/>
              <a:gd name="connsiteX2" fmla="*/ 5054964 w 5054964"/>
              <a:gd name="connsiteY2" fmla="*/ 0 h 4040572"/>
              <a:gd name="connsiteX3" fmla="*/ 3926959 w 5054964"/>
              <a:gd name="connsiteY3" fmla="*/ 4040572 h 4040572"/>
              <a:gd name="connsiteX4" fmla="*/ 0 w 5054964"/>
              <a:gd name="connsiteY4" fmla="*/ 4039137 h 4040572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29871 w 5054964"/>
              <a:gd name="connsiteY3" fmla="*/ 4038286 h 4039137"/>
              <a:gd name="connsiteX4" fmla="*/ 0 w 5054964"/>
              <a:gd name="connsiteY4" fmla="*/ 4039137 h 4039137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47344 w 5054964"/>
              <a:gd name="connsiteY3" fmla="*/ 4038286 h 4039137"/>
              <a:gd name="connsiteX4" fmla="*/ 0 w 5054964"/>
              <a:gd name="connsiteY4" fmla="*/ 4039137 h 4039137"/>
              <a:gd name="connsiteX0" fmla="*/ 0 w 5060788"/>
              <a:gd name="connsiteY0" fmla="*/ 4041423 h 4041423"/>
              <a:gd name="connsiteX1" fmla="*/ 1288524 w 5060788"/>
              <a:gd name="connsiteY1" fmla="*/ 5425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5060788"/>
              <a:gd name="connsiteY0" fmla="*/ 4041423 h 4041423"/>
              <a:gd name="connsiteX1" fmla="*/ 2642651 w 5060788"/>
              <a:gd name="connsiteY1" fmla="*/ 853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4347323"/>
              <a:gd name="connsiteY0" fmla="*/ 4045995 h 4045995"/>
              <a:gd name="connsiteX1" fmla="*/ 2642651 w 4347323"/>
              <a:gd name="connsiteY1" fmla="*/ 5425 h 4045995"/>
              <a:gd name="connsiteX2" fmla="*/ 4347323 w 4347323"/>
              <a:gd name="connsiteY2" fmla="*/ 0 h 4045995"/>
              <a:gd name="connsiteX3" fmla="*/ 3953168 w 4347323"/>
              <a:gd name="connsiteY3" fmla="*/ 4042858 h 4045995"/>
              <a:gd name="connsiteX4" fmla="*/ 0 w 4347323"/>
              <a:gd name="connsiteY4" fmla="*/ 4045995 h 4045995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953168 w 3953168"/>
              <a:gd name="connsiteY3" fmla="*/ 4040572 h 4043709"/>
              <a:gd name="connsiteX4" fmla="*/ 0 w 3953168"/>
              <a:gd name="connsiteY4" fmla="*/ 4043709 h 4043709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611785 w 3953168"/>
              <a:gd name="connsiteY3" fmla="*/ 694979 h 4043709"/>
              <a:gd name="connsiteX4" fmla="*/ 3953168 w 3953168"/>
              <a:gd name="connsiteY4" fmla="*/ 4040572 h 4043709"/>
              <a:gd name="connsiteX5" fmla="*/ 0 w 3953168"/>
              <a:gd name="connsiteY5" fmla="*/ 4043709 h 4043709"/>
              <a:gd name="connsiteX0" fmla="*/ 0 w 4750417"/>
              <a:gd name="connsiteY0" fmla="*/ 4043709 h 4043709"/>
              <a:gd name="connsiteX1" fmla="*/ 2642651 w 4750417"/>
              <a:gd name="connsiteY1" fmla="*/ 3139 h 4043709"/>
              <a:gd name="connsiteX2" fmla="*/ 3537758 w 4750417"/>
              <a:gd name="connsiteY2" fmla="*/ 0 h 4043709"/>
              <a:gd name="connsiteX3" fmla="*/ 4750417 w 4750417"/>
              <a:gd name="connsiteY3" fmla="*/ 1924908 h 4043709"/>
              <a:gd name="connsiteX4" fmla="*/ 3953168 w 4750417"/>
              <a:gd name="connsiteY4" fmla="*/ 4040572 h 4043709"/>
              <a:gd name="connsiteX5" fmla="*/ 0 w 4750417"/>
              <a:gd name="connsiteY5" fmla="*/ 4043709 h 4043709"/>
              <a:gd name="connsiteX0" fmla="*/ 0 w 5015418"/>
              <a:gd name="connsiteY0" fmla="*/ 4043709 h 4043709"/>
              <a:gd name="connsiteX1" fmla="*/ 2642651 w 5015418"/>
              <a:gd name="connsiteY1" fmla="*/ 3139 h 4043709"/>
              <a:gd name="connsiteX2" fmla="*/ 3537758 w 5015418"/>
              <a:gd name="connsiteY2" fmla="*/ 0 h 4043709"/>
              <a:gd name="connsiteX3" fmla="*/ 5015418 w 5015418"/>
              <a:gd name="connsiteY3" fmla="*/ 2340981 h 4043709"/>
              <a:gd name="connsiteX4" fmla="*/ 3953168 w 5015418"/>
              <a:gd name="connsiteY4" fmla="*/ 4040572 h 4043709"/>
              <a:gd name="connsiteX5" fmla="*/ 0 w 5015418"/>
              <a:gd name="connsiteY5" fmla="*/ 4043709 h 4043709"/>
              <a:gd name="connsiteX0" fmla="*/ 0 w 5015418"/>
              <a:gd name="connsiteY0" fmla="*/ 4041423 h 4041423"/>
              <a:gd name="connsiteX1" fmla="*/ 2642651 w 5015418"/>
              <a:gd name="connsiteY1" fmla="*/ 853 h 4041423"/>
              <a:gd name="connsiteX2" fmla="*/ 3523197 w 5015418"/>
              <a:gd name="connsiteY2" fmla="*/ 0 h 4041423"/>
              <a:gd name="connsiteX3" fmla="*/ 5015418 w 5015418"/>
              <a:gd name="connsiteY3" fmla="*/ 2338695 h 4041423"/>
              <a:gd name="connsiteX4" fmla="*/ 3953168 w 5015418"/>
              <a:gd name="connsiteY4" fmla="*/ 4038286 h 4041423"/>
              <a:gd name="connsiteX5" fmla="*/ 0 w 5015418"/>
              <a:gd name="connsiteY5" fmla="*/ 4041423 h 4041423"/>
              <a:gd name="connsiteX0" fmla="*/ 0 w 4817395"/>
              <a:gd name="connsiteY0" fmla="*/ 4041423 h 4041423"/>
              <a:gd name="connsiteX1" fmla="*/ 2642651 w 4817395"/>
              <a:gd name="connsiteY1" fmla="*/ 853 h 4041423"/>
              <a:gd name="connsiteX2" fmla="*/ 3523197 w 4817395"/>
              <a:gd name="connsiteY2" fmla="*/ 0 h 4041423"/>
              <a:gd name="connsiteX3" fmla="*/ 4817395 w 4817395"/>
              <a:gd name="connsiteY3" fmla="*/ 2338695 h 4041423"/>
              <a:gd name="connsiteX4" fmla="*/ 3953168 w 4817395"/>
              <a:gd name="connsiteY4" fmla="*/ 4038286 h 4041423"/>
              <a:gd name="connsiteX5" fmla="*/ 0 w 4817395"/>
              <a:gd name="connsiteY5" fmla="*/ 4041423 h 4041423"/>
              <a:gd name="connsiteX0" fmla="*/ 0 w 5018330"/>
              <a:gd name="connsiteY0" fmla="*/ 4041423 h 4041423"/>
              <a:gd name="connsiteX1" fmla="*/ 2642651 w 5018330"/>
              <a:gd name="connsiteY1" fmla="*/ 853 h 4041423"/>
              <a:gd name="connsiteX2" fmla="*/ 3523197 w 5018330"/>
              <a:gd name="connsiteY2" fmla="*/ 0 h 4041423"/>
              <a:gd name="connsiteX3" fmla="*/ 5018330 w 5018330"/>
              <a:gd name="connsiteY3" fmla="*/ 2334123 h 4041423"/>
              <a:gd name="connsiteX4" fmla="*/ 3953168 w 5018330"/>
              <a:gd name="connsiteY4" fmla="*/ 4038286 h 4041423"/>
              <a:gd name="connsiteX5" fmla="*/ 0 w 5018330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3197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815680 w 5021242"/>
              <a:gd name="connsiteY4" fmla="*/ 3899162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29980 w 5021242"/>
              <a:gd name="connsiteY4" fmla="*/ 4040486 h 4041423"/>
              <a:gd name="connsiteX5" fmla="*/ 0 w 5021242"/>
              <a:gd name="connsiteY5" fmla="*/ 4041423 h 4041423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26151 w 5021242"/>
              <a:gd name="connsiteY2" fmla="*/ 79877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1421 h 4041421"/>
              <a:gd name="connsiteX1" fmla="*/ 2642651 w 5021242"/>
              <a:gd name="connsiteY1" fmla="*/ 851 h 4041421"/>
              <a:gd name="connsiteX2" fmla="*/ 3520448 w 5021242"/>
              <a:gd name="connsiteY2" fmla="*/ 0 h 4041421"/>
              <a:gd name="connsiteX3" fmla="*/ 5021242 w 5021242"/>
              <a:gd name="connsiteY3" fmla="*/ 2342667 h 4041421"/>
              <a:gd name="connsiteX4" fmla="*/ 3929980 w 5021242"/>
              <a:gd name="connsiteY4" fmla="*/ 4040484 h 4041421"/>
              <a:gd name="connsiteX5" fmla="*/ 0 w 5021242"/>
              <a:gd name="connsiteY5" fmla="*/ 4041421 h 4041421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40438 w 5021242"/>
              <a:gd name="connsiteY2" fmla="*/ 1395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3666 h 4043666"/>
              <a:gd name="connsiteX1" fmla="*/ 2642651 w 5021242"/>
              <a:gd name="connsiteY1" fmla="*/ 3096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5021242"/>
              <a:gd name="connsiteY0" fmla="*/ 4045061 h 4045061"/>
              <a:gd name="connsiteX1" fmla="*/ 2654081 w 5021242"/>
              <a:gd name="connsiteY1" fmla="*/ 0 h 4045061"/>
              <a:gd name="connsiteX2" fmla="*/ 3529020 w 5021242"/>
              <a:gd name="connsiteY2" fmla="*/ 1395 h 4045061"/>
              <a:gd name="connsiteX3" fmla="*/ 5021242 w 5021242"/>
              <a:gd name="connsiteY3" fmla="*/ 2346307 h 4045061"/>
              <a:gd name="connsiteX4" fmla="*/ 3929980 w 5021242"/>
              <a:gd name="connsiteY4" fmla="*/ 4044124 h 4045061"/>
              <a:gd name="connsiteX5" fmla="*/ 0 w 5021242"/>
              <a:gd name="connsiteY5" fmla="*/ 4045061 h 4045061"/>
              <a:gd name="connsiteX0" fmla="*/ 0 w 5021242"/>
              <a:gd name="connsiteY0" fmla="*/ 4043666 h 4043666"/>
              <a:gd name="connsiteX1" fmla="*/ 2654081 w 5021242"/>
              <a:gd name="connsiteY1" fmla="*/ 851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4884082"/>
              <a:gd name="connsiteY0" fmla="*/ 4043666 h 4043666"/>
              <a:gd name="connsiteX1" fmla="*/ 2654081 w 4884082"/>
              <a:gd name="connsiteY1" fmla="*/ 851 h 4043666"/>
              <a:gd name="connsiteX2" fmla="*/ 3529020 w 4884082"/>
              <a:gd name="connsiteY2" fmla="*/ 0 h 4043666"/>
              <a:gd name="connsiteX3" fmla="*/ 4884082 w 4884082"/>
              <a:gd name="connsiteY3" fmla="*/ 2342667 h 4043666"/>
              <a:gd name="connsiteX4" fmla="*/ 3929980 w 4884082"/>
              <a:gd name="connsiteY4" fmla="*/ 4042729 h 4043666"/>
              <a:gd name="connsiteX5" fmla="*/ 0 w 4884082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29980 w 5018385"/>
              <a:gd name="connsiteY4" fmla="*/ 4042729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787105 w 5018385"/>
              <a:gd name="connsiteY4" fmla="*/ 3959656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35695 w 5018385"/>
              <a:gd name="connsiteY4" fmla="*/ 4042729 h 4043666"/>
              <a:gd name="connsiteX5" fmla="*/ 0 w 5018385"/>
              <a:gd name="connsiteY5" fmla="*/ 4043666 h 4043666"/>
              <a:gd name="connsiteX0" fmla="*/ 0 w 4992667"/>
              <a:gd name="connsiteY0" fmla="*/ 4005497 h 4042729"/>
              <a:gd name="connsiteX1" fmla="*/ 2628363 w 4992667"/>
              <a:gd name="connsiteY1" fmla="*/ 851 h 4042729"/>
              <a:gd name="connsiteX2" fmla="*/ 3503302 w 4992667"/>
              <a:gd name="connsiteY2" fmla="*/ 0 h 4042729"/>
              <a:gd name="connsiteX3" fmla="*/ 4992667 w 4992667"/>
              <a:gd name="connsiteY3" fmla="*/ 2344912 h 4042729"/>
              <a:gd name="connsiteX4" fmla="*/ 3909977 w 4992667"/>
              <a:gd name="connsiteY4" fmla="*/ 4042729 h 4042729"/>
              <a:gd name="connsiteX5" fmla="*/ 0 w 4992667"/>
              <a:gd name="connsiteY5" fmla="*/ 4005497 h 4042729"/>
              <a:gd name="connsiteX0" fmla="*/ 0 w 5015527"/>
              <a:gd name="connsiteY0" fmla="*/ 4045911 h 4045911"/>
              <a:gd name="connsiteX1" fmla="*/ 2651223 w 5015527"/>
              <a:gd name="connsiteY1" fmla="*/ 851 h 4045911"/>
              <a:gd name="connsiteX2" fmla="*/ 3526162 w 5015527"/>
              <a:gd name="connsiteY2" fmla="*/ 0 h 4045911"/>
              <a:gd name="connsiteX3" fmla="*/ 5015527 w 5015527"/>
              <a:gd name="connsiteY3" fmla="*/ 2344912 h 4045911"/>
              <a:gd name="connsiteX4" fmla="*/ 3932837 w 5015527"/>
              <a:gd name="connsiteY4" fmla="*/ 4042729 h 4045911"/>
              <a:gd name="connsiteX5" fmla="*/ 0 w 5015527"/>
              <a:gd name="connsiteY5" fmla="*/ 4045911 h 4045911"/>
              <a:gd name="connsiteX0" fmla="*/ 0 w 5015527"/>
              <a:gd name="connsiteY0" fmla="*/ 4045911 h 4047058"/>
              <a:gd name="connsiteX1" fmla="*/ 2651223 w 5015527"/>
              <a:gd name="connsiteY1" fmla="*/ 851 h 4047058"/>
              <a:gd name="connsiteX2" fmla="*/ 3526162 w 5015527"/>
              <a:gd name="connsiteY2" fmla="*/ 0 h 4047058"/>
              <a:gd name="connsiteX3" fmla="*/ 5015527 w 5015527"/>
              <a:gd name="connsiteY3" fmla="*/ 2344912 h 4047058"/>
              <a:gd name="connsiteX4" fmla="*/ 3930083 w 5015527"/>
              <a:gd name="connsiteY4" fmla="*/ 4047058 h 4047058"/>
              <a:gd name="connsiteX5" fmla="*/ 0 w 5015527"/>
              <a:gd name="connsiteY5" fmla="*/ 4045911 h 4047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5527" h="4047058">
                <a:moveTo>
                  <a:pt x="0" y="4045911"/>
                </a:moveTo>
                <a:lnTo>
                  <a:pt x="2651223" y="851"/>
                </a:lnTo>
                <a:lnTo>
                  <a:pt x="3526162" y="0"/>
                </a:lnTo>
                <a:lnTo>
                  <a:pt x="5015527" y="2344912"/>
                </a:lnTo>
                <a:lnTo>
                  <a:pt x="3930083" y="4047058"/>
                </a:lnTo>
                <a:lnTo>
                  <a:pt x="0" y="4045911"/>
                </a:lnTo>
                <a:close/>
              </a:path>
            </a:pathLst>
          </a:custGeom>
          <a:solidFill>
            <a:schemeClr val="bg1"/>
          </a:solidFill>
        </p:spPr>
        <p:txBody>
          <a:bodyPr tIns="1080000" anchor="ctr"/>
          <a:lstStyle>
            <a:lvl1pPr marL="0" indent="0" algn="ctr">
              <a:buNone/>
              <a:defRPr sz="1800"/>
            </a:lvl1pPr>
          </a:lstStyle>
          <a:p>
            <a:endParaRPr lang="en-GB" dirty="0"/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1012FCA6-8F87-4DD3-8D4D-3F58622251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49752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8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BA95537C-4917-496F-9681-D2DEE28CC3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4975200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97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5DAAD83-993F-4298-83A1-CD990206B4DD}"/>
              </a:ext>
            </a:extLst>
          </p:cNvPr>
          <p:cNvGrpSpPr/>
          <p:nvPr userDrawn="1"/>
        </p:nvGrpSpPr>
        <p:grpSpPr>
          <a:xfrm>
            <a:off x="0" y="3032125"/>
            <a:ext cx="12192000" cy="3825875"/>
            <a:chOff x="0" y="2608263"/>
            <a:chExt cx="9144001" cy="2535237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12960E97-54B1-4E01-8C28-B065FC340413}"/>
                </a:ext>
              </a:extLst>
            </p:cNvPr>
            <p:cNvSpPr/>
            <p:nvPr userDrawn="1"/>
          </p:nvSpPr>
          <p:spPr>
            <a:xfrm>
              <a:off x="0" y="2608263"/>
              <a:ext cx="91440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9" name="Parallelogramm 8">
              <a:extLst>
                <a:ext uri="{FF2B5EF4-FFF2-40B4-BE49-F238E27FC236}">
                  <a16:creationId xmlns:a16="http://schemas.microsoft.com/office/drawing/2014/main" id="{0BC97C79-BC41-455F-911E-09C085A660D7}"/>
                </a:ext>
              </a:extLst>
            </p:cNvPr>
            <p:cNvSpPr/>
            <p:nvPr userDrawn="1"/>
          </p:nvSpPr>
          <p:spPr>
            <a:xfrm>
              <a:off x="5727032" y="2608263"/>
              <a:ext cx="3416969" cy="2535237"/>
            </a:xfrm>
            <a:prstGeom prst="parallelogram">
              <a:avLst>
                <a:gd name="adj" fmla="val 5052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EB5166AA-4A6F-4DB5-B6C5-8ABD7A4C855A}"/>
                </a:ext>
              </a:extLst>
            </p:cNvPr>
            <p:cNvSpPr/>
            <p:nvPr userDrawn="1"/>
          </p:nvSpPr>
          <p:spPr>
            <a:xfrm flipH="1">
              <a:off x="2677026" y="2608263"/>
              <a:ext cx="5927224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1" name="Parallelogramm 10">
              <a:extLst>
                <a:ext uri="{FF2B5EF4-FFF2-40B4-BE49-F238E27FC236}">
                  <a16:creationId xmlns:a16="http://schemas.microsoft.com/office/drawing/2014/main" id="{7668BD9C-CB6F-4571-877B-9D0F9E59DCFB}"/>
                </a:ext>
              </a:extLst>
            </p:cNvPr>
            <p:cNvSpPr/>
            <p:nvPr userDrawn="1"/>
          </p:nvSpPr>
          <p:spPr>
            <a:xfrm>
              <a:off x="420946" y="2608263"/>
              <a:ext cx="5047407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50135356-5329-42D9-8A00-AA4C0E024BCB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55C8D17B-7902-426D-9146-F4291135CB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11110913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753660C-7873-4F25-A9DC-99F8EF387DF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11110922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329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C4C33-77E1-467B-8118-3DFE3B435102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0EA5319-8C10-45F8-B5BC-C939C09E661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338" y="1527175"/>
            <a:ext cx="11110914" cy="4700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085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0057-E3F7-4441-89D5-732323974A54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0EA5319-8C10-45F8-B5BC-C939C09E661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338" y="1808163"/>
            <a:ext cx="11110914" cy="44196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490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E4717-877E-454E-8FC0-7E1725387F1F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675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1spa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CAB76-E9CD-4FC6-B863-8D0FC932E625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ECD91-740D-46D4-819A-D679F29945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527175"/>
            <a:ext cx="5487987" cy="4700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139-B079-40C2-8E70-818954626953}"/>
              </a:ext>
            </a:extLst>
          </p:cNvPr>
          <p:cNvCxnSpPr>
            <a:cxnSpLocks/>
          </p:cNvCxnSpPr>
          <p:nvPr userDrawn="1"/>
        </p:nvCxnSpPr>
        <p:spPr>
          <a:xfrm>
            <a:off x="6928258" y="1808163"/>
            <a:ext cx="396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AA38F4B-59B8-45F4-8D07-3357253BD8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8258" y="1808163"/>
            <a:ext cx="3960000" cy="1566000"/>
          </a:xfrm>
        </p:spPr>
        <p:txBody>
          <a:bodyPr lIns="90000" tIns="90000" rIns="90000" bIns="90000"/>
          <a:lstStyle>
            <a:lvl1pPr>
              <a:lnSpc>
                <a:spcPts val="3300"/>
              </a:lnSpc>
              <a:defRPr sz="2800" b="1"/>
            </a:lvl1pPr>
            <a:lvl2pPr marL="0" indent="0">
              <a:buNone/>
              <a:defRPr b="1"/>
            </a:lvl2pPr>
            <a:lvl3pPr>
              <a:defRPr b="1"/>
            </a:lvl3pPr>
          </a:lstStyle>
          <a:p>
            <a:pPr lvl="0"/>
            <a:r>
              <a:rPr lang="en-US" dirty="0"/>
              <a:t>Quote</a:t>
            </a:r>
          </a:p>
          <a:p>
            <a:pPr lvl="1"/>
            <a:r>
              <a:rPr lang="en-US" dirty="0"/>
              <a:t>Quote</a:t>
            </a:r>
          </a:p>
          <a:p>
            <a:pPr lvl="2"/>
            <a:r>
              <a:rPr lang="en-US" dirty="0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4258126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C7B73-4EAE-466B-BDC1-DE02A16239F0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ECD91-740D-46D4-819A-D679F29945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808163"/>
            <a:ext cx="5487987" cy="25849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A1B39E17-3049-4162-9003-EE3E6ABC1B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6000" y="4661764"/>
            <a:ext cx="3960000" cy="1566000"/>
          </a:xfrm>
        </p:spPr>
        <p:txBody>
          <a:bodyPr lIns="90000" tIns="90000" rIns="90000" bIns="90000"/>
          <a:lstStyle>
            <a:lvl1pPr>
              <a:lnSpc>
                <a:spcPts val="3300"/>
              </a:lnSpc>
              <a:defRPr sz="2800" b="1"/>
            </a:lvl1pPr>
            <a:lvl2pPr marL="0" indent="0">
              <a:buNone/>
              <a:defRPr b="1"/>
            </a:lvl2pPr>
            <a:lvl3pPr>
              <a:defRPr b="1"/>
            </a:lvl3pPr>
          </a:lstStyle>
          <a:p>
            <a:pPr lvl="0"/>
            <a:r>
              <a:rPr lang="en-US" dirty="0"/>
              <a:t>Quote</a:t>
            </a:r>
          </a:p>
          <a:p>
            <a:pPr lvl="1"/>
            <a:r>
              <a:rPr lang="en-US" dirty="0"/>
              <a:t>Quote</a:t>
            </a:r>
          </a:p>
          <a:p>
            <a:pPr lvl="2"/>
            <a:r>
              <a:rPr lang="en-US" dirty="0"/>
              <a:t>Quote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139-B079-40C2-8E70-818954626953}"/>
              </a:ext>
            </a:extLst>
          </p:cNvPr>
          <p:cNvCxnSpPr/>
          <p:nvPr userDrawn="1"/>
        </p:nvCxnSpPr>
        <p:spPr>
          <a:xfrm>
            <a:off x="4116000" y="4660075"/>
            <a:ext cx="396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9103D9A-5FD5-4726-9928-5499DD6B1C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4265" y="1808163"/>
            <a:ext cx="5487987" cy="25849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5349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5703-C98C-43D1-9C8E-10F692F67C9E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ECD91-740D-46D4-819A-D679F29945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527176"/>
            <a:ext cx="5487987" cy="226254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139-B079-40C2-8E70-818954626953}"/>
              </a:ext>
            </a:extLst>
          </p:cNvPr>
          <p:cNvCxnSpPr/>
          <p:nvPr userDrawn="1"/>
        </p:nvCxnSpPr>
        <p:spPr>
          <a:xfrm>
            <a:off x="1305331" y="3966014"/>
            <a:ext cx="396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9103D9A-5FD5-4726-9928-5499DD6B1C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4265" y="1527175"/>
            <a:ext cx="5487987" cy="47005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2AC080C-C0CE-4DD5-8258-D0B38031DC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05331" y="3966014"/>
            <a:ext cx="3960000" cy="1566000"/>
          </a:xfrm>
        </p:spPr>
        <p:txBody>
          <a:bodyPr lIns="90000" tIns="90000" rIns="90000" bIns="90000"/>
          <a:lstStyle>
            <a:lvl1pPr>
              <a:lnSpc>
                <a:spcPts val="3300"/>
              </a:lnSpc>
              <a:defRPr sz="2800" b="1"/>
            </a:lvl1pPr>
            <a:lvl2pPr marL="0" indent="0">
              <a:buNone/>
              <a:defRPr b="1"/>
            </a:lvl2pPr>
            <a:lvl3pPr>
              <a:defRPr b="1"/>
            </a:lvl3pPr>
          </a:lstStyle>
          <a:p>
            <a:pPr lvl="0"/>
            <a:r>
              <a:rPr lang="en-US" dirty="0"/>
              <a:t>Quote</a:t>
            </a:r>
          </a:p>
          <a:p>
            <a:pPr lvl="1"/>
            <a:r>
              <a:rPr lang="en-US" dirty="0"/>
              <a:t>Quote</a:t>
            </a:r>
          </a:p>
          <a:p>
            <a:pPr lvl="2"/>
            <a:r>
              <a:rPr lang="en-US" dirty="0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1686771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5897-6532-4F9C-B0D0-8EEFEA5EB4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3DE59-7BBE-45C3-AB29-6B5AF589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3CE8-B979-46AE-B19C-25A4252BB488}" type="datetime1">
              <a:rPr lang="de-CH" smtClean="0"/>
              <a:t>26.10.2026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CFEC5-390C-482D-A559-1FE17D075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98147-CE05-420F-A778-BC515BDD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61C620-49BF-4D3D-AC8F-F38ADEA7FF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338" y="1527175"/>
            <a:ext cx="11110913" cy="4297155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AFEFCA-F2B1-4386-A44A-58A09BBB33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1338" y="5903843"/>
            <a:ext cx="11110912" cy="323920"/>
          </a:xfrm>
        </p:spPr>
        <p:txBody>
          <a:bodyPr anchor="b"/>
          <a:lstStyle>
            <a:lvl1pPr>
              <a:lnSpc>
                <a:spcPts val="1400"/>
              </a:lnSpc>
              <a:defRPr sz="1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330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5897-6532-4F9C-B0D0-8EEFEA5EB4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3DE59-7BBE-45C3-AB29-6B5AF589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096E-8DA5-434F-A028-52B8BE79BC0E}" type="datetime1">
              <a:rPr lang="de-CH" smtClean="0"/>
              <a:t>26.10.2026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CFEC5-390C-482D-A559-1FE17D075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98147-CE05-420F-A778-BC515BDD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61C620-49BF-4D3D-AC8F-F38ADEA7FF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338" y="1808163"/>
            <a:ext cx="11110913" cy="4016167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AFEFCA-F2B1-4386-A44A-58A09BBB33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1338" y="5903843"/>
            <a:ext cx="11110912" cy="323920"/>
          </a:xfrm>
        </p:spPr>
        <p:txBody>
          <a:bodyPr anchor="b"/>
          <a:lstStyle>
            <a:lvl1pPr>
              <a:lnSpc>
                <a:spcPts val="1400"/>
              </a:lnSpc>
              <a:defRPr sz="1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479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91E8B-319C-4AF7-86AE-CF2DBF2BEB14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1B19194-43A7-49F5-B9F4-C74E80287C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1274" y="1527968"/>
            <a:ext cx="5480978" cy="2261749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856990CC-0DF5-465C-B900-CCCEDF4146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1274" y="3966014"/>
            <a:ext cx="5480978" cy="2261749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3FC4300-99B0-42FE-B263-B786C3AA5A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38" y="1527175"/>
            <a:ext cx="5487987" cy="4700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0862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B5AE1-9F98-4E39-93AA-3764A9DFAA3E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1B19194-43A7-49F5-B9F4-C74E80287C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1274" y="1808163"/>
            <a:ext cx="5480978" cy="213518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856990CC-0DF5-465C-B900-CCCEDF4146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1274" y="4092579"/>
            <a:ext cx="5480978" cy="213518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936D944-8821-4636-AD78-442935C8800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41338" y="1808163"/>
            <a:ext cx="5487987" cy="4419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5584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A8BF-159E-4167-BAAD-D471B6AA23DE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139-B079-40C2-8E70-818954626953}"/>
              </a:ext>
            </a:extLst>
          </p:cNvPr>
          <p:cNvCxnSpPr>
            <a:cxnSpLocks/>
          </p:cNvCxnSpPr>
          <p:nvPr userDrawn="1"/>
        </p:nvCxnSpPr>
        <p:spPr>
          <a:xfrm>
            <a:off x="6164265" y="4518464"/>
            <a:ext cx="2228549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9103D9A-5FD5-4726-9928-5499DD6B1C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4265" y="1527175"/>
            <a:ext cx="5487987" cy="28681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2AC080C-C0CE-4DD5-8258-D0B38031DC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4265" y="4518464"/>
            <a:ext cx="2228549" cy="950421"/>
          </a:xfrm>
        </p:spPr>
        <p:txBody>
          <a:bodyPr lIns="90000" tIns="90000" rIns="90000" bIns="90000"/>
          <a:lstStyle>
            <a:lvl1pPr>
              <a:lnSpc>
                <a:spcPts val="1200"/>
              </a:lnSpc>
              <a:defRPr sz="1000" b="0"/>
            </a:lvl1pPr>
            <a:lvl2pPr marL="0" indent="0">
              <a:buNone/>
              <a:defRPr b="1"/>
            </a:lvl2pPr>
            <a:lvl3pPr>
              <a:defRPr b="1"/>
            </a:lvl3pPr>
          </a:lstStyle>
          <a:p>
            <a:pPr lvl="0"/>
            <a:endParaRPr lang="en-US" dirty="0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E84A332D-D9FD-4F11-AAFF-2B29B665EFD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41338" y="1527175"/>
            <a:ext cx="5486398" cy="4700589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937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45157-301E-4A02-A49C-69A1DFFC7225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139-B079-40C2-8E70-818954626953}"/>
              </a:ext>
            </a:extLst>
          </p:cNvPr>
          <p:cNvCxnSpPr>
            <a:cxnSpLocks/>
          </p:cNvCxnSpPr>
          <p:nvPr userDrawn="1"/>
        </p:nvCxnSpPr>
        <p:spPr>
          <a:xfrm>
            <a:off x="6164265" y="4518464"/>
            <a:ext cx="2228549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9103D9A-5FD5-4726-9928-5499DD6B1C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4265" y="1808163"/>
            <a:ext cx="5487987" cy="258717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2AC080C-C0CE-4DD5-8258-D0B38031DC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4265" y="4518464"/>
            <a:ext cx="2228549" cy="950421"/>
          </a:xfrm>
        </p:spPr>
        <p:txBody>
          <a:bodyPr lIns="90000" tIns="90000" rIns="90000" bIns="90000"/>
          <a:lstStyle>
            <a:lvl1pPr>
              <a:lnSpc>
                <a:spcPts val="1200"/>
              </a:lnSpc>
              <a:defRPr sz="1000" b="0"/>
            </a:lvl1pPr>
            <a:lvl2pPr marL="0" indent="0">
              <a:buNone/>
              <a:defRPr b="1"/>
            </a:lvl2pPr>
            <a:lvl3pPr>
              <a:defRPr b="1"/>
            </a:lvl3pPr>
          </a:lstStyle>
          <a:p>
            <a:pPr lvl="0"/>
            <a:endParaRPr lang="en-US" dirty="0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E84A332D-D9FD-4F11-AAFF-2B29B665EFD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41338" y="1808163"/>
            <a:ext cx="5486398" cy="4419601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80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D0D6-4B33-4BFB-9A43-26D1920DF59D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E84A332D-D9FD-4F11-AAFF-2B29B665EFD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41338" y="1527175"/>
            <a:ext cx="5486398" cy="3616325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3" name="Chart Placeholder 8">
            <a:extLst>
              <a:ext uri="{FF2B5EF4-FFF2-40B4-BE49-F238E27FC236}">
                <a16:creationId xmlns:a16="http://schemas.microsoft.com/office/drawing/2014/main" id="{C0FA4DC7-4EA7-4798-8BFD-6D06E8E29934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165854" y="1527175"/>
            <a:ext cx="5486398" cy="3616325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2C481-C2AB-4335-B870-FE51AB8F2A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1338" y="5330825"/>
            <a:ext cx="11110912" cy="896938"/>
          </a:xfrm>
        </p:spPr>
        <p:txBody>
          <a:bodyPr anchor="b"/>
          <a:lstStyle>
            <a:lvl1pPr marL="0" indent="0">
              <a:lnSpc>
                <a:spcPts val="1700"/>
              </a:lnSpc>
              <a:buFont typeface="Arial" panose="020B0604020202020204" pitchFamily="34" charset="0"/>
              <a:buNone/>
              <a:defRPr sz="1400" b="1"/>
            </a:lvl1pPr>
            <a:lvl2pPr marL="0" indent="0">
              <a:lnSpc>
                <a:spcPts val="1700"/>
              </a:lnSpc>
              <a:buNone/>
              <a:defRPr sz="1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1024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41C2-399A-4B30-A1D6-CBBA67D27F60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E84A332D-D9FD-4F11-AAFF-2B29B665EFD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41338" y="1808163"/>
            <a:ext cx="5486398" cy="3335338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3" name="Chart Placeholder 8">
            <a:extLst>
              <a:ext uri="{FF2B5EF4-FFF2-40B4-BE49-F238E27FC236}">
                <a16:creationId xmlns:a16="http://schemas.microsoft.com/office/drawing/2014/main" id="{C0FA4DC7-4EA7-4798-8BFD-6D06E8E29934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165854" y="1808163"/>
            <a:ext cx="5486398" cy="3335338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2C481-C2AB-4335-B870-FE51AB8F2A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1338" y="5330825"/>
            <a:ext cx="11110912" cy="896938"/>
          </a:xfrm>
        </p:spPr>
        <p:txBody>
          <a:bodyPr anchor="b"/>
          <a:lstStyle>
            <a:lvl1pPr marL="0" indent="0">
              <a:lnSpc>
                <a:spcPts val="1700"/>
              </a:lnSpc>
              <a:buFont typeface="Arial" panose="020B0604020202020204" pitchFamily="34" charset="0"/>
              <a:buNone/>
              <a:defRPr sz="1400" b="1"/>
            </a:lvl1pPr>
            <a:lvl2pPr marL="0" indent="0">
              <a:lnSpc>
                <a:spcPts val="1700"/>
              </a:lnSpc>
              <a:buNone/>
              <a:defRPr sz="1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673160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3spalt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DBA40-F4B4-4ECA-B23B-D0B060316852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8EAF263E-4F92-45AA-87ED-61D5EB689B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338" y="1527176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D1CD8160-2833-4C0B-8E50-891F47E890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0219" y="1527176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EDF922A8-3025-4885-93B4-77A815F8AF0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0690" y="1527176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5E7D3C-C0AB-4CEA-9840-148E1BFD1530}"/>
              </a:ext>
            </a:extLst>
          </p:cNvPr>
          <p:cNvCxnSpPr>
            <a:cxnSpLocks/>
          </p:cNvCxnSpPr>
          <p:nvPr userDrawn="1"/>
        </p:nvCxnSpPr>
        <p:spPr>
          <a:xfrm>
            <a:off x="541338" y="3966014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E83A814D-E881-4751-882E-692621347C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338" y="3966013"/>
            <a:ext cx="3611562" cy="2261749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1974D16-945E-4106-B33E-859B064455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1338" y="3618104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A8BAD5-AAB5-4137-9A8C-EDB7A21038A0}"/>
              </a:ext>
            </a:extLst>
          </p:cNvPr>
          <p:cNvCxnSpPr>
            <a:cxnSpLocks/>
          </p:cNvCxnSpPr>
          <p:nvPr userDrawn="1"/>
        </p:nvCxnSpPr>
        <p:spPr>
          <a:xfrm>
            <a:off x="4290219" y="3966014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1B3CDA8-127F-4C3D-AC6E-2842EE1072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0219" y="3966013"/>
            <a:ext cx="3611562" cy="2261749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D40286-48BE-43A0-B22E-FFFA20943D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0219" y="3618104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9F8CEC-9F61-41B4-BCDD-A32CE0E6F1BC}"/>
              </a:ext>
            </a:extLst>
          </p:cNvPr>
          <p:cNvCxnSpPr>
            <a:cxnSpLocks/>
          </p:cNvCxnSpPr>
          <p:nvPr userDrawn="1"/>
        </p:nvCxnSpPr>
        <p:spPr>
          <a:xfrm>
            <a:off x="8040690" y="3966014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552FDEC-EC98-4AD2-BCEC-C107BF2DF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40690" y="3966013"/>
            <a:ext cx="3611562" cy="2261749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B0B3CF7D-D267-4637-9F1B-ABC44FE53B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40690" y="3618104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1143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3spalt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E4944-9494-4704-811F-676C730C1A6E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8EAF263E-4F92-45AA-87ED-61D5EB689B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338" y="1808239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D1CD8160-2833-4C0B-8E50-891F47E890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0219" y="1808239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EDF922A8-3025-4885-93B4-77A815F8AF0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0690" y="1808239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5E7D3C-C0AB-4CEA-9840-148E1BFD1530}"/>
              </a:ext>
            </a:extLst>
          </p:cNvPr>
          <p:cNvCxnSpPr>
            <a:cxnSpLocks/>
          </p:cNvCxnSpPr>
          <p:nvPr userDrawn="1"/>
        </p:nvCxnSpPr>
        <p:spPr>
          <a:xfrm>
            <a:off x="541338" y="4247077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E83A814D-E881-4751-882E-692621347C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338" y="4247077"/>
            <a:ext cx="3611562" cy="1980686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1974D16-945E-4106-B33E-859B064455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1338" y="3899167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A8BAD5-AAB5-4137-9A8C-EDB7A21038A0}"/>
              </a:ext>
            </a:extLst>
          </p:cNvPr>
          <p:cNvCxnSpPr>
            <a:cxnSpLocks/>
          </p:cNvCxnSpPr>
          <p:nvPr userDrawn="1"/>
        </p:nvCxnSpPr>
        <p:spPr>
          <a:xfrm>
            <a:off x="4290219" y="4247077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1B3CDA8-127F-4C3D-AC6E-2842EE1072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0219" y="4247077"/>
            <a:ext cx="3611562" cy="1980686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D40286-48BE-43A0-B22E-FFFA20943D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0219" y="3899167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9F8CEC-9F61-41B4-BCDD-A32CE0E6F1BC}"/>
              </a:ext>
            </a:extLst>
          </p:cNvPr>
          <p:cNvCxnSpPr>
            <a:cxnSpLocks/>
          </p:cNvCxnSpPr>
          <p:nvPr userDrawn="1"/>
        </p:nvCxnSpPr>
        <p:spPr>
          <a:xfrm>
            <a:off x="8040690" y="4247077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552FDEC-EC98-4AD2-BCEC-C107BF2DF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40690" y="4247077"/>
            <a:ext cx="3611562" cy="1980686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B0B3CF7D-D267-4637-9F1B-ABC44FE53B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40690" y="3899167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376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05769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5160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89A27-5E6B-43EC-98CA-D65B22D7E347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0EA5319-8C10-45F8-B5BC-C939C09E661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338" y="1527175"/>
            <a:ext cx="11110914" cy="4700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5483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072B3-B562-4D24-ACCF-62D5CD78667C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0EA5319-8C10-45F8-B5BC-C939C09E661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338" y="1808163"/>
            <a:ext cx="11110914" cy="44196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3257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0038-0B01-4293-BC3A-7F887CC4AE26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4409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1spa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12137-4C56-4990-ABE4-E717C0D5366C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ECD91-740D-46D4-819A-D679F29945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527175"/>
            <a:ext cx="5487987" cy="4700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139-B079-40C2-8E70-818954626953}"/>
              </a:ext>
            </a:extLst>
          </p:cNvPr>
          <p:cNvCxnSpPr>
            <a:cxnSpLocks/>
          </p:cNvCxnSpPr>
          <p:nvPr userDrawn="1"/>
        </p:nvCxnSpPr>
        <p:spPr>
          <a:xfrm>
            <a:off x="6928258" y="1808163"/>
            <a:ext cx="396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AA38F4B-59B8-45F4-8D07-3357253BD8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8258" y="1808163"/>
            <a:ext cx="3960000" cy="1566000"/>
          </a:xfrm>
        </p:spPr>
        <p:txBody>
          <a:bodyPr lIns="90000" tIns="90000" rIns="90000" bIns="90000"/>
          <a:lstStyle>
            <a:lvl1pPr>
              <a:lnSpc>
                <a:spcPts val="3300"/>
              </a:lnSpc>
              <a:defRPr sz="2800" b="1"/>
            </a:lvl1pPr>
            <a:lvl2pPr marL="0" indent="0">
              <a:buNone/>
              <a:defRPr b="1"/>
            </a:lvl2pPr>
            <a:lvl3pPr>
              <a:defRPr b="1"/>
            </a:lvl3pPr>
          </a:lstStyle>
          <a:p>
            <a:pPr lvl="0"/>
            <a:r>
              <a:rPr lang="en-US" dirty="0"/>
              <a:t>Quote</a:t>
            </a:r>
          </a:p>
          <a:p>
            <a:pPr lvl="1"/>
            <a:r>
              <a:rPr lang="en-US" dirty="0"/>
              <a:t>Quote</a:t>
            </a:r>
          </a:p>
          <a:p>
            <a:pPr lvl="2"/>
            <a:r>
              <a:rPr lang="en-US" dirty="0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22740830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BA7D-3802-409A-90C1-E56878D8B99F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ECD91-740D-46D4-819A-D679F29945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808163"/>
            <a:ext cx="5487987" cy="25849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A1B39E17-3049-4162-9003-EE3E6ABC1B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6000" y="4661764"/>
            <a:ext cx="3960000" cy="1566000"/>
          </a:xfrm>
        </p:spPr>
        <p:txBody>
          <a:bodyPr lIns="90000" tIns="90000" rIns="90000" bIns="90000"/>
          <a:lstStyle>
            <a:lvl1pPr>
              <a:lnSpc>
                <a:spcPts val="3300"/>
              </a:lnSpc>
              <a:defRPr sz="2800" b="1"/>
            </a:lvl1pPr>
            <a:lvl2pPr marL="0" indent="0">
              <a:buNone/>
              <a:defRPr b="1"/>
            </a:lvl2pPr>
            <a:lvl3pPr>
              <a:defRPr b="1"/>
            </a:lvl3pPr>
          </a:lstStyle>
          <a:p>
            <a:pPr lvl="0"/>
            <a:r>
              <a:rPr lang="en-US" dirty="0"/>
              <a:t>Quote</a:t>
            </a:r>
          </a:p>
          <a:p>
            <a:pPr lvl="1"/>
            <a:r>
              <a:rPr lang="en-US" dirty="0"/>
              <a:t>Quote</a:t>
            </a:r>
          </a:p>
          <a:p>
            <a:pPr lvl="2"/>
            <a:r>
              <a:rPr lang="en-US" dirty="0"/>
              <a:t>Quote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139-B079-40C2-8E70-818954626953}"/>
              </a:ext>
            </a:extLst>
          </p:cNvPr>
          <p:cNvCxnSpPr/>
          <p:nvPr userDrawn="1"/>
        </p:nvCxnSpPr>
        <p:spPr>
          <a:xfrm>
            <a:off x="4116000" y="4660075"/>
            <a:ext cx="396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9103D9A-5FD5-4726-9928-5499DD6B1C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4265" y="1808163"/>
            <a:ext cx="5487987" cy="25849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019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12CF-3344-4340-A51D-29CAC0F68ECA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ECD91-740D-46D4-819A-D679F29945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527176"/>
            <a:ext cx="5487987" cy="226254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139-B079-40C2-8E70-818954626953}"/>
              </a:ext>
            </a:extLst>
          </p:cNvPr>
          <p:cNvCxnSpPr/>
          <p:nvPr userDrawn="1"/>
        </p:nvCxnSpPr>
        <p:spPr>
          <a:xfrm>
            <a:off x="1305331" y="3966014"/>
            <a:ext cx="3960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9103D9A-5FD5-4726-9928-5499DD6B1C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4265" y="1527175"/>
            <a:ext cx="5487987" cy="47005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2AC080C-C0CE-4DD5-8258-D0B38031DC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05331" y="3966014"/>
            <a:ext cx="3960000" cy="1566000"/>
          </a:xfrm>
        </p:spPr>
        <p:txBody>
          <a:bodyPr lIns="90000" tIns="90000" rIns="90000" bIns="90000"/>
          <a:lstStyle>
            <a:lvl1pPr>
              <a:lnSpc>
                <a:spcPts val="3300"/>
              </a:lnSpc>
              <a:defRPr sz="2800" b="1"/>
            </a:lvl1pPr>
            <a:lvl2pPr marL="0" indent="0">
              <a:buNone/>
              <a:defRPr b="1"/>
            </a:lvl2pPr>
            <a:lvl3pPr>
              <a:defRPr b="1"/>
            </a:lvl3pPr>
          </a:lstStyle>
          <a:p>
            <a:pPr lvl="0"/>
            <a:r>
              <a:rPr lang="en-US" dirty="0"/>
              <a:t>Quote</a:t>
            </a:r>
          </a:p>
          <a:p>
            <a:pPr lvl="1"/>
            <a:r>
              <a:rPr lang="en-US" dirty="0"/>
              <a:t>Quote</a:t>
            </a:r>
          </a:p>
          <a:p>
            <a:pPr lvl="2"/>
            <a:r>
              <a:rPr lang="en-US" dirty="0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153765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5897-6532-4F9C-B0D0-8EEFEA5EB4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3DE59-7BBE-45C3-AB29-6B5AF589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717BD-479E-44A5-B74C-02692EF58420}" type="datetime1">
              <a:rPr lang="de-CH" smtClean="0"/>
              <a:t>26.10.2026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CFEC5-390C-482D-A559-1FE17D075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98147-CE05-420F-A778-BC515BDD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61C620-49BF-4D3D-AC8F-F38ADEA7FF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338" y="1527175"/>
            <a:ext cx="11110913" cy="4297155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AFEFCA-F2B1-4386-A44A-58A09BBB33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1338" y="5903843"/>
            <a:ext cx="11110912" cy="323920"/>
          </a:xfrm>
        </p:spPr>
        <p:txBody>
          <a:bodyPr anchor="b"/>
          <a:lstStyle>
            <a:lvl1pPr>
              <a:lnSpc>
                <a:spcPts val="1400"/>
              </a:lnSpc>
              <a:defRPr sz="1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6351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5897-6532-4F9C-B0D0-8EEFEA5EB4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3DE59-7BBE-45C3-AB29-6B5AF589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0F05-D1FC-4880-ABDF-944F9C451713}" type="datetime1">
              <a:rPr lang="de-CH" smtClean="0"/>
              <a:t>26.10.2026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CFEC5-390C-482D-A559-1FE17D075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98147-CE05-420F-A778-BC515BDD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61C620-49BF-4D3D-AC8F-F38ADEA7FF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338" y="1808163"/>
            <a:ext cx="11110913" cy="4016167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AFEFCA-F2B1-4386-A44A-58A09BBB33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1338" y="5903843"/>
            <a:ext cx="11110912" cy="323920"/>
          </a:xfrm>
        </p:spPr>
        <p:txBody>
          <a:bodyPr anchor="b"/>
          <a:lstStyle>
            <a:lvl1pPr>
              <a:lnSpc>
                <a:spcPts val="1400"/>
              </a:lnSpc>
              <a:defRPr sz="12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6877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45265-7CAC-4EE6-B06C-40E902D7C968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1B19194-43A7-49F5-B9F4-C74E80287C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1274" y="1527968"/>
            <a:ext cx="5480978" cy="2261749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856990CC-0DF5-465C-B900-CCCEDF4146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1274" y="3966014"/>
            <a:ext cx="5480978" cy="2261749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3FC4300-99B0-42FE-B263-B786C3AA5A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38" y="1527175"/>
            <a:ext cx="5487987" cy="4700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932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4D89A-36EF-4C8B-8F13-965A48AF2DB0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1B19194-43A7-49F5-B9F4-C74E80287C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1274" y="1808163"/>
            <a:ext cx="5480978" cy="213518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856990CC-0DF5-465C-B900-CCCEDF4146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1274" y="4092579"/>
            <a:ext cx="5480978" cy="213518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936D944-8821-4636-AD78-442935C8800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41338" y="1808163"/>
            <a:ext cx="5487987" cy="44196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9602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97CB-88F3-45C2-ACAA-06A6851D0B49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139-B079-40C2-8E70-818954626953}"/>
              </a:ext>
            </a:extLst>
          </p:cNvPr>
          <p:cNvCxnSpPr>
            <a:cxnSpLocks/>
          </p:cNvCxnSpPr>
          <p:nvPr userDrawn="1"/>
        </p:nvCxnSpPr>
        <p:spPr>
          <a:xfrm>
            <a:off x="6164265" y="4518464"/>
            <a:ext cx="2228549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9103D9A-5FD5-4726-9928-5499DD6B1C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4265" y="1527175"/>
            <a:ext cx="5487987" cy="28681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2AC080C-C0CE-4DD5-8258-D0B38031DC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4265" y="4518464"/>
            <a:ext cx="2228549" cy="950421"/>
          </a:xfrm>
        </p:spPr>
        <p:txBody>
          <a:bodyPr lIns="90000" tIns="90000" rIns="90000" bIns="90000"/>
          <a:lstStyle>
            <a:lvl1pPr>
              <a:lnSpc>
                <a:spcPts val="1200"/>
              </a:lnSpc>
              <a:defRPr sz="1000" b="0"/>
            </a:lvl1pPr>
            <a:lvl2pPr marL="0" indent="0">
              <a:buNone/>
              <a:defRPr b="1"/>
            </a:lvl2pPr>
            <a:lvl3pPr>
              <a:defRPr b="1"/>
            </a:lvl3pPr>
          </a:lstStyle>
          <a:p>
            <a:pPr lvl="0"/>
            <a:endParaRPr lang="en-US" dirty="0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E84A332D-D9FD-4F11-AAFF-2B29B665EFD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41338" y="1527175"/>
            <a:ext cx="5486398" cy="4700589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69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B4F-66BE-4EAF-BF34-0C9EE260EA22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0E2139-B079-40C2-8E70-818954626953}"/>
              </a:ext>
            </a:extLst>
          </p:cNvPr>
          <p:cNvCxnSpPr>
            <a:cxnSpLocks/>
          </p:cNvCxnSpPr>
          <p:nvPr userDrawn="1"/>
        </p:nvCxnSpPr>
        <p:spPr>
          <a:xfrm>
            <a:off x="6164265" y="4518464"/>
            <a:ext cx="2228549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9103D9A-5FD5-4726-9928-5499DD6B1C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4265" y="1808163"/>
            <a:ext cx="5487987" cy="258717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2AC080C-C0CE-4DD5-8258-D0B38031DC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4265" y="4518464"/>
            <a:ext cx="2228549" cy="950421"/>
          </a:xfrm>
        </p:spPr>
        <p:txBody>
          <a:bodyPr lIns="90000" tIns="90000" rIns="90000" bIns="90000"/>
          <a:lstStyle>
            <a:lvl1pPr>
              <a:lnSpc>
                <a:spcPts val="1200"/>
              </a:lnSpc>
              <a:defRPr sz="1000" b="0"/>
            </a:lvl1pPr>
            <a:lvl2pPr marL="0" indent="0">
              <a:buNone/>
              <a:defRPr b="1"/>
            </a:lvl2pPr>
            <a:lvl3pPr>
              <a:defRPr b="1"/>
            </a:lvl3pPr>
          </a:lstStyle>
          <a:p>
            <a:pPr lvl="0"/>
            <a:endParaRPr lang="en-US" dirty="0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E84A332D-D9FD-4F11-AAFF-2B29B665EFD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41338" y="1808163"/>
            <a:ext cx="5486398" cy="4419601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04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9B4CE-58EF-4BA6-AC1F-572C017FE281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E84A332D-D9FD-4F11-AAFF-2B29B665EFD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41338" y="1527175"/>
            <a:ext cx="5486398" cy="3616325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3" name="Chart Placeholder 8">
            <a:extLst>
              <a:ext uri="{FF2B5EF4-FFF2-40B4-BE49-F238E27FC236}">
                <a16:creationId xmlns:a16="http://schemas.microsoft.com/office/drawing/2014/main" id="{C0FA4DC7-4EA7-4798-8BFD-6D06E8E29934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165854" y="1527175"/>
            <a:ext cx="5486398" cy="3616325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2C481-C2AB-4335-B870-FE51AB8F2A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1338" y="5330825"/>
            <a:ext cx="11110912" cy="896938"/>
          </a:xfrm>
        </p:spPr>
        <p:txBody>
          <a:bodyPr anchor="b"/>
          <a:lstStyle>
            <a:lvl1pPr marL="0" indent="0">
              <a:lnSpc>
                <a:spcPts val="1700"/>
              </a:lnSpc>
              <a:buFont typeface="Arial" panose="020B0604020202020204" pitchFamily="34" charset="0"/>
              <a:buNone/>
              <a:defRPr sz="1400" b="1"/>
            </a:lvl1pPr>
            <a:lvl2pPr marL="0" indent="0">
              <a:lnSpc>
                <a:spcPts val="1700"/>
              </a:lnSpc>
              <a:buNone/>
              <a:defRPr sz="1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86113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A4E38-A6E1-423F-9EC5-947AA711F208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E84A332D-D9FD-4F11-AAFF-2B29B665EFD5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541338" y="1808163"/>
            <a:ext cx="5486398" cy="3335338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13" name="Chart Placeholder 8">
            <a:extLst>
              <a:ext uri="{FF2B5EF4-FFF2-40B4-BE49-F238E27FC236}">
                <a16:creationId xmlns:a16="http://schemas.microsoft.com/office/drawing/2014/main" id="{C0FA4DC7-4EA7-4798-8BFD-6D06E8E29934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165854" y="1808163"/>
            <a:ext cx="5486398" cy="3335338"/>
          </a:xfrm>
        </p:spPr>
        <p:txBody>
          <a:bodyPr tIns="684000" anchor="ctr"/>
          <a:lstStyle>
            <a:lvl1pPr algn="ctr">
              <a:defRPr sz="1800"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2C481-C2AB-4335-B870-FE51AB8F2A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1338" y="5330825"/>
            <a:ext cx="11110912" cy="896938"/>
          </a:xfrm>
        </p:spPr>
        <p:txBody>
          <a:bodyPr anchor="b"/>
          <a:lstStyle>
            <a:lvl1pPr marL="0" indent="0">
              <a:lnSpc>
                <a:spcPts val="1700"/>
              </a:lnSpc>
              <a:buFont typeface="Arial" panose="020B0604020202020204" pitchFamily="34" charset="0"/>
              <a:buNone/>
              <a:defRPr sz="1400" b="1"/>
            </a:lvl1pPr>
            <a:lvl2pPr marL="0" indent="0">
              <a:lnSpc>
                <a:spcPts val="1700"/>
              </a:lnSpc>
              <a:buNone/>
              <a:defRPr sz="1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19710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3spalt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85D16-C755-4CDC-ADBB-96C6A795BCA4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8EAF263E-4F92-45AA-87ED-61D5EB689B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338" y="1527176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D1CD8160-2833-4C0B-8E50-891F47E890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0219" y="1527176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EDF922A8-3025-4885-93B4-77A815F8AF0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0690" y="1527176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5E7D3C-C0AB-4CEA-9840-148E1BFD1530}"/>
              </a:ext>
            </a:extLst>
          </p:cNvPr>
          <p:cNvCxnSpPr>
            <a:cxnSpLocks/>
          </p:cNvCxnSpPr>
          <p:nvPr userDrawn="1"/>
        </p:nvCxnSpPr>
        <p:spPr>
          <a:xfrm>
            <a:off x="541338" y="3966014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E83A814D-E881-4751-882E-692621347C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338" y="3966013"/>
            <a:ext cx="3611562" cy="2261749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1974D16-945E-4106-B33E-859B064455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1338" y="3618104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A8BAD5-AAB5-4137-9A8C-EDB7A21038A0}"/>
              </a:ext>
            </a:extLst>
          </p:cNvPr>
          <p:cNvCxnSpPr>
            <a:cxnSpLocks/>
          </p:cNvCxnSpPr>
          <p:nvPr userDrawn="1"/>
        </p:nvCxnSpPr>
        <p:spPr>
          <a:xfrm>
            <a:off x="4290219" y="3966014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1B3CDA8-127F-4C3D-AC6E-2842EE1072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0219" y="3966013"/>
            <a:ext cx="3611562" cy="2261749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D40286-48BE-43A0-B22E-FFFA20943D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0219" y="3618104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9F8CEC-9F61-41B4-BCDD-A32CE0E6F1BC}"/>
              </a:ext>
            </a:extLst>
          </p:cNvPr>
          <p:cNvCxnSpPr>
            <a:cxnSpLocks/>
          </p:cNvCxnSpPr>
          <p:nvPr userDrawn="1"/>
        </p:nvCxnSpPr>
        <p:spPr>
          <a:xfrm>
            <a:off x="8040690" y="3966014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552FDEC-EC98-4AD2-BCEC-C107BF2DF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40690" y="3966013"/>
            <a:ext cx="3611562" cy="2261749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B0B3CF7D-D267-4637-9F1B-ABC44FE53B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40690" y="3618104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98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3spalt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1CED-9250-4210-89B1-294B1D97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E41AA-6A5D-40B1-BDC9-2BA24DD6AC81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E8DA-CFD0-4E55-9E09-36404058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A619-10C4-466A-A7FD-735559AF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995C501-DF84-4C96-B21A-A5983515A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 dirty="0" err="1"/>
              <a:t>Mastertitelformat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8EAF263E-4F92-45AA-87ED-61D5EB689B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338" y="1808239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D1CD8160-2833-4C0B-8E50-891F47E8905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0219" y="1808239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EDF922A8-3025-4885-93B4-77A815F8AF0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0690" y="1808239"/>
            <a:ext cx="3611562" cy="1901824"/>
          </a:xfrm>
        </p:spPr>
        <p:txBody>
          <a:bodyPr lIns="0" tIns="720000" anchor="ctr"/>
          <a:lstStyle>
            <a:lvl1pPr algn="ctr">
              <a:defRPr/>
            </a:lvl1pPr>
          </a:lstStyle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5E7D3C-C0AB-4CEA-9840-148E1BFD1530}"/>
              </a:ext>
            </a:extLst>
          </p:cNvPr>
          <p:cNvCxnSpPr>
            <a:cxnSpLocks/>
          </p:cNvCxnSpPr>
          <p:nvPr userDrawn="1"/>
        </p:nvCxnSpPr>
        <p:spPr>
          <a:xfrm>
            <a:off x="541338" y="4247077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E83A814D-E881-4751-882E-692621347C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338" y="4247077"/>
            <a:ext cx="3611562" cy="1980686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1974D16-945E-4106-B33E-859B064455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1338" y="3899167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A8BAD5-AAB5-4137-9A8C-EDB7A21038A0}"/>
              </a:ext>
            </a:extLst>
          </p:cNvPr>
          <p:cNvCxnSpPr>
            <a:cxnSpLocks/>
          </p:cNvCxnSpPr>
          <p:nvPr userDrawn="1"/>
        </p:nvCxnSpPr>
        <p:spPr>
          <a:xfrm>
            <a:off x="4290219" y="4247077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1B3CDA8-127F-4C3D-AC6E-2842EE1072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0219" y="4247077"/>
            <a:ext cx="3611562" cy="1980686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D40286-48BE-43A0-B22E-FFFA20943D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0219" y="3899167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9F8CEC-9F61-41B4-BCDD-A32CE0E6F1BC}"/>
              </a:ext>
            </a:extLst>
          </p:cNvPr>
          <p:cNvCxnSpPr>
            <a:cxnSpLocks/>
          </p:cNvCxnSpPr>
          <p:nvPr userDrawn="1"/>
        </p:nvCxnSpPr>
        <p:spPr>
          <a:xfrm>
            <a:off x="8040690" y="4247077"/>
            <a:ext cx="3611562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552FDEC-EC98-4AD2-BCEC-C107BF2DF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40690" y="4247077"/>
            <a:ext cx="3611562" cy="1980686"/>
          </a:xfrm>
        </p:spPr>
        <p:txBody>
          <a:bodyPr lIns="90000" tIns="90000" rIns="90000" bIns="90000"/>
          <a:lstStyle>
            <a:lvl1pPr>
              <a:lnSpc>
                <a:spcPts val="1500"/>
              </a:lnSpc>
              <a:defRPr sz="1200" b="0"/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/>
              <a:t>18pt</a:t>
            </a:r>
          </a:p>
          <a:p>
            <a:pPr lvl="2"/>
            <a:r>
              <a:rPr lang="en-US" dirty="0"/>
              <a:t>12pt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B0B3CF7D-D267-4637-9F1B-ABC44FE53B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40690" y="3899167"/>
            <a:ext cx="3611562" cy="325329"/>
          </a:xfrm>
        </p:spPr>
        <p:txBody>
          <a:bodyPr lIns="90000" tIns="90000" rIns="90000" bIns="90000"/>
          <a:lstStyle>
            <a:lvl1pPr>
              <a:lnSpc>
                <a:spcPts val="1700"/>
              </a:lnSpc>
              <a:defRPr sz="1400" b="1">
                <a:solidFill>
                  <a:schemeClr val="bg2"/>
                </a:solidFill>
              </a:defRPr>
            </a:lvl1pPr>
            <a:lvl2pPr marL="0" indent="0">
              <a:lnSpc>
                <a:spcPts val="2100"/>
              </a:lnSpc>
              <a:buNone/>
              <a:defRPr sz="1800" b="1"/>
            </a:lvl2pPr>
            <a:lvl3pPr marL="180000" indent="-180000">
              <a:lnSpc>
                <a:spcPts val="1500"/>
              </a:lnSpc>
              <a:buFont typeface="Arial" panose="020B0604020202020204" pitchFamily="34" charset="0"/>
              <a:buChar char="•"/>
              <a:defRPr sz="1200" b="0"/>
            </a:lvl3pPr>
          </a:lstStyle>
          <a:p>
            <a:pPr lvl="0"/>
            <a:r>
              <a:rPr lang="en-US" dirty="0" err="1"/>
              <a:t>Textmasterformat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050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pitel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6C7F9619-1927-44D9-84CA-7E9FB56D1EC3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grpSp>
        <p:nvGrpSpPr>
          <p:cNvPr id="13" name="Gruppieren 6">
            <a:extLst>
              <a:ext uri="{FF2B5EF4-FFF2-40B4-BE49-F238E27FC236}">
                <a16:creationId xmlns:a16="http://schemas.microsoft.com/office/drawing/2014/main" id="{6D513A65-6B00-44BA-8983-D89B48D5D9C0}"/>
              </a:ext>
            </a:extLst>
          </p:cNvPr>
          <p:cNvGrpSpPr/>
          <p:nvPr userDrawn="1"/>
        </p:nvGrpSpPr>
        <p:grpSpPr>
          <a:xfrm>
            <a:off x="8303741" y="0"/>
            <a:ext cx="3888259" cy="6866368"/>
            <a:chOff x="6235700" y="-6351"/>
            <a:chExt cx="2917825" cy="515265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FFED266-241D-44F4-BB96-A11D04115A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rgbClr val="DFB9C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604D1CB-B842-4FD4-ABD2-08EFD59BF5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rgbClr val="545E6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4DD798EA-C261-45DC-859B-6847CA3C0F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DA158B9-FFC8-4F10-B8F9-4A8D898E75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79200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8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9CDB44A-812C-413B-9748-BB68151A37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7920000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5450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1zeilig Aufzählung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719669" y="1797051"/>
            <a:ext cx="10759017" cy="4224867"/>
          </a:xfrm>
          <a:prstGeom prst="rect">
            <a:avLst/>
          </a:prstGeom>
        </p:spPr>
        <p:txBody>
          <a:bodyPr lIns="0" tIns="0" rIns="0" bIns="0"/>
          <a:lstStyle>
            <a:lvl1pPr marL="379191" indent="-379191">
              <a:lnSpc>
                <a:spcPts val="2800"/>
              </a:lnSpc>
              <a:spcBef>
                <a:spcPts val="1333"/>
              </a:spcBef>
              <a:defRPr sz="2400" baseline="0">
                <a:latin typeface="+mn-lt"/>
              </a:defRPr>
            </a:lvl1pPr>
            <a:lvl3pPr marL="758381" indent="-379191">
              <a:lnSpc>
                <a:spcPts val="2800"/>
              </a:lnSpc>
              <a:spcBef>
                <a:spcPts val="1333"/>
              </a:spcBef>
              <a:defRPr sz="2400" baseline="0">
                <a:latin typeface="+mn-lt"/>
              </a:defRPr>
            </a:lvl3pPr>
            <a:lvl4pPr marL="1137572" indent="-379191">
              <a:lnSpc>
                <a:spcPts val="2800"/>
              </a:lnSpc>
              <a:spcBef>
                <a:spcPts val="1333"/>
              </a:spcBef>
              <a:defRPr sz="2400" baseline="0">
                <a:latin typeface="+mn-lt"/>
              </a:defRPr>
            </a:lvl4pPr>
            <a:lvl5pPr marL="1516762" indent="-379191">
              <a:lnSpc>
                <a:spcPts val="2800"/>
              </a:lnSpc>
              <a:spcBef>
                <a:spcPts val="1333"/>
              </a:spcBef>
              <a:defRPr sz="2400" baseline="0">
                <a:latin typeface="+mn-lt"/>
              </a:defRPr>
            </a:lvl5pPr>
            <a:lvl6pPr marL="1895953" indent="-379191">
              <a:lnSpc>
                <a:spcPts val="2800"/>
              </a:lnSpc>
              <a:spcBef>
                <a:spcPts val="1333"/>
              </a:spcBef>
              <a:defRPr sz="2400" baseline="0">
                <a:latin typeface="+mn-lt"/>
              </a:defRPr>
            </a:lvl6pPr>
            <a:lvl7pPr marL="2275143" indent="-379191">
              <a:lnSpc>
                <a:spcPts val="2800"/>
              </a:lnSpc>
              <a:spcBef>
                <a:spcPts val="1333"/>
              </a:spcBef>
              <a:defRPr sz="2400" baseline="0">
                <a:latin typeface="+mn-lt"/>
              </a:defRPr>
            </a:lvl7pPr>
            <a:lvl8pPr marL="2654334" indent="-379191">
              <a:lnSpc>
                <a:spcPts val="2800"/>
              </a:lnSpc>
              <a:spcBef>
                <a:spcPts val="1333"/>
              </a:spcBef>
              <a:defRPr sz="2400" baseline="0">
                <a:latin typeface="+mn-lt"/>
              </a:defRPr>
            </a:lvl8pPr>
            <a:lvl9pPr marL="3033524" indent="-379191">
              <a:lnSpc>
                <a:spcPts val="2800"/>
              </a:lnSpc>
              <a:spcBef>
                <a:spcPts val="1333"/>
              </a:spcBef>
              <a:defRPr sz="24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  <a:p>
            <a:pPr lvl="8"/>
            <a:r>
              <a:rPr lang="de-DE" dirty="0"/>
              <a:t>Achte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719664" y="972334"/>
            <a:ext cx="10752669" cy="548492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9358843A-C4C7-4811-BED9-DBA63B358B4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D2EB843-F2BE-4ABF-9ED8-D9F9EBE55CB8}" type="datetime1">
              <a:rPr lang="de-CH" smtClean="0"/>
              <a:t>26.10.2026</a:t>
            </a:fld>
            <a:endParaRPr lang="de-DE" dirty="0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A1121AD4-C955-472C-9B34-D8BAC40643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Strategieumsetzung und Projektmanagement</a:t>
            </a:r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CD4C5BC8-E23F-4949-94E3-0AAFEFC528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36565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chlussfolie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5DAAD83-993F-4298-83A1-CD990206B4DD}"/>
              </a:ext>
            </a:extLst>
          </p:cNvPr>
          <p:cNvGrpSpPr/>
          <p:nvPr userDrawn="1"/>
        </p:nvGrpSpPr>
        <p:grpSpPr>
          <a:xfrm>
            <a:off x="0" y="3032125"/>
            <a:ext cx="12192000" cy="3825875"/>
            <a:chOff x="0" y="2608263"/>
            <a:chExt cx="9144001" cy="2535237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12960E97-54B1-4E01-8C28-B065FC340413}"/>
                </a:ext>
              </a:extLst>
            </p:cNvPr>
            <p:cNvSpPr/>
            <p:nvPr userDrawn="1"/>
          </p:nvSpPr>
          <p:spPr>
            <a:xfrm>
              <a:off x="0" y="2608263"/>
              <a:ext cx="91440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9" name="Parallelogramm 8">
              <a:extLst>
                <a:ext uri="{FF2B5EF4-FFF2-40B4-BE49-F238E27FC236}">
                  <a16:creationId xmlns:a16="http://schemas.microsoft.com/office/drawing/2014/main" id="{0BC97C79-BC41-455F-911E-09C085A660D7}"/>
                </a:ext>
              </a:extLst>
            </p:cNvPr>
            <p:cNvSpPr/>
            <p:nvPr userDrawn="1"/>
          </p:nvSpPr>
          <p:spPr>
            <a:xfrm>
              <a:off x="5727032" y="2608263"/>
              <a:ext cx="3416969" cy="2535237"/>
            </a:xfrm>
            <a:prstGeom prst="parallelogram">
              <a:avLst>
                <a:gd name="adj" fmla="val 5052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Parallelogramm 9">
              <a:extLst>
                <a:ext uri="{FF2B5EF4-FFF2-40B4-BE49-F238E27FC236}">
                  <a16:creationId xmlns:a16="http://schemas.microsoft.com/office/drawing/2014/main" id="{EB5166AA-4A6F-4DB5-B6C5-8ABD7A4C855A}"/>
                </a:ext>
              </a:extLst>
            </p:cNvPr>
            <p:cNvSpPr/>
            <p:nvPr userDrawn="1"/>
          </p:nvSpPr>
          <p:spPr>
            <a:xfrm flipH="1">
              <a:off x="2677026" y="2608263"/>
              <a:ext cx="5927224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1" name="Parallelogramm 10">
              <a:extLst>
                <a:ext uri="{FF2B5EF4-FFF2-40B4-BE49-F238E27FC236}">
                  <a16:creationId xmlns:a16="http://schemas.microsoft.com/office/drawing/2014/main" id="{7668BD9C-CB6F-4571-877B-9D0F9E59DCFB}"/>
                </a:ext>
              </a:extLst>
            </p:cNvPr>
            <p:cNvSpPr/>
            <p:nvPr userDrawn="1"/>
          </p:nvSpPr>
          <p:spPr>
            <a:xfrm>
              <a:off x="420946" y="2608263"/>
              <a:ext cx="5047407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F0822-C8E5-449A-8400-1F9273C1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A67C98B-4C5E-479E-8319-EB480AFBE23C}" type="datetime1">
              <a:rPr lang="de-CH" smtClean="0"/>
              <a:t>26.10.2026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AD98-B7CC-4F9D-8DE6-3DF9A7C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944825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56F0-525A-4DDB-966D-145F2B4E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944825"/>
            <a:ext cx="2743200" cy="365125"/>
          </a:xfrm>
          <a:prstGeom prst="rect">
            <a:avLst/>
          </a:prstGeom>
        </p:spPr>
        <p:txBody>
          <a:bodyPr/>
          <a:lstStyle/>
          <a:p>
            <a:fld id="{01202F54-BD24-4091-80C5-A159FB9A23AA}" type="slidenum">
              <a:rPr lang="en-US" smtClean="0"/>
              <a:t>‹Nr.›</a:t>
            </a:fld>
            <a:endParaRPr lang="en-US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55C8D17B-7902-426D-9146-F4291135CB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336" y="2575202"/>
            <a:ext cx="11110913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800"/>
              </a:lnSpc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753660C-7873-4F25-A9DC-99F8EF387DF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329" y="1455871"/>
            <a:ext cx="11110922" cy="7920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ts val="3500"/>
              </a:lnSpc>
              <a:defRPr sz="32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16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093BF85-7E95-41EE-9424-3CB18F25C12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2524" y="356710"/>
            <a:ext cx="1869254" cy="272136"/>
          </a:xfrm>
          <a:prstGeom prst="rect">
            <a:avLst/>
          </a:prstGeom>
        </p:spPr>
      </p:pic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2EEC7863-B01F-440B-A037-ADDC19D6D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91814"/>
            <a:ext cx="2743200" cy="153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noFill/>
              </a:defRPr>
            </a:lvl1pPr>
          </a:lstStyle>
          <a:p>
            <a:fld id="{08B065B1-0981-4455-862E-2FEE59910AA3}" type="datetime1">
              <a:rPr lang="de-CH" smtClean="0"/>
              <a:t>26.10.2026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5DBC2DA7-50E2-4911-AC68-F3F8A1E87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91814"/>
            <a:ext cx="4114800" cy="153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noFill/>
              </a:defRPr>
            </a:lvl1pPr>
          </a:lstStyle>
          <a:p>
            <a:r>
              <a:rPr lang="en-US"/>
              <a:t>Strategieumsetzung und Projektmanagement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48919C2-0343-459A-A836-FEA55107D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991814"/>
            <a:ext cx="2743200" cy="1534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noFill/>
              </a:defRPr>
            </a:lvl1pPr>
          </a:lstStyle>
          <a:p>
            <a:fld id="{92291418-FC12-4324-A08F-BDC45CD2FDE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6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7" r:id="rId2"/>
    <p:sldLayoutId id="2147483672" r:id="rId3"/>
    <p:sldLayoutId id="2147483693" r:id="rId4"/>
    <p:sldLayoutId id="2147483692" r:id="rId5"/>
    <p:sldLayoutId id="2147483694" r:id="rId6"/>
    <p:sldLayoutId id="2147483695" r:id="rId7"/>
    <p:sldLayoutId id="2147483696" r:id="rId8"/>
    <p:sldLayoutId id="2147483673" r:id="rId9"/>
    <p:sldLayoutId id="2147483674" r:id="rId10"/>
    <p:sldLayoutId id="214748367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1" userDrawn="1">
          <p15:clr>
            <a:srgbClr val="F26B43"/>
          </p15:clr>
        </p15:guide>
        <p15:guide id="2" orient="horz" pos="464" userDrawn="1">
          <p15:clr>
            <a:srgbClr val="F26B43"/>
          </p15:clr>
        </p15:guide>
        <p15:guide id="3" orient="horz" pos="915" userDrawn="1">
          <p15:clr>
            <a:srgbClr val="F26B43"/>
          </p15:clr>
        </p15:guide>
        <p15:guide id="4" orient="horz" pos="1139" userDrawn="1">
          <p15:clr>
            <a:srgbClr val="F26B43"/>
          </p15:clr>
        </p15:guide>
        <p15:guide id="5" orient="horz" pos="1733" userDrawn="1">
          <p15:clr>
            <a:srgbClr val="F26B43"/>
          </p15:clr>
        </p15:guide>
        <p15:guide id="6" pos="341" userDrawn="1">
          <p15:clr>
            <a:srgbClr val="F26B43"/>
          </p15:clr>
        </p15:guide>
        <p15:guide id="7" pos="7340" userDrawn="1">
          <p15:clr>
            <a:srgbClr val="F26B43"/>
          </p15:clr>
        </p15:guide>
        <p15:guide id="8" orient="horz" pos="191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8B115E-CC0F-4C62-A22D-9DB38C130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2055F-B167-4DD9-A518-71648839C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338" y="1527175"/>
            <a:ext cx="11110914" cy="47005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5"/>
            <a:r>
              <a:rPr lang="en-US" dirty="0" err="1"/>
              <a:t>Sechste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6"/>
            <a:r>
              <a:rPr lang="en-US" dirty="0" err="1"/>
              <a:t>Siebte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7"/>
            <a:r>
              <a:rPr lang="en-US" dirty="0" err="1"/>
              <a:t>Achte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AE279-3346-4FA1-839D-1C6EB5540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05841" y="6598364"/>
            <a:ext cx="1136809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52F6813-2DBF-47CA-9803-136FDF5BF679}" type="datetime1">
              <a:rPr lang="de-CH" smtClean="0"/>
              <a:t>26.10.2026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0E02E-6C31-4CC3-B611-AD1701A1E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9912" y="6598364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Strategieumsetzung und Projektmanagement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242A8-3DAD-4BB4-936E-C09139055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650" y="6598364"/>
            <a:ext cx="3096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01202F54-BD24-4091-80C5-A159FB9A23AA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fik 17">
            <a:extLst>
              <a:ext uri="{FF2B5EF4-FFF2-40B4-BE49-F238E27FC236}">
                <a16:creationId xmlns:a16="http://schemas.microsoft.com/office/drawing/2014/main" id="{12C9CF10-3DFE-428D-AA0E-1943F5EFA113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141" y="264212"/>
            <a:ext cx="1318375" cy="191936"/>
          </a:xfrm>
          <a:prstGeom prst="rect">
            <a:avLst/>
          </a:prstGeom>
        </p:spPr>
      </p:pic>
      <p:cxnSp>
        <p:nvCxnSpPr>
          <p:cNvPr id="19" name="Gerade Verbindung 14">
            <a:extLst>
              <a:ext uri="{FF2B5EF4-FFF2-40B4-BE49-F238E27FC236}">
                <a16:creationId xmlns:a16="http://schemas.microsoft.com/office/drawing/2014/main" id="{5E72C3A4-9E3E-4992-B7E8-1A4FB4C976A2}"/>
              </a:ext>
            </a:extLst>
          </p:cNvPr>
          <p:cNvCxnSpPr/>
          <p:nvPr userDrawn="1"/>
        </p:nvCxnSpPr>
        <p:spPr>
          <a:xfrm>
            <a:off x="541338" y="6521009"/>
            <a:ext cx="1111091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feld 13">
            <a:extLst>
              <a:ext uri="{FF2B5EF4-FFF2-40B4-BE49-F238E27FC236}">
                <a16:creationId xmlns:a16="http://schemas.microsoft.com/office/drawing/2014/main" id="{E92CCA62-F165-4D77-A55B-75526EE82D2A}"/>
              </a:ext>
            </a:extLst>
          </p:cNvPr>
          <p:cNvSpPr txBox="1"/>
          <p:nvPr userDrawn="1"/>
        </p:nvSpPr>
        <p:spPr>
          <a:xfrm>
            <a:off x="545880" y="6600125"/>
            <a:ext cx="7340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 Gruppe –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98551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7" r:id="rId2"/>
    <p:sldLayoutId id="2147483689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76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90" r:id="rId16"/>
    <p:sldLayoutId id="2147483699" r:id="rId17"/>
    <p:sldLayoutId id="2147483720" r:id="rId18"/>
  </p:sldLayoutIdLst>
  <p:hf hdr="0"/>
  <p:txStyles>
    <p:titleStyle>
      <a:lvl1pPr algn="l" defTabSz="914400" rtl="0" eaLnBrk="1" latinLnBrk="0" hangingPunct="1">
        <a:lnSpc>
          <a:spcPts val="33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6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87338" indent="-287338" algn="l" defTabSz="914400" rtl="0" eaLnBrk="1" latinLnBrk="0" hangingPunct="1">
        <a:lnSpc>
          <a:spcPts val="26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87338" indent="-287338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38" indent="-287338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ts val="1200"/>
        </a:lnSpc>
        <a:spcBef>
          <a:spcPts val="10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00" indent="-180000" algn="l" defTabSz="914400" rtl="0" eaLnBrk="1" latinLnBrk="0" hangingPunct="1">
        <a:lnSpc>
          <a:spcPts val="1200"/>
        </a:lnSpc>
        <a:spcBef>
          <a:spcPts val="1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1" userDrawn="1">
          <p15:clr>
            <a:srgbClr val="F26B43"/>
          </p15:clr>
        </p15:guide>
        <p15:guide id="2" pos="7340" userDrawn="1">
          <p15:clr>
            <a:srgbClr val="F26B43"/>
          </p15:clr>
        </p15:guide>
        <p15:guide id="3" orient="horz" pos="284" userDrawn="1">
          <p15:clr>
            <a:srgbClr val="F26B43"/>
          </p15:clr>
        </p15:guide>
        <p15:guide id="4" orient="horz" pos="464" userDrawn="1">
          <p15:clr>
            <a:srgbClr val="F26B43"/>
          </p15:clr>
        </p15:guide>
        <p15:guide id="5" orient="horz" pos="962" userDrawn="1">
          <p15:clr>
            <a:srgbClr val="F26B43"/>
          </p15:clr>
        </p15:guide>
        <p15:guide id="6" orient="horz" pos="1139" userDrawn="1">
          <p15:clr>
            <a:srgbClr val="F26B43"/>
          </p15:clr>
        </p15:guide>
        <p15:guide id="7" orient="horz" pos="3923" userDrawn="1">
          <p15:clr>
            <a:srgbClr val="F26B43"/>
          </p15:clr>
        </p15:guide>
        <p15:guide id="8" pos="1436" userDrawn="1">
          <p15:clr>
            <a:srgbClr val="F26B43"/>
          </p15:clr>
        </p15:guide>
        <p15:guide id="9" pos="1523" userDrawn="1">
          <p15:clr>
            <a:srgbClr val="F26B43"/>
          </p15:clr>
        </p15:guide>
        <p15:guide id="10" pos="2616" userDrawn="1">
          <p15:clr>
            <a:srgbClr val="F26B43"/>
          </p15:clr>
        </p15:guide>
        <p15:guide id="11" pos="2703" userDrawn="1">
          <p15:clr>
            <a:srgbClr val="F26B43"/>
          </p15:clr>
        </p15:guide>
        <p15:guide id="12" pos="3798" userDrawn="1">
          <p15:clr>
            <a:srgbClr val="F26B43"/>
          </p15:clr>
        </p15:guide>
        <p15:guide id="13" pos="3882" userDrawn="1">
          <p15:clr>
            <a:srgbClr val="F26B43"/>
          </p15:clr>
        </p15:guide>
        <p15:guide id="14" pos="4976" userDrawn="1">
          <p15:clr>
            <a:srgbClr val="F26B43"/>
          </p15:clr>
        </p15:guide>
        <p15:guide id="15" pos="5064" userDrawn="1">
          <p15:clr>
            <a:srgbClr val="F26B43"/>
          </p15:clr>
        </p15:guide>
        <p15:guide id="16" pos="6159" userDrawn="1">
          <p15:clr>
            <a:srgbClr val="F26B43"/>
          </p15:clr>
        </p15:guide>
        <p15:guide id="17" pos="624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8B115E-CC0F-4C62-A22D-9DB38C130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2055F-B167-4DD9-A518-71648839C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338" y="1527175"/>
            <a:ext cx="11110914" cy="47005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Erste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5"/>
            <a:r>
              <a:rPr lang="en-US" dirty="0" err="1"/>
              <a:t>Sechste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6"/>
            <a:r>
              <a:rPr lang="en-US" dirty="0" err="1"/>
              <a:t>Siebte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7"/>
            <a:r>
              <a:rPr lang="en-US" dirty="0" err="1"/>
              <a:t>Achte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AE279-3346-4FA1-839D-1C6EB5540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05841" y="6598364"/>
            <a:ext cx="1136809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07BE419-7E80-4E77-8928-F379ABA106E7}" type="datetime1">
              <a:rPr lang="de-CH" smtClean="0"/>
              <a:t>26.10.2026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0E02E-6C31-4CC3-B611-AD1701A1E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9912" y="6598364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Strategieumsetzung und Projektmanagement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242A8-3DAD-4BB4-936E-C09139055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650" y="6598364"/>
            <a:ext cx="3096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01202F54-BD24-4091-80C5-A159FB9A23AA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fik 17">
            <a:extLst>
              <a:ext uri="{FF2B5EF4-FFF2-40B4-BE49-F238E27FC236}">
                <a16:creationId xmlns:a16="http://schemas.microsoft.com/office/drawing/2014/main" id="{12C9CF10-3DFE-428D-AA0E-1943F5EFA113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141" y="264212"/>
            <a:ext cx="1318375" cy="191936"/>
          </a:xfrm>
          <a:prstGeom prst="rect">
            <a:avLst/>
          </a:prstGeom>
        </p:spPr>
      </p:pic>
      <p:cxnSp>
        <p:nvCxnSpPr>
          <p:cNvPr id="19" name="Gerade Verbindung 14">
            <a:extLst>
              <a:ext uri="{FF2B5EF4-FFF2-40B4-BE49-F238E27FC236}">
                <a16:creationId xmlns:a16="http://schemas.microsoft.com/office/drawing/2014/main" id="{5E72C3A4-9E3E-4992-B7E8-1A4FB4C976A2}"/>
              </a:ext>
            </a:extLst>
          </p:cNvPr>
          <p:cNvCxnSpPr/>
          <p:nvPr userDrawn="1"/>
        </p:nvCxnSpPr>
        <p:spPr>
          <a:xfrm>
            <a:off x="541338" y="6521009"/>
            <a:ext cx="1111091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feld 13">
            <a:extLst>
              <a:ext uri="{FF2B5EF4-FFF2-40B4-BE49-F238E27FC236}">
                <a16:creationId xmlns:a16="http://schemas.microsoft.com/office/drawing/2014/main" id="{E92CCA62-F165-4D77-A55B-75526EE82D2A}"/>
              </a:ext>
            </a:extLst>
          </p:cNvPr>
          <p:cNvSpPr txBox="1"/>
          <p:nvPr userDrawn="1"/>
        </p:nvSpPr>
        <p:spPr>
          <a:xfrm>
            <a:off x="545880" y="6600125"/>
            <a:ext cx="7340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 Gruppe –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606660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hdr="0"/>
  <p:txStyles>
    <p:titleStyle>
      <a:lvl1pPr algn="l" defTabSz="914400" rtl="0" eaLnBrk="1" latinLnBrk="0" hangingPunct="1">
        <a:lnSpc>
          <a:spcPts val="33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6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87338" indent="-287338" algn="l" defTabSz="914400" rtl="0" eaLnBrk="1" latinLnBrk="0" hangingPunct="1">
        <a:lnSpc>
          <a:spcPts val="26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87338" indent="-287338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38" indent="-287338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ts val="1200"/>
        </a:lnSpc>
        <a:spcBef>
          <a:spcPts val="10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00" indent="-180000" algn="l" defTabSz="914400" rtl="0" eaLnBrk="1" latinLnBrk="0" hangingPunct="1">
        <a:lnSpc>
          <a:spcPts val="1200"/>
        </a:lnSpc>
        <a:spcBef>
          <a:spcPts val="1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1">
          <p15:clr>
            <a:srgbClr val="F26B43"/>
          </p15:clr>
        </p15:guide>
        <p15:guide id="2" pos="7340">
          <p15:clr>
            <a:srgbClr val="F26B43"/>
          </p15:clr>
        </p15:guide>
        <p15:guide id="3" orient="horz" pos="284">
          <p15:clr>
            <a:srgbClr val="F26B43"/>
          </p15:clr>
        </p15:guide>
        <p15:guide id="4" orient="horz" pos="464">
          <p15:clr>
            <a:srgbClr val="F26B43"/>
          </p15:clr>
        </p15:guide>
        <p15:guide id="5" orient="horz" pos="962">
          <p15:clr>
            <a:srgbClr val="F26B43"/>
          </p15:clr>
        </p15:guide>
        <p15:guide id="6" orient="horz" pos="1139">
          <p15:clr>
            <a:srgbClr val="F26B43"/>
          </p15:clr>
        </p15:guide>
        <p15:guide id="7" orient="horz" pos="3923">
          <p15:clr>
            <a:srgbClr val="F26B43"/>
          </p15:clr>
        </p15:guide>
        <p15:guide id="8" pos="1436">
          <p15:clr>
            <a:srgbClr val="F26B43"/>
          </p15:clr>
        </p15:guide>
        <p15:guide id="9" pos="1523">
          <p15:clr>
            <a:srgbClr val="F26B43"/>
          </p15:clr>
        </p15:guide>
        <p15:guide id="10" pos="2616">
          <p15:clr>
            <a:srgbClr val="F26B43"/>
          </p15:clr>
        </p15:guide>
        <p15:guide id="11" pos="2703">
          <p15:clr>
            <a:srgbClr val="F26B43"/>
          </p15:clr>
        </p15:guide>
        <p15:guide id="12" pos="3798">
          <p15:clr>
            <a:srgbClr val="F26B43"/>
          </p15:clr>
        </p15:guide>
        <p15:guide id="13" pos="3882">
          <p15:clr>
            <a:srgbClr val="F26B43"/>
          </p15:clr>
        </p15:guide>
        <p15:guide id="14" pos="4976">
          <p15:clr>
            <a:srgbClr val="F26B43"/>
          </p15:clr>
        </p15:guide>
        <p15:guide id="15" pos="5064">
          <p15:clr>
            <a:srgbClr val="F26B43"/>
          </p15:clr>
        </p15:guide>
        <p15:guide id="16" pos="6159">
          <p15:clr>
            <a:srgbClr val="F26B43"/>
          </p15:clr>
        </p15:guide>
        <p15:guide id="17" pos="624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image" Target="../media/image9.sv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notesSlide" Target="../notesSlides/notesSlide1.xml"/><Relationship Id="rId58" Type="http://schemas.openxmlformats.org/officeDocument/2006/relationships/image" Target="../media/image12.svg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image" Target="../media/image10.svg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image" Target="../media/image13.sv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image" Target="../media/image8.sv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image" Target="../media/image11.sv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9A873-1535-2995-4572-398F2806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8">
            <a:extLst>
              <a:ext uri="{FF2B5EF4-FFF2-40B4-BE49-F238E27FC236}">
                <a16:creationId xmlns:a16="http://schemas.microsoft.com/office/drawing/2014/main" id="{B6FCC467-8810-39B5-9A3C-6A3B4741A550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705219" y="1661288"/>
            <a:ext cx="1226897" cy="384000"/>
          </a:xfrm>
          <a:prstGeom prst="rect">
            <a:avLst/>
          </a:prstGeom>
          <a:solidFill>
            <a:schemeClr val="accent6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Mitarbeitende &amp; Kultur</a:t>
            </a:r>
          </a:p>
        </p:txBody>
      </p:sp>
      <p:sp>
        <p:nvSpPr>
          <p:cNvPr id="28" name="Rechteck 8">
            <a:extLst>
              <a:ext uri="{FF2B5EF4-FFF2-40B4-BE49-F238E27FC236}">
                <a16:creationId xmlns:a16="http://schemas.microsoft.com/office/drawing/2014/main" id="{F8066A70-3A98-A20D-416F-D8F881787564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705210" y="2108974"/>
            <a:ext cx="1226897" cy="384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Patienten-orientierung</a:t>
            </a:r>
          </a:p>
        </p:txBody>
      </p:sp>
      <p:sp>
        <p:nvSpPr>
          <p:cNvPr id="29" name="Rechteck 8">
            <a:extLst>
              <a:ext uri="{FF2B5EF4-FFF2-40B4-BE49-F238E27FC236}">
                <a16:creationId xmlns:a16="http://schemas.microsoft.com/office/drawing/2014/main" id="{C0833211-B040-F45B-58A9-5421FFDE5FB8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705210" y="2546470"/>
            <a:ext cx="1226897" cy="38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Medizin der Zukunft</a:t>
            </a:r>
          </a:p>
        </p:txBody>
      </p:sp>
      <p:sp>
        <p:nvSpPr>
          <p:cNvPr id="30" name="Rechteck 8">
            <a:extLst>
              <a:ext uri="{FF2B5EF4-FFF2-40B4-BE49-F238E27FC236}">
                <a16:creationId xmlns:a16="http://schemas.microsoft.com/office/drawing/2014/main" id="{1F408434-56B4-6384-542B-15766A0EC813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708484" y="2991455"/>
            <a:ext cx="1226897" cy="384000"/>
          </a:xfrm>
          <a:prstGeom prst="rect">
            <a:avLst/>
          </a:prstGeom>
          <a:solidFill>
            <a:schemeClr val="accent4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Markt &amp; Vernetzung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35269E71-5996-D9A5-F65D-935D7222203B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705221" y="1142568"/>
            <a:ext cx="1226897" cy="508828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67" b="1" dirty="0">
                <a:solidFill>
                  <a:schemeClr val="accent5"/>
                </a:solidFill>
              </a:rPr>
              <a:t>Strategische Handlungs-felder</a:t>
            </a:r>
          </a:p>
        </p:txBody>
      </p:sp>
      <p:sp>
        <p:nvSpPr>
          <p:cNvPr id="3" name="Rechteck 8">
            <a:extLst>
              <a:ext uri="{FF2B5EF4-FFF2-40B4-BE49-F238E27FC236}">
                <a16:creationId xmlns:a16="http://schemas.microsoft.com/office/drawing/2014/main" id="{BEBF38F1-D9D4-5C27-06E8-25C85214037B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699057" y="3436090"/>
            <a:ext cx="1226897" cy="384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Wirtschaftlichkeit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A00446F-DE58-80B2-25A7-F747E14F7CC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378155" y="1142568"/>
            <a:ext cx="1226897" cy="26775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67" b="1" dirty="0">
                <a:solidFill>
                  <a:schemeClr val="accent5"/>
                </a:solidFill>
              </a:rPr>
              <a:t>Strategie 2035</a:t>
            </a:r>
          </a:p>
          <a:p>
            <a:pPr algn="ctr" eaLnBrk="0" hangingPunct="0">
              <a:spcAft>
                <a:spcPct val="0"/>
              </a:spcAft>
            </a:pPr>
            <a:r>
              <a:rPr lang="de-CH" sz="1067" b="1" dirty="0">
                <a:solidFill>
                  <a:schemeClr val="accent5"/>
                </a:solidFill>
              </a:rPr>
              <a:t>Insel Gruppe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B7D0F6B-8AF0-DA85-91C1-71F7E771D0A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705215" y="1650838"/>
            <a:ext cx="1226897" cy="2169252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endParaRPr lang="de-CH" sz="1067" dirty="0">
              <a:solidFill>
                <a:schemeClr val="accent5"/>
              </a:solidFill>
            </a:endParaRPr>
          </a:p>
        </p:txBody>
      </p:sp>
      <p:sp>
        <p:nvSpPr>
          <p:cNvPr id="32" name="Rechteck 8">
            <a:extLst>
              <a:ext uri="{FF2B5EF4-FFF2-40B4-BE49-F238E27FC236}">
                <a16:creationId xmlns:a16="http://schemas.microsoft.com/office/drawing/2014/main" id="{AAE858EE-37CA-8E08-DDA0-4C3DB8DB69AC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3032263" y="1661288"/>
            <a:ext cx="1226897" cy="384000"/>
          </a:xfrm>
          <a:prstGeom prst="rect">
            <a:avLst/>
          </a:prstGeom>
          <a:solidFill>
            <a:schemeClr val="accent6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Ziel 1.1</a:t>
            </a:r>
            <a:br>
              <a:rPr lang="de-DE" sz="1067" dirty="0"/>
            </a:br>
            <a:r>
              <a:rPr lang="de-DE" sz="1067" dirty="0"/>
              <a:t>Ziel 1.2</a:t>
            </a:r>
          </a:p>
        </p:txBody>
      </p:sp>
      <p:sp>
        <p:nvSpPr>
          <p:cNvPr id="33" name="Rechteck 8">
            <a:extLst>
              <a:ext uri="{FF2B5EF4-FFF2-40B4-BE49-F238E27FC236}">
                <a16:creationId xmlns:a16="http://schemas.microsoft.com/office/drawing/2014/main" id="{4C5322E1-E571-CDCC-9C66-850BFFE54BF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3032254" y="2108974"/>
            <a:ext cx="1226897" cy="384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Ziel 2.1</a:t>
            </a:r>
            <a:br>
              <a:rPr lang="de-DE" sz="1067" dirty="0"/>
            </a:br>
            <a:r>
              <a:rPr lang="de-DE" sz="1067" dirty="0"/>
              <a:t>Ziel 2.2</a:t>
            </a:r>
          </a:p>
        </p:txBody>
      </p:sp>
      <p:sp>
        <p:nvSpPr>
          <p:cNvPr id="34" name="Rechteck 8">
            <a:extLst>
              <a:ext uri="{FF2B5EF4-FFF2-40B4-BE49-F238E27FC236}">
                <a16:creationId xmlns:a16="http://schemas.microsoft.com/office/drawing/2014/main" id="{AA41CD4A-78FE-B5CB-A45A-D119CD8F8D14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3032254" y="2546470"/>
            <a:ext cx="1226897" cy="38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Ziel 3.1</a:t>
            </a:r>
            <a:br>
              <a:rPr lang="de-DE" sz="1067" dirty="0"/>
            </a:br>
            <a:r>
              <a:rPr lang="de-DE" sz="1067" dirty="0"/>
              <a:t>Ziel 3.2</a:t>
            </a:r>
          </a:p>
        </p:txBody>
      </p:sp>
      <p:sp>
        <p:nvSpPr>
          <p:cNvPr id="35" name="Rechteck 8">
            <a:extLst>
              <a:ext uri="{FF2B5EF4-FFF2-40B4-BE49-F238E27FC236}">
                <a16:creationId xmlns:a16="http://schemas.microsoft.com/office/drawing/2014/main" id="{70725578-395B-1BD9-05E8-E3A2336D7F5A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026101" y="2991455"/>
            <a:ext cx="1226897" cy="384000"/>
          </a:xfrm>
          <a:prstGeom prst="rect">
            <a:avLst/>
          </a:prstGeom>
          <a:solidFill>
            <a:schemeClr val="accent4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Ziel 4.1</a:t>
            </a:r>
            <a:br>
              <a:rPr lang="de-DE" sz="1067" dirty="0"/>
            </a:br>
            <a:r>
              <a:rPr lang="de-DE" sz="1067" dirty="0"/>
              <a:t>Ziel 4.2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5E885662-9528-A1D5-C8F7-7C15757E455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3032265" y="1142568"/>
            <a:ext cx="1226897" cy="508828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67" b="1" dirty="0">
                <a:solidFill>
                  <a:schemeClr val="accent6">
                    <a:lumMod val="50000"/>
                  </a:schemeClr>
                </a:solidFill>
              </a:rPr>
              <a:t>3-5 Jahresziele</a:t>
            </a:r>
          </a:p>
        </p:txBody>
      </p:sp>
      <p:sp>
        <p:nvSpPr>
          <p:cNvPr id="41" name="Rechteck 8">
            <a:extLst>
              <a:ext uri="{FF2B5EF4-FFF2-40B4-BE49-F238E27FC236}">
                <a16:creationId xmlns:a16="http://schemas.microsoft.com/office/drawing/2014/main" id="{27BBE188-6532-401F-55ED-D668FB5B9CF8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026101" y="3436090"/>
            <a:ext cx="1226897" cy="384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Ziel 5.1</a:t>
            </a:r>
            <a:br>
              <a:rPr lang="de-DE" sz="1067" dirty="0"/>
            </a:br>
            <a:r>
              <a:rPr lang="de-DE" sz="1067" dirty="0"/>
              <a:t>Ziel 5.2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D6A3313-0524-5ECC-5E8E-800C42F80572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3032259" y="1650838"/>
            <a:ext cx="1226897" cy="2169252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endParaRPr lang="de-CH" sz="1067" dirty="0">
              <a:solidFill>
                <a:schemeClr val="accent5"/>
              </a:solidFill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BB9FD1CA-EFE2-FF2F-4BD9-9166A5EBF9E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 rot="16200000">
            <a:off x="3049445" y="2358432"/>
            <a:ext cx="2677523" cy="245791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67" dirty="0">
                <a:solidFill>
                  <a:schemeClr val="accent6">
                    <a:lumMod val="50000"/>
                  </a:schemeClr>
                </a:solidFill>
              </a:rPr>
              <a:t>Metrik zur Messung der taktischen Ziele</a:t>
            </a:r>
          </a:p>
        </p:txBody>
      </p:sp>
      <p:sp>
        <p:nvSpPr>
          <p:cNvPr id="51" name="Rechteck 8">
            <a:extLst>
              <a:ext uri="{FF2B5EF4-FFF2-40B4-BE49-F238E27FC236}">
                <a16:creationId xmlns:a16="http://schemas.microsoft.com/office/drawing/2014/main" id="{BEE06695-3B5E-8682-FF50-10F9CFAD8B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4606346" y="1672934"/>
            <a:ext cx="1226897" cy="384000"/>
          </a:xfrm>
          <a:prstGeom prst="rect">
            <a:avLst/>
          </a:prstGeom>
          <a:solidFill>
            <a:schemeClr val="accent6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Jahresziel 1.1</a:t>
            </a:r>
            <a:br>
              <a:rPr lang="de-DE" sz="1067" dirty="0"/>
            </a:br>
            <a:r>
              <a:rPr lang="de-DE" sz="1067" dirty="0"/>
              <a:t>Jahresziel 1.2</a:t>
            </a:r>
          </a:p>
        </p:txBody>
      </p:sp>
      <p:sp>
        <p:nvSpPr>
          <p:cNvPr id="52" name="Rechteck 8">
            <a:extLst>
              <a:ext uri="{FF2B5EF4-FFF2-40B4-BE49-F238E27FC236}">
                <a16:creationId xmlns:a16="http://schemas.microsoft.com/office/drawing/2014/main" id="{B92A9F6B-A514-8CC5-5567-576BAF3D9770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4606337" y="2120619"/>
            <a:ext cx="1226897" cy="384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Jahresziel 2.1</a:t>
            </a:r>
            <a:br>
              <a:rPr lang="de-DE" sz="1067" dirty="0"/>
            </a:br>
            <a:r>
              <a:rPr lang="de-DE" sz="1067" dirty="0"/>
              <a:t>Jahresziel 2.2</a:t>
            </a:r>
          </a:p>
        </p:txBody>
      </p:sp>
      <p:sp>
        <p:nvSpPr>
          <p:cNvPr id="53" name="Rechteck 8">
            <a:extLst>
              <a:ext uri="{FF2B5EF4-FFF2-40B4-BE49-F238E27FC236}">
                <a16:creationId xmlns:a16="http://schemas.microsoft.com/office/drawing/2014/main" id="{CFF62C98-6011-453B-3469-993317ED8EF6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4606337" y="2558115"/>
            <a:ext cx="1226897" cy="38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Jahresziel 3.1</a:t>
            </a:r>
            <a:br>
              <a:rPr lang="de-DE" sz="1067" dirty="0"/>
            </a:br>
            <a:r>
              <a:rPr lang="de-DE" sz="1067" dirty="0"/>
              <a:t>Jahresziel 3.2</a:t>
            </a:r>
          </a:p>
        </p:txBody>
      </p:sp>
      <p:sp>
        <p:nvSpPr>
          <p:cNvPr id="54" name="Rechteck 8">
            <a:extLst>
              <a:ext uri="{FF2B5EF4-FFF2-40B4-BE49-F238E27FC236}">
                <a16:creationId xmlns:a16="http://schemas.microsoft.com/office/drawing/2014/main" id="{2887B3F8-6128-16ED-13CB-41B941F9CAAF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4600183" y="3003100"/>
            <a:ext cx="1226897" cy="384000"/>
          </a:xfrm>
          <a:prstGeom prst="rect">
            <a:avLst/>
          </a:prstGeom>
          <a:solidFill>
            <a:schemeClr val="accent4">
              <a:lumMod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Jahresziel 4.1</a:t>
            </a:r>
            <a:br>
              <a:rPr lang="de-DE" sz="1067" dirty="0"/>
            </a:br>
            <a:r>
              <a:rPr lang="de-DE" sz="1067" dirty="0"/>
              <a:t>Jahresziel 4.2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B7541814-B32B-AEDB-C2D1-8C6DA7D6A949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606347" y="1154213"/>
            <a:ext cx="1226897" cy="508828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67" b="1" dirty="0">
                <a:solidFill>
                  <a:schemeClr val="accent6">
                    <a:lumMod val="50000"/>
                  </a:schemeClr>
                </a:solidFill>
              </a:rPr>
              <a:t>Jahresziele</a:t>
            </a:r>
          </a:p>
        </p:txBody>
      </p:sp>
      <p:sp>
        <p:nvSpPr>
          <p:cNvPr id="56" name="Rechteck 8">
            <a:extLst>
              <a:ext uri="{FF2B5EF4-FFF2-40B4-BE49-F238E27FC236}">
                <a16:creationId xmlns:a16="http://schemas.microsoft.com/office/drawing/2014/main" id="{6F5E6579-61CE-B04C-57AF-4D08CB7CD2D6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4600183" y="3447735"/>
            <a:ext cx="1226897" cy="384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Jahresziel 5.1</a:t>
            </a:r>
            <a:br>
              <a:rPr lang="de-DE" sz="1067" dirty="0"/>
            </a:br>
            <a:r>
              <a:rPr lang="de-DE" sz="1067" dirty="0"/>
              <a:t>Jahresziel 5.2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0E55A4E4-493D-C573-6A09-30192E00FC9F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4606342" y="1662484"/>
            <a:ext cx="1226897" cy="2169252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endParaRPr lang="de-CH" sz="1067" dirty="0">
              <a:solidFill>
                <a:schemeClr val="accent5"/>
              </a:solidFill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4BBF0852-5AEC-7D97-7EB6-B6E3F99DF37E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 rot="16200000">
            <a:off x="4616602" y="2370078"/>
            <a:ext cx="2677521" cy="245791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67" dirty="0">
                <a:solidFill>
                  <a:schemeClr val="accent6">
                    <a:lumMod val="50000"/>
                  </a:schemeClr>
                </a:solidFill>
              </a:rPr>
              <a:t>Metrik zur Messung der Jahresziele</a:t>
            </a:r>
          </a:p>
        </p:txBody>
      </p:sp>
      <p:sp>
        <p:nvSpPr>
          <p:cNvPr id="59" name="Rechteck 8">
            <a:extLst>
              <a:ext uri="{FF2B5EF4-FFF2-40B4-BE49-F238E27FC236}">
                <a16:creationId xmlns:a16="http://schemas.microsoft.com/office/drawing/2014/main" id="{B923324B-7431-2E7D-5708-B9CF3C1CD916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7755689" y="1666007"/>
            <a:ext cx="1296000" cy="2518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49528" rIns="36000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1. Projekt A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9BB5ABE0-A36C-8F3A-4B92-6B180C1E26F5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 rot="16200000">
            <a:off x="9433454" y="1925267"/>
            <a:ext cx="1787904" cy="245791"/>
          </a:xfrm>
          <a:prstGeom prst="rect">
            <a:avLst/>
          </a:prstGeom>
          <a:noFill/>
          <a:ln w="9525">
            <a:solidFill>
              <a:schemeClr val="accent3"/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67" dirty="0">
                <a:solidFill>
                  <a:schemeClr val="accent3"/>
                </a:solidFill>
              </a:rPr>
              <a:t>Steuerung GL</a:t>
            </a:r>
          </a:p>
        </p:txBody>
      </p:sp>
      <p:sp>
        <p:nvSpPr>
          <p:cNvPr id="81" name="Rechteck 8">
            <a:extLst>
              <a:ext uri="{FF2B5EF4-FFF2-40B4-BE49-F238E27FC236}">
                <a16:creationId xmlns:a16="http://schemas.microsoft.com/office/drawing/2014/main" id="{37C4CA46-2B64-A9A0-4BC8-5ECE19405B75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7754913" y="1986074"/>
            <a:ext cx="1296000" cy="2518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49528" rIns="36000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2. Projekt B</a:t>
            </a:r>
          </a:p>
        </p:txBody>
      </p:sp>
      <p:sp>
        <p:nvSpPr>
          <p:cNvPr id="82" name="Rechteck 8">
            <a:extLst>
              <a:ext uri="{FF2B5EF4-FFF2-40B4-BE49-F238E27FC236}">
                <a16:creationId xmlns:a16="http://schemas.microsoft.com/office/drawing/2014/main" id="{0B6252F7-0C5E-9D8D-17F9-8726989B6949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7754527" y="2303292"/>
            <a:ext cx="1296000" cy="2518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49528" rIns="36000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3. Projekt C</a:t>
            </a:r>
          </a:p>
        </p:txBody>
      </p:sp>
      <p:sp>
        <p:nvSpPr>
          <p:cNvPr id="86" name="Rechteck 8">
            <a:extLst>
              <a:ext uri="{FF2B5EF4-FFF2-40B4-BE49-F238E27FC236}">
                <a16:creationId xmlns:a16="http://schemas.microsoft.com/office/drawing/2014/main" id="{7B62B4B0-38E0-01A6-1D34-B96FC49A511A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7748649" y="2621234"/>
            <a:ext cx="1296000" cy="2518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36000" tIns="49528" rIns="36000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…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BDB954B2-6797-86C1-93CE-FF19CFF7B1D4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749990" y="1154213"/>
            <a:ext cx="1296939" cy="508828"/>
          </a:xfrm>
          <a:prstGeom prst="rect">
            <a:avLst/>
          </a:prstGeom>
          <a:noFill/>
          <a:ln w="9525">
            <a:solidFill>
              <a:schemeClr val="accent3"/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67" b="1" dirty="0">
                <a:solidFill>
                  <a:schemeClr val="accent3"/>
                </a:solidFill>
              </a:rPr>
              <a:t>Strategische Projekte Insel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00B1314B-318C-9EC1-1531-A8EC270133B9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7749984" y="1662484"/>
            <a:ext cx="1296939" cy="1290729"/>
          </a:xfrm>
          <a:prstGeom prst="rect">
            <a:avLst/>
          </a:prstGeom>
          <a:noFill/>
          <a:ln w="9525">
            <a:solidFill>
              <a:schemeClr val="accent3"/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endParaRPr lang="de-CH" sz="1067" dirty="0">
              <a:solidFill>
                <a:schemeClr val="accent5"/>
              </a:solidFill>
            </a:endParaRPr>
          </a:p>
        </p:txBody>
      </p:sp>
      <p:sp>
        <p:nvSpPr>
          <p:cNvPr id="87" name="Rechteck 8">
            <a:extLst>
              <a:ext uri="{FF2B5EF4-FFF2-40B4-BE49-F238E27FC236}">
                <a16:creationId xmlns:a16="http://schemas.microsoft.com/office/drawing/2014/main" id="{4FFB64C5-D8BD-F7CC-A82B-CE078069A931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7823860" y="3731815"/>
            <a:ext cx="1226897" cy="25189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1. Projekt A</a:t>
            </a: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C81E3929-766B-26F3-0B9C-61998006F323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 rot="16200000">
            <a:off x="9448254" y="3998815"/>
            <a:ext cx="1803388" cy="245791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67" dirty="0">
                <a:solidFill>
                  <a:schemeClr val="tx2"/>
                </a:solidFill>
              </a:rPr>
              <a:t>Steuerung GL</a:t>
            </a:r>
          </a:p>
        </p:txBody>
      </p:sp>
      <p:sp>
        <p:nvSpPr>
          <p:cNvPr id="89" name="Rechteck 8">
            <a:extLst>
              <a:ext uri="{FF2B5EF4-FFF2-40B4-BE49-F238E27FC236}">
                <a16:creationId xmlns:a16="http://schemas.microsoft.com/office/drawing/2014/main" id="{39E5874A-38BE-9F9C-4743-F64E33B6E1CB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7823084" y="4051881"/>
            <a:ext cx="1226897" cy="25189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2. Projekt B</a:t>
            </a:r>
          </a:p>
        </p:txBody>
      </p:sp>
      <p:sp>
        <p:nvSpPr>
          <p:cNvPr id="91" name="Rechteck 8">
            <a:extLst>
              <a:ext uri="{FF2B5EF4-FFF2-40B4-BE49-F238E27FC236}">
                <a16:creationId xmlns:a16="http://schemas.microsoft.com/office/drawing/2014/main" id="{75D66070-09DD-A10A-8BB6-C6170AF54948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7829006" y="4694042"/>
            <a:ext cx="1226897" cy="25189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…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69DE4C24-5918-5D0F-0C0E-C457714AB87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7823862" y="3220021"/>
            <a:ext cx="1226897" cy="508828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00" b="1" dirty="0">
                <a:solidFill>
                  <a:schemeClr val="tx2"/>
                </a:solidFill>
              </a:rPr>
              <a:t>Projekte der Geschäftsleitung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AF5835BD-EA19-1264-8605-170A86EDF60C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7823856" y="3728294"/>
            <a:ext cx="1226897" cy="128863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endParaRPr lang="de-CH" sz="1067" dirty="0">
              <a:solidFill>
                <a:schemeClr val="accent5"/>
              </a:solidFill>
            </a:endParaRPr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F13621E2-BCD9-1916-699A-0149ECF61CE5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 rot="16200000">
            <a:off x="6111331" y="1895050"/>
            <a:ext cx="1805673" cy="324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50" b="1" dirty="0">
                <a:solidFill>
                  <a:schemeClr val="bg1"/>
                </a:solidFill>
              </a:rPr>
              <a:t>Strategisches Portfolio </a:t>
            </a:r>
            <a:br>
              <a:rPr lang="de-CH" sz="1050" b="1" dirty="0">
                <a:solidFill>
                  <a:schemeClr val="bg1"/>
                </a:solidFill>
              </a:rPr>
            </a:br>
            <a:r>
              <a:rPr lang="de-CH" sz="1050" b="1" dirty="0">
                <a:solidFill>
                  <a:schemeClr val="bg1"/>
                </a:solidFill>
              </a:rPr>
              <a:t>Insel Gruppe</a:t>
            </a:r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9946191A-367F-506A-1EC4-22D990687276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 rot="16200000">
            <a:off x="6279178" y="3787480"/>
            <a:ext cx="1464456" cy="32952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100" b="1" dirty="0">
                <a:solidFill>
                  <a:schemeClr val="bg1"/>
                </a:solidFill>
              </a:rPr>
              <a:t>Portfolio Geschäftsleitung</a:t>
            </a:r>
          </a:p>
        </p:txBody>
      </p:sp>
      <p:sp>
        <p:nvSpPr>
          <p:cNvPr id="113" name="Raute 112">
            <a:extLst>
              <a:ext uri="{FF2B5EF4-FFF2-40B4-BE49-F238E27FC236}">
                <a16:creationId xmlns:a16="http://schemas.microsoft.com/office/drawing/2014/main" id="{5789C8B7-DE9E-B1D2-25C1-9FD368AC9117}"/>
              </a:ext>
            </a:extLst>
          </p:cNvPr>
          <p:cNvSpPr/>
          <p:nvPr/>
        </p:nvSpPr>
        <p:spPr>
          <a:xfrm>
            <a:off x="6170979" y="1787496"/>
            <a:ext cx="547139" cy="551576"/>
          </a:xfrm>
          <a:prstGeom prst="diamon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dirty="0"/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BF4F22D8-869A-F2C9-A392-C7C9F2907D75}"/>
              </a:ext>
            </a:extLst>
          </p:cNvPr>
          <p:cNvSpPr txBox="1"/>
          <p:nvPr/>
        </p:nvSpPr>
        <p:spPr>
          <a:xfrm>
            <a:off x="5969281" y="1382704"/>
            <a:ext cx="997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/>
              <a:t>Kriterien</a:t>
            </a:r>
          </a:p>
          <a:p>
            <a:pPr algn="ctr"/>
            <a:r>
              <a:rPr lang="de-CH" sz="1100" b="1" dirty="0"/>
              <a:t>Raster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FFF169C5-1335-1E8C-5105-9CC490036EEA}"/>
              </a:ext>
            </a:extLst>
          </p:cNvPr>
          <p:cNvCxnSpPr>
            <a:cxnSpLocks/>
            <a:stCxn id="113" idx="3"/>
            <a:endCxn id="111" idx="0"/>
          </p:cNvCxnSpPr>
          <p:nvPr/>
        </p:nvCxnSpPr>
        <p:spPr>
          <a:xfrm flipV="1">
            <a:off x="6718118" y="2057050"/>
            <a:ext cx="134050" cy="6234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hteck 129">
            <a:extLst>
              <a:ext uri="{FF2B5EF4-FFF2-40B4-BE49-F238E27FC236}">
                <a16:creationId xmlns:a16="http://schemas.microsoft.com/office/drawing/2014/main" id="{30931613-3FFE-4843-7F0E-D97B4D763324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385216" y="1154210"/>
            <a:ext cx="712800" cy="496625"/>
          </a:xfrm>
          <a:prstGeom prst="rect">
            <a:avLst/>
          </a:prstGeom>
          <a:noFill/>
          <a:ln w="9525">
            <a:solidFill>
              <a:schemeClr val="accent3"/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endParaRPr lang="de-CH" sz="800" dirty="0">
              <a:solidFill>
                <a:schemeClr val="accent3"/>
              </a:solidFill>
            </a:endParaRPr>
          </a:p>
        </p:txBody>
      </p:sp>
      <p:cxnSp>
        <p:nvCxnSpPr>
          <p:cNvPr id="137" name="Gerader Verbinder 136">
            <a:extLst>
              <a:ext uri="{FF2B5EF4-FFF2-40B4-BE49-F238E27FC236}">
                <a16:creationId xmlns:a16="http://schemas.microsoft.com/office/drawing/2014/main" id="{B03F334A-F5B9-CD96-959D-0B275A1D20BE}"/>
              </a:ext>
            </a:extLst>
          </p:cNvPr>
          <p:cNvCxnSpPr>
            <a:cxnSpLocks/>
          </p:cNvCxnSpPr>
          <p:nvPr/>
        </p:nvCxnSpPr>
        <p:spPr>
          <a:xfrm>
            <a:off x="9533681" y="1651556"/>
            <a:ext cx="0" cy="1308142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FC19F209-2F57-5939-0866-BDC42862B292}"/>
              </a:ext>
            </a:extLst>
          </p:cNvPr>
          <p:cNvCxnSpPr>
            <a:cxnSpLocks/>
          </p:cNvCxnSpPr>
          <p:nvPr/>
        </p:nvCxnSpPr>
        <p:spPr>
          <a:xfrm>
            <a:off x="9679153" y="1651556"/>
            <a:ext cx="0" cy="130680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r Verbinder 138">
            <a:extLst>
              <a:ext uri="{FF2B5EF4-FFF2-40B4-BE49-F238E27FC236}">
                <a16:creationId xmlns:a16="http://schemas.microsoft.com/office/drawing/2014/main" id="{6A9141D9-7876-83F2-9362-43D44B329179}"/>
              </a:ext>
            </a:extLst>
          </p:cNvPr>
          <p:cNvCxnSpPr>
            <a:cxnSpLocks/>
          </p:cNvCxnSpPr>
          <p:nvPr/>
        </p:nvCxnSpPr>
        <p:spPr>
          <a:xfrm>
            <a:off x="9817698" y="1651556"/>
            <a:ext cx="0" cy="1308142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r Verbinder 139">
            <a:extLst>
              <a:ext uri="{FF2B5EF4-FFF2-40B4-BE49-F238E27FC236}">
                <a16:creationId xmlns:a16="http://schemas.microsoft.com/office/drawing/2014/main" id="{2CFB21DD-DFAC-3DF8-1CEB-C9DD12173084}"/>
              </a:ext>
            </a:extLst>
          </p:cNvPr>
          <p:cNvCxnSpPr>
            <a:cxnSpLocks/>
          </p:cNvCxnSpPr>
          <p:nvPr/>
        </p:nvCxnSpPr>
        <p:spPr>
          <a:xfrm>
            <a:off x="9956244" y="1651556"/>
            <a:ext cx="0" cy="1297043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hteck 141">
            <a:extLst>
              <a:ext uri="{FF2B5EF4-FFF2-40B4-BE49-F238E27FC236}">
                <a16:creationId xmlns:a16="http://schemas.microsoft.com/office/drawing/2014/main" id="{B57E317D-C953-26A4-402A-696592279880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9392828" y="1651997"/>
            <a:ext cx="695036" cy="1296601"/>
          </a:xfrm>
          <a:prstGeom prst="rect">
            <a:avLst/>
          </a:prstGeom>
          <a:noFill/>
          <a:ln w="9525">
            <a:solidFill>
              <a:schemeClr val="accent3"/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endParaRPr lang="de-CH" sz="800" dirty="0">
              <a:solidFill>
                <a:schemeClr val="accent3"/>
              </a:solidFill>
            </a:endParaRP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F8303C45-AE77-2C4D-280D-9B6365FA45AB}"/>
              </a:ext>
            </a:extLst>
          </p:cNvPr>
          <p:cNvSpPr/>
          <p:nvPr/>
        </p:nvSpPr>
        <p:spPr>
          <a:xfrm>
            <a:off x="9420796" y="1760662"/>
            <a:ext cx="82659" cy="8265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C1E74A4D-A298-FFEE-F780-AAF027A91D48}"/>
              </a:ext>
            </a:extLst>
          </p:cNvPr>
          <p:cNvSpPr/>
          <p:nvPr/>
        </p:nvSpPr>
        <p:spPr>
          <a:xfrm>
            <a:off x="9558962" y="2079289"/>
            <a:ext cx="82659" cy="8265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15234794-EC80-1505-ECD7-B9A55158E778}"/>
              </a:ext>
            </a:extLst>
          </p:cNvPr>
          <p:cNvSpPr/>
          <p:nvPr/>
        </p:nvSpPr>
        <p:spPr>
          <a:xfrm>
            <a:off x="9705689" y="2386584"/>
            <a:ext cx="82659" cy="8265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B5EA3302-0628-F220-F9E2-915FAF6D110E}"/>
              </a:ext>
            </a:extLst>
          </p:cNvPr>
          <p:cNvSpPr/>
          <p:nvPr/>
        </p:nvSpPr>
        <p:spPr>
          <a:xfrm>
            <a:off x="9847826" y="2081497"/>
            <a:ext cx="82659" cy="8265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52" name="Ellipse 151">
            <a:extLst>
              <a:ext uri="{FF2B5EF4-FFF2-40B4-BE49-F238E27FC236}">
                <a16:creationId xmlns:a16="http://schemas.microsoft.com/office/drawing/2014/main" id="{7FDEE1A6-4BBF-D273-BACE-C84DF5065129}"/>
              </a:ext>
            </a:extLst>
          </p:cNvPr>
          <p:cNvSpPr/>
          <p:nvPr/>
        </p:nvSpPr>
        <p:spPr>
          <a:xfrm>
            <a:off x="9706019" y="2083674"/>
            <a:ext cx="82659" cy="8265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55" name="Rechteck 154">
            <a:extLst>
              <a:ext uri="{FF2B5EF4-FFF2-40B4-BE49-F238E27FC236}">
                <a16:creationId xmlns:a16="http://schemas.microsoft.com/office/drawing/2014/main" id="{B21E6126-1801-B6C4-5DAE-43B7B39FFAFA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 rot="16200000">
            <a:off x="8271655" y="1930817"/>
            <a:ext cx="1799001" cy="245791"/>
          </a:xfrm>
          <a:prstGeom prst="rect">
            <a:avLst/>
          </a:prstGeom>
          <a:noFill/>
          <a:ln w="9525">
            <a:solidFill>
              <a:schemeClr val="accent3"/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67" dirty="0">
                <a:solidFill>
                  <a:schemeClr val="accent3"/>
                </a:solidFill>
              </a:rPr>
              <a:t>Metriken &amp; KPIs</a:t>
            </a:r>
          </a:p>
        </p:txBody>
      </p:sp>
      <p:sp>
        <p:nvSpPr>
          <p:cNvPr id="156" name="Rechteck 155">
            <a:extLst>
              <a:ext uri="{FF2B5EF4-FFF2-40B4-BE49-F238E27FC236}">
                <a16:creationId xmlns:a16="http://schemas.microsoft.com/office/drawing/2014/main" id="{B4AB14B8-4268-C20D-03D1-BC2C3A1AE040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 rot="16200000">
            <a:off x="8276531" y="3995571"/>
            <a:ext cx="1796907" cy="245791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067" dirty="0">
                <a:solidFill>
                  <a:schemeClr val="tx2"/>
                </a:solidFill>
              </a:rPr>
              <a:t>Metriken &amp; KPIs</a:t>
            </a:r>
          </a:p>
        </p:txBody>
      </p:sp>
      <p:sp>
        <p:nvSpPr>
          <p:cNvPr id="157" name="Pfeil: Fünfeck 156">
            <a:extLst>
              <a:ext uri="{FF2B5EF4-FFF2-40B4-BE49-F238E27FC236}">
                <a16:creationId xmlns:a16="http://schemas.microsoft.com/office/drawing/2014/main" id="{D12C45A1-3645-C6E2-21E0-5678910F5AFE}"/>
              </a:ext>
            </a:extLst>
          </p:cNvPr>
          <p:cNvSpPr/>
          <p:nvPr/>
        </p:nvSpPr>
        <p:spPr>
          <a:xfrm>
            <a:off x="7274929" y="1142567"/>
            <a:ext cx="433748" cy="1805672"/>
          </a:xfrm>
          <a:prstGeom prst="homePlate">
            <a:avLst/>
          </a:prstGeom>
          <a:solidFill>
            <a:srgbClr val="6CA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dirty="0"/>
          </a:p>
        </p:txBody>
      </p:sp>
      <p:sp>
        <p:nvSpPr>
          <p:cNvPr id="158" name="Textfeld 157">
            <a:extLst>
              <a:ext uri="{FF2B5EF4-FFF2-40B4-BE49-F238E27FC236}">
                <a16:creationId xmlns:a16="http://schemas.microsoft.com/office/drawing/2014/main" id="{6F1265FF-3997-D430-A783-3D0BFD9964C7}"/>
              </a:ext>
            </a:extLst>
          </p:cNvPr>
          <p:cNvSpPr txBox="1"/>
          <p:nvPr/>
        </p:nvSpPr>
        <p:spPr>
          <a:xfrm rot="16200000">
            <a:off x="6526778" y="1924767"/>
            <a:ext cx="179766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067" b="1" dirty="0">
                <a:solidFill>
                  <a:schemeClr val="bg1"/>
                </a:solidFill>
              </a:rPr>
              <a:t>Priorisierung</a:t>
            </a:r>
          </a:p>
        </p:txBody>
      </p:sp>
      <p:sp>
        <p:nvSpPr>
          <p:cNvPr id="159" name="Pfeil: Fünfeck 158">
            <a:extLst>
              <a:ext uri="{FF2B5EF4-FFF2-40B4-BE49-F238E27FC236}">
                <a16:creationId xmlns:a16="http://schemas.microsoft.com/office/drawing/2014/main" id="{C84BE510-7DA6-2BE7-4BE9-3D5A1F00695C}"/>
              </a:ext>
            </a:extLst>
          </p:cNvPr>
          <p:cNvSpPr/>
          <p:nvPr/>
        </p:nvSpPr>
        <p:spPr>
          <a:xfrm>
            <a:off x="7298214" y="3220016"/>
            <a:ext cx="433748" cy="1464458"/>
          </a:xfrm>
          <a:prstGeom prst="homePlat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dirty="0"/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DE16C5B7-88E2-9872-564F-E73B9AC19F96}"/>
              </a:ext>
            </a:extLst>
          </p:cNvPr>
          <p:cNvSpPr txBox="1"/>
          <p:nvPr/>
        </p:nvSpPr>
        <p:spPr>
          <a:xfrm rot="16200000">
            <a:off x="6784125" y="3823970"/>
            <a:ext cx="133652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067" b="1" dirty="0">
                <a:solidFill>
                  <a:schemeClr val="bg1"/>
                </a:solidFill>
              </a:rPr>
              <a:t>Priorisierung</a:t>
            </a:r>
          </a:p>
        </p:txBody>
      </p:sp>
      <p:sp>
        <p:nvSpPr>
          <p:cNvPr id="161" name="Rechteck 160">
            <a:extLst>
              <a:ext uri="{FF2B5EF4-FFF2-40B4-BE49-F238E27FC236}">
                <a16:creationId xmlns:a16="http://schemas.microsoft.com/office/drawing/2014/main" id="{AA1D1085-54F1-5088-587D-50B6A63E0DAF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6852167" y="655030"/>
            <a:ext cx="5060280" cy="287259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200" b="1" dirty="0">
                <a:solidFill>
                  <a:schemeClr val="bg1"/>
                </a:solidFill>
              </a:rPr>
              <a:t>Transformationsprogramm</a:t>
            </a:r>
          </a:p>
        </p:txBody>
      </p:sp>
      <p:sp>
        <p:nvSpPr>
          <p:cNvPr id="162" name="Pfeil: Fünfeck 161">
            <a:extLst>
              <a:ext uri="{FF2B5EF4-FFF2-40B4-BE49-F238E27FC236}">
                <a16:creationId xmlns:a16="http://schemas.microsoft.com/office/drawing/2014/main" id="{0678EB96-1973-F129-E60C-55675DAF0E35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3025884" y="651318"/>
            <a:ext cx="3052373" cy="287259"/>
          </a:xfrm>
          <a:prstGeom prst="homePlate">
            <a:avLst>
              <a:gd name="adj" fmla="val 36873"/>
            </a:avLst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200" b="1" dirty="0"/>
              <a:t>Ziele Prozess</a:t>
            </a:r>
          </a:p>
        </p:txBody>
      </p:sp>
      <p:sp>
        <p:nvSpPr>
          <p:cNvPr id="163" name="Pfeil: Fünfeck 162">
            <a:extLst>
              <a:ext uri="{FF2B5EF4-FFF2-40B4-BE49-F238E27FC236}">
                <a16:creationId xmlns:a16="http://schemas.microsoft.com/office/drawing/2014/main" id="{0AFF2227-B3D3-AAF8-F59C-DC5E86926BC1}"/>
              </a:ext>
            </a:extLst>
          </p:cNvPr>
          <p:cNvSpPr/>
          <p:nvPr/>
        </p:nvSpPr>
        <p:spPr>
          <a:xfrm rot="5400000">
            <a:off x="4411336" y="2569934"/>
            <a:ext cx="282314" cy="3040478"/>
          </a:xfrm>
          <a:prstGeom prst="homePlate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dirty="0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74397F6A-DA8D-E9C4-7B1C-B52460DFFB09}"/>
              </a:ext>
            </a:extLst>
          </p:cNvPr>
          <p:cNvSpPr txBox="1"/>
          <p:nvPr/>
        </p:nvSpPr>
        <p:spPr>
          <a:xfrm>
            <a:off x="3491082" y="3945059"/>
            <a:ext cx="196156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067" b="1" dirty="0"/>
              <a:t>Quartals VR - Reporting</a:t>
            </a:r>
          </a:p>
        </p:txBody>
      </p:sp>
      <p:sp>
        <p:nvSpPr>
          <p:cNvPr id="2" name="Pfeil: Fünfeck 1">
            <a:extLst>
              <a:ext uri="{FF2B5EF4-FFF2-40B4-BE49-F238E27FC236}">
                <a16:creationId xmlns:a16="http://schemas.microsoft.com/office/drawing/2014/main" id="{D36DF73A-E719-D0E9-DF32-6C6415C3823D}"/>
              </a:ext>
            </a:extLst>
          </p:cNvPr>
          <p:cNvSpPr/>
          <p:nvPr/>
        </p:nvSpPr>
        <p:spPr>
          <a:xfrm>
            <a:off x="10579410" y="1163550"/>
            <a:ext cx="281263" cy="1766920"/>
          </a:xfrm>
          <a:prstGeom prst="homePlate">
            <a:avLst>
              <a:gd name="adj" fmla="val 60927"/>
            </a:avLst>
          </a:prstGeom>
          <a:solidFill>
            <a:srgbClr val="6CA5DA"/>
          </a:solidFill>
          <a:ln>
            <a:solidFill>
              <a:srgbClr val="6CA5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81A2A09-C928-3A12-57E5-B5AA8D31ABC7}"/>
              </a:ext>
            </a:extLst>
          </p:cNvPr>
          <p:cNvSpPr txBox="1"/>
          <p:nvPr/>
        </p:nvSpPr>
        <p:spPr>
          <a:xfrm rot="16200000">
            <a:off x="9775937" y="1914067"/>
            <a:ext cx="1776258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067" b="1" dirty="0">
                <a:solidFill>
                  <a:schemeClr val="bg1"/>
                </a:solidFill>
              </a:rPr>
              <a:t>Projekt Reporting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46F9D68-B478-4F1B-A43D-A082AE0DFE71}"/>
              </a:ext>
            </a:extLst>
          </p:cNvPr>
          <p:cNvSpPr/>
          <p:nvPr/>
        </p:nvSpPr>
        <p:spPr>
          <a:xfrm>
            <a:off x="3024586" y="3939125"/>
            <a:ext cx="3052373" cy="1924036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21" name="Pfeil: Fünfeck 20">
            <a:extLst>
              <a:ext uri="{FF2B5EF4-FFF2-40B4-BE49-F238E27FC236}">
                <a16:creationId xmlns:a16="http://schemas.microsoft.com/office/drawing/2014/main" id="{FBC0951B-53F7-CBFB-E203-49D54A5A5E06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378155" y="651318"/>
            <a:ext cx="2557226" cy="287259"/>
          </a:xfrm>
          <a:prstGeom prst="homePlate">
            <a:avLst>
              <a:gd name="adj" fmla="val 43437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200" b="1" dirty="0"/>
              <a:t>Strategie</a:t>
            </a:r>
          </a:p>
        </p:txBody>
      </p:sp>
      <p:grpSp>
        <p:nvGrpSpPr>
          <p:cNvPr id="207" name="Gruppieren 206">
            <a:extLst>
              <a:ext uri="{FF2B5EF4-FFF2-40B4-BE49-F238E27FC236}">
                <a16:creationId xmlns:a16="http://schemas.microsoft.com/office/drawing/2014/main" id="{F790B1D5-F20A-081E-4658-459DC36895DD}"/>
              </a:ext>
            </a:extLst>
          </p:cNvPr>
          <p:cNvGrpSpPr/>
          <p:nvPr/>
        </p:nvGrpSpPr>
        <p:grpSpPr>
          <a:xfrm>
            <a:off x="3901347" y="4400741"/>
            <a:ext cx="1336381" cy="1268756"/>
            <a:chOff x="3774993" y="4759473"/>
            <a:chExt cx="1336381" cy="1268756"/>
          </a:xfrm>
        </p:grpSpPr>
        <p:sp>
          <p:nvSpPr>
            <p:cNvPr id="10" name="Flussdiagramm: Dokument 9">
              <a:extLst>
                <a:ext uri="{FF2B5EF4-FFF2-40B4-BE49-F238E27FC236}">
                  <a16:creationId xmlns:a16="http://schemas.microsoft.com/office/drawing/2014/main" id="{4F924E16-F614-1EDD-490A-9CE0B05A5E95}"/>
                </a:ext>
              </a:extLst>
            </p:cNvPr>
            <p:cNvSpPr/>
            <p:nvPr/>
          </p:nvSpPr>
          <p:spPr>
            <a:xfrm>
              <a:off x="4263838" y="4759473"/>
              <a:ext cx="847536" cy="869589"/>
            </a:xfrm>
            <a:prstGeom prst="flowChartDocumen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067" dirty="0">
                <a:solidFill>
                  <a:schemeClr val="tx1"/>
                </a:solidFill>
              </a:endParaRPr>
            </a:p>
          </p:txBody>
        </p:sp>
        <p:sp>
          <p:nvSpPr>
            <p:cNvPr id="9" name="Flussdiagramm: Dokument 8">
              <a:extLst>
                <a:ext uri="{FF2B5EF4-FFF2-40B4-BE49-F238E27FC236}">
                  <a16:creationId xmlns:a16="http://schemas.microsoft.com/office/drawing/2014/main" id="{3B7EE12E-97AF-CA3E-C90D-AD5910D6BBBB}"/>
                </a:ext>
              </a:extLst>
            </p:cNvPr>
            <p:cNvSpPr/>
            <p:nvPr/>
          </p:nvSpPr>
          <p:spPr>
            <a:xfrm>
              <a:off x="4140440" y="4842593"/>
              <a:ext cx="847536" cy="869589"/>
            </a:xfrm>
            <a:prstGeom prst="flowChartDocumen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067" dirty="0">
                <a:solidFill>
                  <a:schemeClr val="tx1"/>
                </a:solidFill>
              </a:endParaRPr>
            </a:p>
          </p:txBody>
        </p:sp>
        <p:sp>
          <p:nvSpPr>
            <p:cNvPr id="8" name="Flussdiagramm: Dokument 7">
              <a:extLst>
                <a:ext uri="{FF2B5EF4-FFF2-40B4-BE49-F238E27FC236}">
                  <a16:creationId xmlns:a16="http://schemas.microsoft.com/office/drawing/2014/main" id="{FA1C1A4D-94F0-4BB2-BAA2-2DD49A4E9706}"/>
                </a:ext>
              </a:extLst>
            </p:cNvPr>
            <p:cNvSpPr/>
            <p:nvPr/>
          </p:nvSpPr>
          <p:spPr>
            <a:xfrm>
              <a:off x="4006149" y="4951759"/>
              <a:ext cx="847536" cy="869589"/>
            </a:xfrm>
            <a:prstGeom prst="flowChartDocumen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067" dirty="0">
                <a:solidFill>
                  <a:schemeClr val="tx1"/>
                </a:solidFill>
              </a:endParaRPr>
            </a:p>
          </p:txBody>
        </p:sp>
        <p:sp>
          <p:nvSpPr>
            <p:cNvPr id="7" name="Flussdiagramm: Dokument 6">
              <a:extLst>
                <a:ext uri="{FF2B5EF4-FFF2-40B4-BE49-F238E27FC236}">
                  <a16:creationId xmlns:a16="http://schemas.microsoft.com/office/drawing/2014/main" id="{D343752C-5175-BC26-C171-73B77CF5FD7D}"/>
                </a:ext>
              </a:extLst>
            </p:cNvPr>
            <p:cNvSpPr/>
            <p:nvPr/>
          </p:nvSpPr>
          <p:spPr>
            <a:xfrm>
              <a:off x="3895931" y="5044477"/>
              <a:ext cx="847536" cy="869589"/>
            </a:xfrm>
            <a:prstGeom prst="flowChartDocument">
              <a:avLst/>
            </a:prstGeom>
            <a:solidFill>
              <a:srgbClr val="FFFF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067" dirty="0">
                <a:solidFill>
                  <a:schemeClr val="tx1"/>
                </a:solidFill>
              </a:endParaRPr>
            </a:p>
          </p:txBody>
        </p:sp>
        <p:sp>
          <p:nvSpPr>
            <p:cNvPr id="165" name="Flussdiagramm: Dokument 164">
              <a:extLst>
                <a:ext uri="{FF2B5EF4-FFF2-40B4-BE49-F238E27FC236}">
                  <a16:creationId xmlns:a16="http://schemas.microsoft.com/office/drawing/2014/main" id="{56FACC3F-0CF9-ECBA-81F5-490EAB39B767}"/>
                </a:ext>
              </a:extLst>
            </p:cNvPr>
            <p:cNvSpPr/>
            <p:nvPr/>
          </p:nvSpPr>
          <p:spPr>
            <a:xfrm>
              <a:off x="3774993" y="5158640"/>
              <a:ext cx="847536" cy="869589"/>
            </a:xfrm>
            <a:prstGeom prst="flowChartDocumen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sz="1067" dirty="0">
                  <a:solidFill>
                    <a:schemeClr val="tx1"/>
                  </a:solidFill>
                </a:rPr>
                <a:t>Ziel-erreichung</a:t>
              </a:r>
            </a:p>
          </p:txBody>
        </p:sp>
      </p:grpSp>
      <p:pic>
        <p:nvPicPr>
          <p:cNvPr id="25" name="Grafik 24" descr="Liste mit einfarbiger Füllung">
            <a:extLst>
              <a:ext uri="{FF2B5EF4-FFF2-40B4-BE49-F238E27FC236}">
                <a16:creationId xmlns:a16="http://schemas.microsoft.com/office/drawing/2014/main" id="{8674B106-DB37-A30D-DA9C-14CE05BAE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0909358" y="1714741"/>
            <a:ext cx="1003089" cy="608412"/>
          </a:xfrm>
          <a:prstGeom prst="rect">
            <a:avLst/>
          </a:prstGeom>
        </p:spPr>
      </p:pic>
      <p:sp>
        <p:nvSpPr>
          <p:cNvPr id="102" name="Ellipse 101">
            <a:extLst>
              <a:ext uri="{FF2B5EF4-FFF2-40B4-BE49-F238E27FC236}">
                <a16:creationId xmlns:a16="http://schemas.microsoft.com/office/drawing/2014/main" id="{56A50D91-D363-03D5-4D5B-5B684CF4FA7B}"/>
              </a:ext>
            </a:extLst>
          </p:cNvPr>
          <p:cNvSpPr/>
          <p:nvPr/>
        </p:nvSpPr>
        <p:spPr>
          <a:xfrm>
            <a:off x="9556931" y="1764133"/>
            <a:ext cx="82659" cy="8265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FF8E4948-1273-26AB-B3C9-09E1446D38DF}"/>
              </a:ext>
            </a:extLst>
          </p:cNvPr>
          <p:cNvSpPr/>
          <p:nvPr/>
        </p:nvSpPr>
        <p:spPr>
          <a:xfrm>
            <a:off x="9709331" y="1764133"/>
            <a:ext cx="82659" cy="8265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82B990A6-30EC-58D5-A25F-FCEBE2E744E5}"/>
              </a:ext>
            </a:extLst>
          </p:cNvPr>
          <p:cNvSpPr/>
          <p:nvPr/>
        </p:nvSpPr>
        <p:spPr>
          <a:xfrm>
            <a:off x="9852304" y="1764133"/>
            <a:ext cx="82659" cy="8265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05" name="Ellipse 104">
            <a:extLst>
              <a:ext uri="{FF2B5EF4-FFF2-40B4-BE49-F238E27FC236}">
                <a16:creationId xmlns:a16="http://schemas.microsoft.com/office/drawing/2014/main" id="{645FC6DC-D481-B277-4E2C-694D085AAC72}"/>
              </a:ext>
            </a:extLst>
          </p:cNvPr>
          <p:cNvSpPr/>
          <p:nvPr/>
        </p:nvSpPr>
        <p:spPr>
          <a:xfrm>
            <a:off x="9985850" y="1764133"/>
            <a:ext cx="82659" cy="8265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8B049070-0172-D0FB-5AA4-2408FD363FCD}"/>
              </a:ext>
            </a:extLst>
          </p:cNvPr>
          <p:cNvSpPr/>
          <p:nvPr/>
        </p:nvSpPr>
        <p:spPr>
          <a:xfrm>
            <a:off x="9962531" y="2375299"/>
            <a:ext cx="82659" cy="8265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07" name="Ellipse 106">
            <a:extLst>
              <a:ext uri="{FF2B5EF4-FFF2-40B4-BE49-F238E27FC236}">
                <a16:creationId xmlns:a16="http://schemas.microsoft.com/office/drawing/2014/main" id="{24328FA0-A188-3DEF-A0CB-D944B3DCBDDB}"/>
              </a:ext>
            </a:extLst>
          </p:cNvPr>
          <p:cNvSpPr/>
          <p:nvPr/>
        </p:nvSpPr>
        <p:spPr>
          <a:xfrm>
            <a:off x="9417349" y="2386294"/>
            <a:ext cx="82659" cy="8265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68" name="Rechteck 167">
            <a:extLst>
              <a:ext uri="{FF2B5EF4-FFF2-40B4-BE49-F238E27FC236}">
                <a16:creationId xmlns:a16="http://schemas.microsoft.com/office/drawing/2014/main" id="{CCF5E611-5312-608B-F2B6-648E6B7C1CF3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9383535" y="3220014"/>
            <a:ext cx="695037" cy="42201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DE" sz="800" dirty="0" err="1">
                <a:solidFill>
                  <a:schemeClr val="tx2"/>
                </a:solidFill>
              </a:rPr>
              <a:t>Verantwort-liche</a:t>
            </a:r>
            <a:endParaRPr lang="de-DE" sz="800" dirty="0">
              <a:solidFill>
                <a:schemeClr val="tx2"/>
              </a:solidFill>
            </a:endParaRPr>
          </a:p>
        </p:txBody>
      </p:sp>
      <p:cxnSp>
        <p:nvCxnSpPr>
          <p:cNvPr id="169" name="Gerader Verbinder 168">
            <a:extLst>
              <a:ext uri="{FF2B5EF4-FFF2-40B4-BE49-F238E27FC236}">
                <a16:creationId xmlns:a16="http://schemas.microsoft.com/office/drawing/2014/main" id="{63EA2653-FB16-9B45-8968-9C7724388EAE}"/>
              </a:ext>
            </a:extLst>
          </p:cNvPr>
          <p:cNvCxnSpPr>
            <a:cxnSpLocks/>
          </p:cNvCxnSpPr>
          <p:nvPr/>
        </p:nvCxnSpPr>
        <p:spPr>
          <a:xfrm>
            <a:off x="9521217" y="3639866"/>
            <a:ext cx="0" cy="138353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Gerader Verbinder 169">
            <a:extLst>
              <a:ext uri="{FF2B5EF4-FFF2-40B4-BE49-F238E27FC236}">
                <a16:creationId xmlns:a16="http://schemas.microsoft.com/office/drawing/2014/main" id="{BAAA2921-DCDC-3170-2E72-D475FB0D97F8}"/>
              </a:ext>
            </a:extLst>
          </p:cNvPr>
          <p:cNvCxnSpPr>
            <a:cxnSpLocks/>
          </p:cNvCxnSpPr>
          <p:nvPr/>
        </p:nvCxnSpPr>
        <p:spPr>
          <a:xfrm>
            <a:off x="9666689" y="3639866"/>
            <a:ext cx="0" cy="13824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rader Verbinder 170">
            <a:extLst>
              <a:ext uri="{FF2B5EF4-FFF2-40B4-BE49-F238E27FC236}">
                <a16:creationId xmlns:a16="http://schemas.microsoft.com/office/drawing/2014/main" id="{9693C7FE-E438-06F3-F272-624C44545EC1}"/>
              </a:ext>
            </a:extLst>
          </p:cNvPr>
          <p:cNvCxnSpPr>
            <a:cxnSpLocks/>
          </p:cNvCxnSpPr>
          <p:nvPr/>
        </p:nvCxnSpPr>
        <p:spPr>
          <a:xfrm>
            <a:off x="9805235" y="3639866"/>
            <a:ext cx="0" cy="13824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Gerader Verbinder 171">
            <a:extLst>
              <a:ext uri="{FF2B5EF4-FFF2-40B4-BE49-F238E27FC236}">
                <a16:creationId xmlns:a16="http://schemas.microsoft.com/office/drawing/2014/main" id="{D84E67B8-2731-90CA-6BA3-6471613788E0}"/>
              </a:ext>
            </a:extLst>
          </p:cNvPr>
          <p:cNvCxnSpPr>
            <a:cxnSpLocks/>
          </p:cNvCxnSpPr>
          <p:nvPr/>
        </p:nvCxnSpPr>
        <p:spPr>
          <a:xfrm>
            <a:off x="9943781" y="3639865"/>
            <a:ext cx="0" cy="13824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hteck 172">
            <a:extLst>
              <a:ext uri="{FF2B5EF4-FFF2-40B4-BE49-F238E27FC236}">
                <a16:creationId xmlns:a16="http://schemas.microsoft.com/office/drawing/2014/main" id="{37CE9AAB-80D5-2D52-A8D1-E35D5D371B6A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9380364" y="3642028"/>
            <a:ext cx="695037" cy="137489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endParaRPr lang="de-CH" sz="800" dirty="0">
              <a:solidFill>
                <a:schemeClr val="accent3"/>
              </a:solidFill>
            </a:endParaRP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8415644C-B7F5-0AA9-A2D9-730ACC5E4314}"/>
              </a:ext>
            </a:extLst>
          </p:cNvPr>
          <p:cNvSpPr/>
          <p:nvPr/>
        </p:nvSpPr>
        <p:spPr>
          <a:xfrm>
            <a:off x="9693225" y="3831542"/>
            <a:ext cx="82659" cy="828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77" name="Ellipse 176">
            <a:extLst>
              <a:ext uri="{FF2B5EF4-FFF2-40B4-BE49-F238E27FC236}">
                <a16:creationId xmlns:a16="http://schemas.microsoft.com/office/drawing/2014/main" id="{6BEF64F5-14E9-8433-2854-CBCFD1E607C7}"/>
              </a:ext>
            </a:extLst>
          </p:cNvPr>
          <p:cNvSpPr/>
          <p:nvPr/>
        </p:nvSpPr>
        <p:spPr>
          <a:xfrm>
            <a:off x="9556088" y="4165372"/>
            <a:ext cx="82659" cy="828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0D4D3B6E-DF7D-0737-7C70-BC95811684EC}"/>
              </a:ext>
            </a:extLst>
          </p:cNvPr>
          <p:cNvSpPr/>
          <p:nvPr/>
        </p:nvSpPr>
        <p:spPr>
          <a:xfrm>
            <a:off x="9691175" y="4165372"/>
            <a:ext cx="82800" cy="828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 dirty="0"/>
          </a:p>
        </p:txBody>
      </p:sp>
      <p:cxnSp>
        <p:nvCxnSpPr>
          <p:cNvPr id="185" name="Gerader Verbinder 184">
            <a:extLst>
              <a:ext uri="{FF2B5EF4-FFF2-40B4-BE49-F238E27FC236}">
                <a16:creationId xmlns:a16="http://schemas.microsoft.com/office/drawing/2014/main" id="{B71E80CD-1B68-F869-9B90-61AF839C33E1}"/>
              </a:ext>
            </a:extLst>
          </p:cNvPr>
          <p:cNvCxnSpPr>
            <a:cxnSpLocks/>
          </p:cNvCxnSpPr>
          <p:nvPr/>
        </p:nvCxnSpPr>
        <p:spPr>
          <a:xfrm>
            <a:off x="6846641" y="3086098"/>
            <a:ext cx="5065806" cy="0"/>
          </a:xfrm>
          <a:prstGeom prst="line">
            <a:avLst/>
          </a:prstGeom>
          <a:ln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Ellipse 185">
            <a:extLst>
              <a:ext uri="{FF2B5EF4-FFF2-40B4-BE49-F238E27FC236}">
                <a16:creationId xmlns:a16="http://schemas.microsoft.com/office/drawing/2014/main" id="{7B63C779-3261-FFF9-8E1B-0D72585BA686}"/>
              </a:ext>
            </a:extLst>
          </p:cNvPr>
          <p:cNvSpPr/>
          <p:nvPr/>
        </p:nvSpPr>
        <p:spPr>
          <a:xfrm>
            <a:off x="9410377" y="3829492"/>
            <a:ext cx="82659" cy="828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57C682B9-7AB5-A0B2-F00F-09222074519F}"/>
              </a:ext>
            </a:extLst>
          </p:cNvPr>
          <p:cNvSpPr/>
          <p:nvPr/>
        </p:nvSpPr>
        <p:spPr>
          <a:xfrm>
            <a:off x="9965149" y="3829492"/>
            <a:ext cx="82659" cy="828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92" name="Textfeld 191">
            <a:extLst>
              <a:ext uri="{FF2B5EF4-FFF2-40B4-BE49-F238E27FC236}">
                <a16:creationId xmlns:a16="http://schemas.microsoft.com/office/drawing/2014/main" id="{E46730E2-7023-374E-80B3-22138A37C502}"/>
              </a:ext>
            </a:extLst>
          </p:cNvPr>
          <p:cNvSpPr txBox="1"/>
          <p:nvPr/>
        </p:nvSpPr>
        <p:spPr>
          <a:xfrm>
            <a:off x="10848050" y="1155036"/>
            <a:ext cx="1226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dirty="0"/>
              <a:t>«Dashboard»</a:t>
            </a:r>
          </a:p>
        </p:txBody>
      </p:sp>
      <p:pic>
        <p:nvPicPr>
          <p:cNvPr id="194" name="Grafik 193" descr="Besprechung mit einfarbiger Füllung">
            <a:extLst>
              <a:ext uri="{FF2B5EF4-FFF2-40B4-BE49-F238E27FC236}">
                <a16:creationId xmlns:a16="http://schemas.microsoft.com/office/drawing/2014/main" id="{3491789E-02F6-BC1E-6F3D-70B9ACD823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1032367" y="2347566"/>
            <a:ext cx="757070" cy="757070"/>
          </a:xfrm>
          <a:prstGeom prst="rect">
            <a:avLst/>
          </a:prstGeom>
        </p:spPr>
      </p:pic>
      <p:sp>
        <p:nvSpPr>
          <p:cNvPr id="195" name="Textfeld 194">
            <a:extLst>
              <a:ext uri="{FF2B5EF4-FFF2-40B4-BE49-F238E27FC236}">
                <a16:creationId xmlns:a16="http://schemas.microsoft.com/office/drawing/2014/main" id="{4882B2FF-0564-65B2-50E8-1F53B14063CD}"/>
              </a:ext>
            </a:extLst>
          </p:cNvPr>
          <p:cNvSpPr txBox="1"/>
          <p:nvPr/>
        </p:nvSpPr>
        <p:spPr>
          <a:xfrm>
            <a:off x="11125407" y="2747110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100" b="1" dirty="0">
                <a:solidFill>
                  <a:schemeClr val="bg1"/>
                </a:solidFill>
              </a:rPr>
              <a:t>PRAT</a:t>
            </a:r>
          </a:p>
        </p:txBody>
      </p:sp>
      <p:sp>
        <p:nvSpPr>
          <p:cNvPr id="196" name="Pfeil: Fünfeck 195">
            <a:extLst>
              <a:ext uri="{FF2B5EF4-FFF2-40B4-BE49-F238E27FC236}">
                <a16:creationId xmlns:a16="http://schemas.microsoft.com/office/drawing/2014/main" id="{0D5BA991-04BC-D793-DA40-0EACC97E13C7}"/>
              </a:ext>
            </a:extLst>
          </p:cNvPr>
          <p:cNvSpPr/>
          <p:nvPr/>
        </p:nvSpPr>
        <p:spPr>
          <a:xfrm>
            <a:off x="10579410" y="3220014"/>
            <a:ext cx="281263" cy="1803389"/>
          </a:xfrm>
          <a:prstGeom prst="homePlate">
            <a:avLst>
              <a:gd name="adj" fmla="val 60927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dirty="0"/>
          </a:p>
        </p:txBody>
      </p:sp>
      <p:sp>
        <p:nvSpPr>
          <p:cNvPr id="197" name="Textfeld 196">
            <a:extLst>
              <a:ext uri="{FF2B5EF4-FFF2-40B4-BE49-F238E27FC236}">
                <a16:creationId xmlns:a16="http://schemas.microsoft.com/office/drawing/2014/main" id="{0A7DA53F-C952-6302-A89E-A1F1FDD38227}"/>
              </a:ext>
            </a:extLst>
          </p:cNvPr>
          <p:cNvSpPr txBox="1"/>
          <p:nvPr/>
        </p:nvSpPr>
        <p:spPr>
          <a:xfrm rot="16200000">
            <a:off x="9755166" y="3986936"/>
            <a:ext cx="181411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067" b="1" dirty="0">
                <a:solidFill>
                  <a:schemeClr val="bg1"/>
                </a:solidFill>
              </a:rPr>
              <a:t>Projekt Reporting</a:t>
            </a:r>
          </a:p>
        </p:txBody>
      </p:sp>
      <p:sp>
        <p:nvSpPr>
          <p:cNvPr id="202" name="Textfeld 201">
            <a:extLst>
              <a:ext uri="{FF2B5EF4-FFF2-40B4-BE49-F238E27FC236}">
                <a16:creationId xmlns:a16="http://schemas.microsoft.com/office/drawing/2014/main" id="{A371E31E-0429-714A-E1BA-6FC379B463B2}"/>
              </a:ext>
            </a:extLst>
          </p:cNvPr>
          <p:cNvSpPr txBox="1"/>
          <p:nvPr/>
        </p:nvSpPr>
        <p:spPr>
          <a:xfrm>
            <a:off x="9345436" y="1284436"/>
            <a:ext cx="821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chemeClr val="accent3"/>
                </a:solidFill>
              </a:rPr>
              <a:t>Accountability</a:t>
            </a:r>
          </a:p>
          <a:p>
            <a:pPr algn="ctr"/>
            <a:r>
              <a:rPr lang="en-US" sz="800" dirty="0">
                <a:solidFill>
                  <a:schemeClr val="accent3"/>
                </a:solidFill>
              </a:rPr>
              <a:t>GL</a:t>
            </a:r>
          </a:p>
        </p:txBody>
      </p:sp>
      <p:pic>
        <p:nvPicPr>
          <p:cNvPr id="203" name="Grafik 202" descr="Liste mit einfarbiger Füllung">
            <a:extLst>
              <a:ext uri="{FF2B5EF4-FFF2-40B4-BE49-F238E27FC236}">
                <a16:creationId xmlns:a16="http://schemas.microsoft.com/office/drawing/2014/main" id="{D2173F89-2A72-F4DC-902B-B0FD790E25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0976980" y="3830804"/>
            <a:ext cx="935467" cy="567397"/>
          </a:xfrm>
          <a:prstGeom prst="rect">
            <a:avLst/>
          </a:prstGeom>
        </p:spPr>
      </p:pic>
      <p:sp>
        <p:nvSpPr>
          <p:cNvPr id="204" name="Textfeld 203">
            <a:extLst>
              <a:ext uri="{FF2B5EF4-FFF2-40B4-BE49-F238E27FC236}">
                <a16:creationId xmlns:a16="http://schemas.microsoft.com/office/drawing/2014/main" id="{B6757259-D9AB-9EDB-1C20-B4BA01580E8E}"/>
              </a:ext>
            </a:extLst>
          </p:cNvPr>
          <p:cNvSpPr txBox="1"/>
          <p:nvPr/>
        </p:nvSpPr>
        <p:spPr>
          <a:xfrm>
            <a:off x="10860673" y="3281640"/>
            <a:ext cx="1226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dirty="0"/>
              <a:t>«Dashboard»</a:t>
            </a:r>
          </a:p>
        </p:txBody>
      </p:sp>
      <p:pic>
        <p:nvPicPr>
          <p:cNvPr id="205" name="Grafik 204" descr="Besprechung mit einfarbiger Füllung">
            <a:extLst>
              <a:ext uri="{FF2B5EF4-FFF2-40B4-BE49-F238E27FC236}">
                <a16:creationId xmlns:a16="http://schemas.microsoft.com/office/drawing/2014/main" id="{C80A5664-C0F9-4368-0D66-8700F5AFF9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1042055" y="4403209"/>
            <a:ext cx="787420" cy="763241"/>
          </a:xfrm>
          <a:prstGeom prst="rect">
            <a:avLst/>
          </a:prstGeom>
        </p:spPr>
      </p:pic>
      <p:sp>
        <p:nvSpPr>
          <p:cNvPr id="206" name="Textfeld 205">
            <a:extLst>
              <a:ext uri="{FF2B5EF4-FFF2-40B4-BE49-F238E27FC236}">
                <a16:creationId xmlns:a16="http://schemas.microsoft.com/office/drawing/2014/main" id="{66DB6AA3-2C01-9CE6-BBFD-8A60A0BA94CD}"/>
              </a:ext>
            </a:extLst>
          </p:cNvPr>
          <p:cNvSpPr txBox="1"/>
          <p:nvPr/>
        </p:nvSpPr>
        <p:spPr>
          <a:xfrm>
            <a:off x="11157073" y="4791414"/>
            <a:ext cx="5774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100" b="1" dirty="0">
                <a:solidFill>
                  <a:schemeClr val="bg1"/>
                </a:solidFill>
              </a:rPr>
              <a:t>GLPA</a:t>
            </a:r>
          </a:p>
        </p:txBody>
      </p:sp>
      <p:sp>
        <p:nvSpPr>
          <p:cNvPr id="212" name="Textfeld 211">
            <a:extLst>
              <a:ext uri="{FF2B5EF4-FFF2-40B4-BE49-F238E27FC236}">
                <a16:creationId xmlns:a16="http://schemas.microsoft.com/office/drawing/2014/main" id="{69DEF5B5-17D7-388E-E5A4-3D8B474C99E1}"/>
              </a:ext>
            </a:extLst>
          </p:cNvPr>
          <p:cNvSpPr txBox="1"/>
          <p:nvPr/>
        </p:nvSpPr>
        <p:spPr>
          <a:xfrm>
            <a:off x="3759017" y="925440"/>
            <a:ext cx="15792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50" i="1" dirty="0"/>
              <a:t>Klarheit, was ist wichtig</a:t>
            </a:r>
          </a:p>
        </p:txBody>
      </p:sp>
      <p:sp>
        <p:nvSpPr>
          <p:cNvPr id="214" name="Textfeld 213">
            <a:extLst>
              <a:ext uri="{FF2B5EF4-FFF2-40B4-BE49-F238E27FC236}">
                <a16:creationId xmlns:a16="http://schemas.microsoft.com/office/drawing/2014/main" id="{CC1A9B0F-61EA-99DD-9321-E125264CB4FD}"/>
              </a:ext>
            </a:extLst>
          </p:cNvPr>
          <p:cNvSpPr txBox="1"/>
          <p:nvPr/>
        </p:nvSpPr>
        <p:spPr>
          <a:xfrm>
            <a:off x="1055809" y="925440"/>
            <a:ext cx="11977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50" i="1" dirty="0"/>
              <a:t>Unser Bestreben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CC5CB2C-0BD3-7FD5-D2D7-1333C1DAC129}"/>
              </a:ext>
            </a:extLst>
          </p:cNvPr>
          <p:cNvSpPr txBox="1"/>
          <p:nvPr/>
        </p:nvSpPr>
        <p:spPr>
          <a:xfrm>
            <a:off x="8254454" y="914627"/>
            <a:ext cx="22605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50" i="1" dirty="0"/>
              <a:t>Umsetzungsmotor mit Messbarkeit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75F4832-52C2-83E8-343F-56B098DB7E5A}"/>
              </a:ext>
            </a:extLst>
          </p:cNvPr>
          <p:cNvSpPr txBox="1"/>
          <p:nvPr/>
        </p:nvSpPr>
        <p:spPr>
          <a:xfrm rot="16200000">
            <a:off x="6784125" y="5703797"/>
            <a:ext cx="133652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067" b="1" dirty="0">
                <a:solidFill>
                  <a:schemeClr val="bg1"/>
                </a:solidFill>
              </a:rPr>
              <a:t>Priorisierung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29B25F0-0061-561D-37B0-59E73416CD4F}"/>
              </a:ext>
            </a:extLst>
          </p:cNvPr>
          <p:cNvCxnSpPr>
            <a:cxnSpLocks/>
          </p:cNvCxnSpPr>
          <p:nvPr/>
        </p:nvCxnSpPr>
        <p:spPr>
          <a:xfrm>
            <a:off x="6846641" y="5134698"/>
            <a:ext cx="506580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Verbinder: gewinkelt 91">
            <a:extLst>
              <a:ext uri="{FF2B5EF4-FFF2-40B4-BE49-F238E27FC236}">
                <a16:creationId xmlns:a16="http://schemas.microsoft.com/office/drawing/2014/main" id="{ED9E803A-90C4-0963-0BA0-CB9071A56671}"/>
              </a:ext>
            </a:extLst>
          </p:cNvPr>
          <p:cNvCxnSpPr>
            <a:stCxn id="113" idx="2"/>
            <a:endCxn id="112" idx="0"/>
          </p:cNvCxnSpPr>
          <p:nvPr/>
        </p:nvCxnSpPr>
        <p:spPr>
          <a:xfrm rot="16200000" flipH="1">
            <a:off x="5839009" y="2944611"/>
            <a:ext cx="1613172" cy="402093"/>
          </a:xfrm>
          <a:prstGeom prst="bentConnector4">
            <a:avLst>
              <a:gd name="adj1" fmla="val 44893"/>
              <a:gd name="adj2" fmla="val -400"/>
            </a:avLst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hteck 98">
            <a:extLst>
              <a:ext uri="{FF2B5EF4-FFF2-40B4-BE49-F238E27FC236}">
                <a16:creationId xmlns:a16="http://schemas.microsoft.com/office/drawing/2014/main" id="{EDE5DF59-E25F-0F2A-7BE0-B8616D333142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 rot="16200000">
            <a:off x="6494701" y="5622591"/>
            <a:ext cx="1033407" cy="329528"/>
          </a:xfrm>
          <a:prstGeom prst="rect">
            <a:avLst/>
          </a:prstGeom>
          <a:solidFill>
            <a:srgbClr val="C2AB90"/>
          </a:solidFill>
          <a:ln w="9525">
            <a:solidFill>
              <a:srgbClr val="C2AB90"/>
            </a:solidFill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ct val="0"/>
              </a:spcAft>
            </a:pPr>
            <a:r>
              <a:rPr lang="de-CH" sz="1100" b="1" dirty="0">
                <a:solidFill>
                  <a:schemeClr val="bg1"/>
                </a:solidFill>
              </a:rPr>
              <a:t>Projekte Direktionen</a:t>
            </a:r>
          </a:p>
        </p:txBody>
      </p:sp>
      <p:pic>
        <p:nvPicPr>
          <p:cNvPr id="100" name="Grafik 99" descr="Liste mit einfarbiger Füllung">
            <a:extLst>
              <a:ext uri="{FF2B5EF4-FFF2-40B4-BE49-F238E27FC236}">
                <a16:creationId xmlns:a16="http://schemas.microsoft.com/office/drawing/2014/main" id="{7F8BBF34-ADCE-3276-BD76-B3E16DEB40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0934605" y="5235727"/>
            <a:ext cx="935467" cy="567397"/>
          </a:xfrm>
          <a:prstGeom prst="rect">
            <a:avLst/>
          </a:prstGeom>
        </p:spPr>
      </p:pic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A84A10C0-89C8-CE09-3994-A099B8C0D52C}"/>
              </a:ext>
            </a:extLst>
          </p:cNvPr>
          <p:cNvGrpSpPr/>
          <p:nvPr/>
        </p:nvGrpSpPr>
        <p:grpSpPr>
          <a:xfrm>
            <a:off x="10999680" y="5678428"/>
            <a:ext cx="787420" cy="763241"/>
            <a:chOff x="11147069" y="5425274"/>
            <a:chExt cx="861548" cy="861548"/>
          </a:xfrm>
        </p:grpSpPr>
        <p:pic>
          <p:nvPicPr>
            <p:cNvPr id="110" name="Grafik 109" descr="Besprechung mit einfarbiger Füllung">
              <a:extLst>
                <a:ext uri="{FF2B5EF4-FFF2-40B4-BE49-F238E27FC236}">
                  <a16:creationId xmlns:a16="http://schemas.microsoft.com/office/drawing/2014/main" id="{F193FB1C-7C3B-59D7-3CF9-3786AF9A28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11147069" y="5425274"/>
              <a:ext cx="861548" cy="861548"/>
            </a:xfrm>
            <a:prstGeom prst="rect">
              <a:avLst/>
            </a:prstGeom>
          </p:spPr>
        </p:pic>
        <p:sp>
          <p:nvSpPr>
            <p:cNvPr id="115" name="Textfeld 114">
              <a:extLst>
                <a:ext uri="{FF2B5EF4-FFF2-40B4-BE49-F238E27FC236}">
                  <a16:creationId xmlns:a16="http://schemas.microsoft.com/office/drawing/2014/main" id="{B41108F9-2501-B13E-5D15-18AC443990BF}"/>
                </a:ext>
              </a:extLst>
            </p:cNvPr>
            <p:cNvSpPr txBox="1"/>
            <p:nvPr/>
          </p:nvSpPr>
          <p:spPr>
            <a:xfrm>
              <a:off x="11340757" y="5854745"/>
              <a:ext cx="468644" cy="2953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100" b="1" dirty="0"/>
                <a:t>DIR</a:t>
              </a:r>
            </a:p>
          </p:txBody>
        </p:sp>
      </p:grpSp>
      <p:cxnSp>
        <p:nvCxnSpPr>
          <p:cNvPr id="117" name="Verbinder: gewinkelt 116">
            <a:extLst>
              <a:ext uri="{FF2B5EF4-FFF2-40B4-BE49-F238E27FC236}">
                <a16:creationId xmlns:a16="http://schemas.microsoft.com/office/drawing/2014/main" id="{675EBB48-8279-E301-F78E-F83C60D0D3ED}"/>
              </a:ext>
            </a:extLst>
          </p:cNvPr>
          <p:cNvCxnSpPr>
            <a:cxnSpLocks/>
            <a:stCxn id="113" idx="2"/>
            <a:endCxn id="99" idx="0"/>
          </p:cNvCxnSpPr>
          <p:nvPr/>
        </p:nvCxnSpPr>
        <p:spPr>
          <a:xfrm rot="16200000" flipH="1">
            <a:off x="4921454" y="3862167"/>
            <a:ext cx="3448283" cy="402092"/>
          </a:xfrm>
          <a:prstGeom prst="bentConnector2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08476572-6378-7B5C-06C6-D520299209C8}"/>
              </a:ext>
            </a:extLst>
          </p:cNvPr>
          <p:cNvGrpSpPr/>
          <p:nvPr/>
        </p:nvGrpSpPr>
        <p:grpSpPr>
          <a:xfrm>
            <a:off x="7689929" y="5327307"/>
            <a:ext cx="2844020" cy="945682"/>
            <a:chOff x="7689929" y="5508888"/>
            <a:chExt cx="2844020" cy="945682"/>
          </a:xfrm>
        </p:grpSpPr>
        <p:grpSp>
          <p:nvGrpSpPr>
            <p:cNvPr id="132" name="Gruppieren 131">
              <a:extLst>
                <a:ext uri="{FF2B5EF4-FFF2-40B4-BE49-F238E27FC236}">
                  <a16:creationId xmlns:a16="http://schemas.microsoft.com/office/drawing/2014/main" id="{DBAF1562-B04B-F038-1F78-8A1175237069}"/>
                </a:ext>
              </a:extLst>
            </p:cNvPr>
            <p:cNvGrpSpPr/>
            <p:nvPr/>
          </p:nvGrpSpPr>
          <p:grpSpPr>
            <a:xfrm>
              <a:off x="9237949" y="5508888"/>
              <a:ext cx="1296000" cy="468000"/>
              <a:chOff x="9237949" y="5508888"/>
              <a:chExt cx="1296000" cy="468000"/>
            </a:xfrm>
          </p:grpSpPr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A15BE5BC-29DF-4DDC-621D-E4DD74BC794B}"/>
                  </a:ext>
                </a:extLst>
              </p:cNvPr>
              <p:cNvSpPr/>
              <p:nvPr/>
            </p:nvSpPr>
            <p:spPr>
              <a:xfrm>
                <a:off x="9237949" y="5508888"/>
                <a:ext cx="1296000" cy="468000"/>
              </a:xfrm>
              <a:prstGeom prst="rect">
                <a:avLst/>
              </a:prstGeom>
              <a:solidFill>
                <a:srgbClr val="E4DB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22D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etc.</a:t>
                </a:r>
              </a:p>
            </p:txBody>
          </p:sp>
          <p:sp>
            <p:nvSpPr>
              <p:cNvPr id="131" name="Pfeil: Fünfeck 130">
                <a:extLst>
                  <a:ext uri="{FF2B5EF4-FFF2-40B4-BE49-F238E27FC236}">
                    <a16:creationId xmlns:a16="http://schemas.microsoft.com/office/drawing/2014/main" id="{9F6382EB-0983-7063-F35D-B1A65CBFD88F}"/>
                  </a:ext>
                </a:extLst>
              </p:cNvPr>
              <p:cNvSpPr/>
              <p:nvPr/>
            </p:nvSpPr>
            <p:spPr>
              <a:xfrm>
                <a:off x="9249717" y="5523685"/>
                <a:ext cx="307209" cy="441689"/>
              </a:xfrm>
              <a:prstGeom prst="homePlate">
                <a:avLst/>
              </a:prstGeom>
              <a:solidFill>
                <a:srgbClr val="D5C6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sz="800" dirty="0"/>
              </a:p>
            </p:txBody>
          </p:sp>
        </p:grp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13386CC5-895A-AC6B-31CF-DFE304B558B0}"/>
                </a:ext>
              </a:extLst>
            </p:cNvPr>
            <p:cNvSpPr/>
            <p:nvPr/>
          </p:nvSpPr>
          <p:spPr>
            <a:xfrm>
              <a:off x="8755322" y="5665322"/>
              <a:ext cx="1296000" cy="468000"/>
            </a:xfrm>
            <a:prstGeom prst="rect">
              <a:avLst/>
            </a:prstGeom>
            <a:solidFill>
              <a:srgbClr val="E4DB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1422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DMS</a:t>
              </a:r>
            </a:p>
          </p:txBody>
        </p:sp>
        <p:sp>
          <p:nvSpPr>
            <p:cNvPr id="128" name="Pfeil: Fünfeck 127">
              <a:extLst>
                <a:ext uri="{FF2B5EF4-FFF2-40B4-BE49-F238E27FC236}">
                  <a16:creationId xmlns:a16="http://schemas.microsoft.com/office/drawing/2014/main" id="{534428DF-2916-8E49-1D9F-AB1D64CE86C3}"/>
                </a:ext>
              </a:extLst>
            </p:cNvPr>
            <p:cNvSpPr/>
            <p:nvPr/>
          </p:nvSpPr>
          <p:spPr>
            <a:xfrm>
              <a:off x="8755998" y="5681152"/>
              <a:ext cx="307209" cy="441689"/>
            </a:xfrm>
            <a:prstGeom prst="homePlate">
              <a:avLst/>
            </a:prstGeom>
            <a:solidFill>
              <a:srgbClr val="D5C6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800" dirty="0"/>
            </a:p>
          </p:txBody>
        </p:sp>
        <p:grpSp>
          <p:nvGrpSpPr>
            <p:cNvPr id="126" name="Gruppieren 125">
              <a:extLst>
                <a:ext uri="{FF2B5EF4-FFF2-40B4-BE49-F238E27FC236}">
                  <a16:creationId xmlns:a16="http://schemas.microsoft.com/office/drawing/2014/main" id="{F59E4D9D-C329-87F2-0748-B0138131E4A9}"/>
                </a:ext>
              </a:extLst>
            </p:cNvPr>
            <p:cNvGrpSpPr/>
            <p:nvPr/>
          </p:nvGrpSpPr>
          <p:grpSpPr>
            <a:xfrm>
              <a:off x="8266639" y="5850604"/>
              <a:ext cx="1296000" cy="468000"/>
              <a:chOff x="8266639" y="5850604"/>
              <a:chExt cx="1296000" cy="468000"/>
            </a:xfrm>
          </p:grpSpPr>
          <p:sp>
            <p:nvSpPr>
              <p:cNvPr id="73" name="Rechteck 72">
                <a:extLst>
                  <a:ext uri="{FF2B5EF4-FFF2-40B4-BE49-F238E27FC236}">
                    <a16:creationId xmlns:a16="http://schemas.microsoft.com/office/drawing/2014/main" id="{8BFA8E31-5EA0-28E1-7D4A-89E206041749}"/>
                  </a:ext>
                </a:extLst>
              </p:cNvPr>
              <p:cNvSpPr/>
              <p:nvPr/>
            </p:nvSpPr>
            <p:spPr>
              <a:xfrm>
                <a:off x="8266639" y="5850604"/>
                <a:ext cx="1296000" cy="468000"/>
              </a:xfrm>
              <a:prstGeom prst="rect">
                <a:avLst/>
              </a:prstGeom>
              <a:solidFill>
                <a:srgbClr val="E4DB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22D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PFLE</a:t>
                </a:r>
              </a:p>
            </p:txBody>
          </p:sp>
          <p:sp>
            <p:nvSpPr>
              <p:cNvPr id="125" name="Pfeil: Fünfeck 124">
                <a:extLst>
                  <a:ext uri="{FF2B5EF4-FFF2-40B4-BE49-F238E27FC236}">
                    <a16:creationId xmlns:a16="http://schemas.microsoft.com/office/drawing/2014/main" id="{CD5B386A-FC07-A431-DBD6-6F4B65C3B15A}"/>
                  </a:ext>
                </a:extLst>
              </p:cNvPr>
              <p:cNvSpPr/>
              <p:nvPr/>
            </p:nvSpPr>
            <p:spPr>
              <a:xfrm>
                <a:off x="8282364" y="5863161"/>
                <a:ext cx="307209" cy="441689"/>
              </a:xfrm>
              <a:prstGeom prst="homePlate">
                <a:avLst/>
              </a:prstGeom>
              <a:solidFill>
                <a:srgbClr val="D5C6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sz="800" dirty="0"/>
              </a:p>
            </p:txBody>
          </p:sp>
        </p:grpSp>
        <p:grpSp>
          <p:nvGrpSpPr>
            <p:cNvPr id="124" name="Gruppieren 123">
              <a:extLst>
                <a:ext uri="{FF2B5EF4-FFF2-40B4-BE49-F238E27FC236}">
                  <a16:creationId xmlns:a16="http://schemas.microsoft.com/office/drawing/2014/main" id="{EC5DED13-4C9A-A8C9-C2D8-F566C1BF50AC}"/>
                </a:ext>
              </a:extLst>
            </p:cNvPr>
            <p:cNvGrpSpPr/>
            <p:nvPr/>
          </p:nvGrpSpPr>
          <p:grpSpPr>
            <a:xfrm>
              <a:off x="7689929" y="5986570"/>
              <a:ext cx="1296000" cy="468000"/>
              <a:chOff x="7689929" y="5986570"/>
              <a:chExt cx="1296000" cy="468000"/>
            </a:xfrm>
          </p:grpSpPr>
          <p:sp>
            <p:nvSpPr>
              <p:cNvPr id="74" name="Rechteck 73">
                <a:extLst>
                  <a:ext uri="{FF2B5EF4-FFF2-40B4-BE49-F238E27FC236}">
                    <a16:creationId xmlns:a16="http://schemas.microsoft.com/office/drawing/2014/main" id="{389D2AA1-310F-6B59-4EA2-797C74F4C232}"/>
                  </a:ext>
                </a:extLst>
              </p:cNvPr>
              <p:cNvSpPr/>
              <p:nvPr/>
            </p:nvSpPr>
            <p:spPr>
              <a:xfrm>
                <a:off x="7689929" y="5986570"/>
                <a:ext cx="1296000" cy="468000"/>
              </a:xfrm>
              <a:prstGeom prst="rect">
                <a:avLst/>
              </a:prstGeom>
              <a:solidFill>
                <a:srgbClr val="E4DBCF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12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1422D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AeD</a:t>
                </a:r>
                <a:endParaRPr kumimoji="0" lang="de-CH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1422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Pfeil: Fünfeck 122">
                <a:extLst>
                  <a:ext uri="{FF2B5EF4-FFF2-40B4-BE49-F238E27FC236}">
                    <a16:creationId xmlns:a16="http://schemas.microsoft.com/office/drawing/2014/main" id="{140719B9-D06B-20C4-1B64-A4DB7668DC5E}"/>
                  </a:ext>
                </a:extLst>
              </p:cNvPr>
              <p:cNvSpPr/>
              <p:nvPr/>
            </p:nvSpPr>
            <p:spPr>
              <a:xfrm>
                <a:off x="7705574" y="6004873"/>
                <a:ext cx="307209" cy="441689"/>
              </a:xfrm>
              <a:prstGeom prst="homePlate">
                <a:avLst/>
              </a:prstGeom>
              <a:solidFill>
                <a:srgbClr val="D5C6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de-CH" sz="800" dirty="0" err="1"/>
                  <a:t>Prio</a:t>
                </a:r>
                <a:endParaRPr lang="de-CH" sz="800" dirty="0"/>
              </a:p>
            </p:txBody>
          </p:sp>
        </p:grpSp>
      </p:grp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0FBC4C26-8627-3760-B44E-7B9C960073B7}"/>
              </a:ext>
            </a:extLst>
          </p:cNvPr>
          <p:cNvSpPr txBox="1">
            <a:spLocks/>
          </p:cNvSpPr>
          <p:nvPr/>
        </p:nvSpPr>
        <p:spPr>
          <a:xfrm>
            <a:off x="1202693" y="6560656"/>
            <a:ext cx="4114800" cy="2596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dirty="0"/>
              <a:t>Strategieumsetzung und Projektmanagement</a:t>
            </a:r>
            <a:endParaRPr lang="en-US" sz="800" dirty="0"/>
          </a:p>
        </p:txBody>
      </p:sp>
      <p:sp>
        <p:nvSpPr>
          <p:cNvPr id="40" name="Rechteck 8">
            <a:extLst>
              <a:ext uri="{FF2B5EF4-FFF2-40B4-BE49-F238E27FC236}">
                <a16:creationId xmlns:a16="http://schemas.microsoft.com/office/drawing/2014/main" id="{F974F596-26E5-0FB6-A00B-4D46D5D7061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7824237" y="4376270"/>
            <a:ext cx="1226897" cy="25189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5245" tIns="49528" rIns="95245" bIns="49528" anchor="ctr"/>
          <a:lstStyle/>
          <a:p>
            <a:pPr algn="ctr" eaLnBrk="0" hangingPunct="0">
              <a:spcAft>
                <a:spcPts val="800"/>
              </a:spcAft>
            </a:pPr>
            <a:r>
              <a:rPr lang="de-DE" sz="1067" dirty="0"/>
              <a:t>3. Projekt C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C75E18C-71CE-80D3-6449-95CD07008AAE}"/>
              </a:ext>
            </a:extLst>
          </p:cNvPr>
          <p:cNvSpPr/>
          <p:nvPr/>
        </p:nvSpPr>
        <p:spPr>
          <a:xfrm>
            <a:off x="9689984" y="4463841"/>
            <a:ext cx="82659" cy="828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39AD9A9-7C57-51A5-57BA-5539931F14FA}"/>
              </a:ext>
            </a:extLst>
          </p:cNvPr>
          <p:cNvSpPr/>
          <p:nvPr/>
        </p:nvSpPr>
        <p:spPr>
          <a:xfrm>
            <a:off x="9407136" y="4461791"/>
            <a:ext cx="82659" cy="828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D55CC8DD-BBBF-2CFA-34E0-C6BB800602B3}"/>
              </a:ext>
            </a:extLst>
          </p:cNvPr>
          <p:cNvSpPr/>
          <p:nvPr/>
        </p:nvSpPr>
        <p:spPr>
          <a:xfrm>
            <a:off x="9968393" y="4461791"/>
            <a:ext cx="82659" cy="828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2419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CBC42D3-2E05-C3B5-B913-65547EF93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C2C4-615D-439C-A171-285C1639F939}" type="datetime1">
              <a:rPr lang="de-CH" smtClean="0"/>
              <a:t>26.10.2026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3D3D08B-F057-13B1-F924-AB8DFCEA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00403" y="6598364"/>
            <a:ext cx="4114800" cy="123111"/>
          </a:xfrm>
        </p:spPr>
        <p:txBody>
          <a:bodyPr/>
          <a:lstStyle/>
          <a:p>
            <a:r>
              <a:rPr lang="de-DE"/>
              <a:t>Strategieumsetzung und Projektmanagement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6494E-D499-581E-0A36-0B1397AF9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2</a:t>
            </a:fld>
            <a:endParaRPr lang="en-US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40458FF-2B88-C7F6-E6A5-A77A451C3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Strategieumsetzung – Jährlicher Zyklus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D93BDA5-E5E6-E049-0022-87F3F66B0F40}"/>
              </a:ext>
            </a:extLst>
          </p:cNvPr>
          <p:cNvSpPr txBox="1"/>
          <p:nvPr/>
        </p:nvSpPr>
        <p:spPr>
          <a:xfrm>
            <a:off x="492161" y="135902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Prozess Sicht</a:t>
            </a:r>
          </a:p>
        </p:txBody>
      </p:sp>
      <p:sp>
        <p:nvSpPr>
          <p:cNvPr id="27" name="Pfeil: nach rechts 26">
            <a:extLst>
              <a:ext uri="{FF2B5EF4-FFF2-40B4-BE49-F238E27FC236}">
                <a16:creationId xmlns:a16="http://schemas.microsoft.com/office/drawing/2014/main" id="{5B798978-E1EF-82A3-656C-DFB990E2B302}"/>
              </a:ext>
            </a:extLst>
          </p:cNvPr>
          <p:cNvSpPr/>
          <p:nvPr/>
        </p:nvSpPr>
        <p:spPr>
          <a:xfrm rot="5400000">
            <a:off x="10191387" y="2432005"/>
            <a:ext cx="413729" cy="1160746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Pfeil: nach rechts 27">
            <a:extLst>
              <a:ext uri="{FF2B5EF4-FFF2-40B4-BE49-F238E27FC236}">
                <a16:creationId xmlns:a16="http://schemas.microsoft.com/office/drawing/2014/main" id="{655E3C69-341D-BC11-2AB2-96C951B3F4D7}"/>
              </a:ext>
            </a:extLst>
          </p:cNvPr>
          <p:cNvSpPr/>
          <p:nvPr/>
        </p:nvSpPr>
        <p:spPr>
          <a:xfrm rot="5400000">
            <a:off x="10179896" y="4016607"/>
            <a:ext cx="428693" cy="1160746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C8875C34-1F0D-2F46-0A43-C9B7A1F21E1E}"/>
              </a:ext>
            </a:extLst>
          </p:cNvPr>
          <p:cNvSpPr/>
          <p:nvPr/>
        </p:nvSpPr>
        <p:spPr>
          <a:xfrm>
            <a:off x="10243440" y="6114044"/>
            <a:ext cx="360000" cy="36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7534126F-6874-2B59-A62E-487FD15461CE}"/>
              </a:ext>
            </a:extLst>
          </p:cNvPr>
          <p:cNvGrpSpPr/>
          <p:nvPr/>
        </p:nvGrpSpPr>
        <p:grpSpPr>
          <a:xfrm>
            <a:off x="492161" y="1872580"/>
            <a:ext cx="2606234" cy="1488750"/>
            <a:chOff x="271670" y="2089401"/>
            <a:chExt cx="2606234" cy="1488750"/>
          </a:xfrm>
        </p:grpSpPr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2F738B8C-ABCF-3FA7-829F-21D647B1D0C5}"/>
                </a:ext>
              </a:extLst>
            </p:cNvPr>
            <p:cNvSpPr/>
            <p:nvPr/>
          </p:nvSpPr>
          <p:spPr>
            <a:xfrm>
              <a:off x="271670" y="2114906"/>
              <a:ext cx="2606234" cy="1463245"/>
            </a:xfrm>
            <a:prstGeom prst="roundRect">
              <a:avLst/>
            </a:prstGeom>
            <a:solidFill>
              <a:srgbClr val="D1B8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de-CH" sz="1200" b="1" dirty="0">
                  <a:solidFill>
                    <a:schemeClr val="accent4">
                      <a:lumMod val="10000"/>
                    </a:schemeClr>
                  </a:solidFill>
                </a:rPr>
                <a:t>Vorbereitung Umsetzung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Ziele in Massnahmen &amp; Verant-</a:t>
              </a:r>
              <a:r>
                <a:rPr lang="de-CH" sz="1000" dirty="0" err="1">
                  <a:solidFill>
                    <a:schemeClr val="accent4">
                      <a:lumMod val="10000"/>
                    </a:schemeClr>
                  </a:solidFill>
                </a:rPr>
                <a:t>wortlichkeiten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 festlegen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Projekte &amp; Metriken definieren</a:t>
              </a:r>
            </a:p>
            <a:p>
              <a:r>
                <a:rPr lang="de-CH" sz="1000" b="1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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 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Sicherstellen, dass alle Bereiche </a:t>
              </a:r>
              <a:b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</a:b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     mitziehen</a:t>
              </a:r>
            </a:p>
            <a:p>
              <a:r>
                <a:rPr lang="de-CH" sz="1000" b="1" dirty="0">
                  <a:solidFill>
                    <a:schemeClr val="accent4">
                      <a:lumMod val="10000"/>
                    </a:schemeClr>
                  </a:solidFill>
                </a:rPr>
                <a:t>Führung: 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GL mit </a:t>
              </a:r>
              <a:r>
                <a:rPr lang="de-CH" sz="1000" dirty="0" err="1">
                  <a:solidFill>
                    <a:schemeClr val="accent4">
                      <a:lumMod val="10000"/>
                    </a:schemeClr>
                  </a:solidFill>
                </a:rPr>
                <a:t>erw.Führungsteams</a:t>
              </a:r>
              <a:endParaRPr lang="de-CH" sz="1000" dirty="0">
                <a:solidFill>
                  <a:schemeClr val="accent4">
                    <a:lumMod val="10000"/>
                  </a:schemeClr>
                </a:solidFill>
              </a:endParaRPr>
            </a:p>
            <a:p>
              <a:r>
                <a:rPr lang="de-CH" sz="1000" b="1" dirty="0">
                  <a:solidFill>
                    <a:schemeClr val="accent4">
                      <a:lumMod val="10000"/>
                    </a:schemeClr>
                  </a:solidFill>
                </a:rPr>
                <a:t>Freigabe: 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GL</a:t>
              </a:r>
            </a:p>
          </p:txBody>
        </p:sp>
        <p:pic>
          <p:nvPicPr>
            <p:cNvPr id="31" name="Grafik 30" descr="Handschlag mit einfarbiger Füllung">
              <a:extLst>
                <a:ext uri="{FF2B5EF4-FFF2-40B4-BE49-F238E27FC236}">
                  <a16:creationId xmlns:a16="http://schemas.microsoft.com/office/drawing/2014/main" id="{B7FD9C32-027D-B652-8FC1-4C48CEF827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291769" y="2089401"/>
              <a:ext cx="541149" cy="541149"/>
            </a:xfrm>
            <a:prstGeom prst="rect">
              <a:avLst/>
            </a:prstGeom>
          </p:spPr>
        </p:pic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6FD8B8C7-3837-7FE8-181B-D6F209648ABC}"/>
              </a:ext>
            </a:extLst>
          </p:cNvPr>
          <p:cNvGrpSpPr/>
          <p:nvPr/>
        </p:nvGrpSpPr>
        <p:grpSpPr>
          <a:xfrm>
            <a:off x="552812" y="4312998"/>
            <a:ext cx="2503378" cy="1730537"/>
            <a:chOff x="332321" y="4444976"/>
            <a:chExt cx="2503378" cy="1730537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67C9C2FA-1475-F2F9-FE42-B8E9D59FA2B8}"/>
                </a:ext>
              </a:extLst>
            </p:cNvPr>
            <p:cNvSpPr/>
            <p:nvPr/>
          </p:nvSpPr>
          <p:spPr>
            <a:xfrm>
              <a:off x="332321" y="4444976"/>
              <a:ext cx="2503378" cy="1730537"/>
            </a:xfrm>
            <a:prstGeom prst="roundRect">
              <a:avLst/>
            </a:prstGeom>
            <a:solidFill>
              <a:srgbClr val="F1E4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de-CH" sz="1200" b="1" dirty="0">
                  <a:solidFill>
                    <a:schemeClr val="accent4">
                      <a:lumMod val="10000"/>
                    </a:schemeClr>
                  </a:solidFill>
                </a:rPr>
                <a:t>Zielsetzung</a:t>
              </a:r>
              <a:r>
                <a:rPr lang="de-CH" sz="1400" b="1" dirty="0">
                  <a:solidFill>
                    <a:schemeClr val="accent4">
                      <a:lumMod val="10000"/>
                    </a:schemeClr>
                  </a:solidFill>
                </a:rPr>
                <a:t> 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Schwerpunkte für das Jahr x+1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Kernziele (1-Jahresziele)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Neue Strategische Projekte </a:t>
              </a:r>
              <a:r>
                <a:rPr lang="de-CH" sz="1000" dirty="0" err="1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def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.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Abstimmung mit erweitertem Führungsteam</a:t>
              </a:r>
            </a:p>
            <a:p>
              <a:r>
                <a:rPr lang="de-CH" sz="1000" b="1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 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Input für Budget Prozess</a:t>
              </a:r>
            </a:p>
            <a:p>
              <a:endParaRPr lang="de-CH" sz="1000" b="1" dirty="0">
                <a:solidFill>
                  <a:schemeClr val="accent4">
                    <a:lumMod val="10000"/>
                  </a:schemeClr>
                </a:solidFill>
                <a:sym typeface="Wingdings" panose="05000000000000000000" pitchFamily="2" charset="2"/>
              </a:endParaRPr>
            </a:p>
            <a:p>
              <a:r>
                <a:rPr lang="de-CH" sz="1000" b="1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Führung: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 GL</a:t>
              </a:r>
            </a:p>
            <a:p>
              <a:r>
                <a:rPr lang="de-CH" sz="1000" b="1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Freigabe: 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VR</a:t>
              </a:r>
              <a:endParaRPr lang="de-CH" sz="1050" dirty="0">
                <a:solidFill>
                  <a:schemeClr val="accent4">
                    <a:lumMod val="10000"/>
                  </a:schemeClr>
                </a:solidFill>
              </a:endParaRPr>
            </a:p>
          </p:txBody>
        </p:sp>
        <p:pic>
          <p:nvPicPr>
            <p:cNvPr id="33" name="Grafik 32" descr="Volltreffer mit einfarbiger Füllung">
              <a:extLst>
                <a:ext uri="{FF2B5EF4-FFF2-40B4-BE49-F238E27FC236}">
                  <a16:creationId xmlns:a16="http://schemas.microsoft.com/office/drawing/2014/main" id="{A635C334-4C3B-9610-AB17-51AD76E9B7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39588" y="4444976"/>
              <a:ext cx="437142" cy="437142"/>
            </a:xfrm>
            <a:prstGeom prst="rect">
              <a:avLst/>
            </a:prstGeom>
          </p:spPr>
        </p:pic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B2386BE7-897D-CD37-0B78-3EF691350FF9}"/>
              </a:ext>
            </a:extLst>
          </p:cNvPr>
          <p:cNvGrpSpPr/>
          <p:nvPr/>
        </p:nvGrpSpPr>
        <p:grpSpPr>
          <a:xfrm>
            <a:off x="5876036" y="4470071"/>
            <a:ext cx="2431225" cy="1549557"/>
            <a:chOff x="5608410" y="4668038"/>
            <a:chExt cx="2431225" cy="1549557"/>
          </a:xfrm>
          <a:solidFill>
            <a:srgbClr val="D1B8C3"/>
          </a:solidFill>
        </p:grpSpPr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013BCF3B-5114-B877-5786-8DAE2B5EFF7A}"/>
                </a:ext>
              </a:extLst>
            </p:cNvPr>
            <p:cNvSpPr/>
            <p:nvPr/>
          </p:nvSpPr>
          <p:spPr>
            <a:xfrm>
              <a:off x="5608410" y="4668038"/>
              <a:ext cx="2431225" cy="154955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de-CH" sz="1200" b="1" dirty="0">
                  <a:solidFill>
                    <a:schemeClr val="accent4">
                      <a:lumMod val="10000"/>
                    </a:schemeClr>
                  </a:solidFill>
                </a:rPr>
                <a:t>Strategie Aktualisierung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Trends im Gesundheitswesen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Update Strategische Richtung</a:t>
              </a:r>
            </a:p>
            <a:p>
              <a:pPr marL="171450" indent="-171450">
                <a:buFont typeface="Wingdings" panose="05000000000000000000" pitchFamily="2" charset="2"/>
                <a:buChar char="à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Update Dreijahres Ziele </a:t>
              </a:r>
              <a:r>
                <a:rPr lang="de-CH" sz="900" dirty="0">
                  <a:solidFill>
                    <a:schemeClr val="accent4">
                      <a:lumMod val="10000"/>
                    </a:schemeClr>
                  </a:solidFill>
                  <a:sym typeface="Wingdings" panose="05000000000000000000" pitchFamily="2" charset="2"/>
                </a:rPr>
                <a:t>(falls nötig)</a:t>
              </a:r>
            </a:p>
            <a:p>
              <a:endParaRPr lang="de-CH" sz="1000" dirty="0">
                <a:solidFill>
                  <a:schemeClr val="accent4">
                    <a:lumMod val="10000"/>
                  </a:schemeClr>
                </a:solidFill>
              </a:endParaRPr>
            </a:p>
            <a:p>
              <a:r>
                <a:rPr lang="de-CH" sz="1000" b="1" dirty="0">
                  <a:solidFill>
                    <a:schemeClr val="accent4">
                      <a:lumMod val="10000"/>
                    </a:schemeClr>
                  </a:solidFill>
                </a:rPr>
                <a:t>Führung: 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VR in </a:t>
              </a:r>
              <a:r>
                <a:rPr lang="de-CH" sz="1000" dirty="0" err="1">
                  <a:solidFill>
                    <a:schemeClr val="accent4">
                      <a:lumMod val="10000"/>
                    </a:schemeClr>
                  </a:solidFill>
                </a:rPr>
                <a:t>Zus.Arbeit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 GL</a:t>
              </a:r>
            </a:p>
            <a:p>
              <a:r>
                <a:rPr lang="de-CH" sz="1000" b="1" dirty="0">
                  <a:solidFill>
                    <a:schemeClr val="accent4">
                      <a:lumMod val="10000"/>
                    </a:schemeClr>
                  </a:solidFill>
                </a:rPr>
                <a:t>Freigabe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: GL</a:t>
              </a:r>
            </a:p>
          </p:txBody>
        </p:sp>
        <p:pic>
          <p:nvPicPr>
            <p:cNvPr id="35" name="Grafik 34" descr="Playbook mit einfarbiger Füllung">
              <a:extLst>
                <a:ext uri="{FF2B5EF4-FFF2-40B4-BE49-F238E27FC236}">
                  <a16:creationId xmlns:a16="http://schemas.microsoft.com/office/drawing/2014/main" id="{126B3E86-3E99-B7BF-F893-43596B9E71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80411" y="4668038"/>
              <a:ext cx="540000" cy="540000"/>
            </a:xfrm>
            <a:prstGeom prst="rect">
              <a:avLst/>
            </a:prstGeom>
          </p:spPr>
        </p:pic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2D96BA32-6E77-16F6-79C5-391D232B418A}"/>
              </a:ext>
            </a:extLst>
          </p:cNvPr>
          <p:cNvGrpSpPr/>
          <p:nvPr/>
        </p:nvGrpSpPr>
        <p:grpSpPr>
          <a:xfrm>
            <a:off x="8740959" y="3268998"/>
            <a:ext cx="3294622" cy="1108358"/>
            <a:chOff x="8814951" y="3500929"/>
            <a:chExt cx="3107826" cy="1108358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71361E2D-1420-FA66-A594-F09B9B4DFE0E}"/>
                </a:ext>
              </a:extLst>
            </p:cNvPr>
            <p:cNvSpPr/>
            <p:nvPr/>
          </p:nvSpPr>
          <p:spPr>
            <a:xfrm>
              <a:off x="8814951" y="3500929"/>
              <a:ext cx="3090448" cy="104400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de-CH" sz="1200" b="1" dirty="0" err="1"/>
                <a:t>Quartaler</a:t>
              </a:r>
              <a:r>
                <a:rPr lang="de-CH" sz="1200" b="1" dirty="0"/>
                <a:t> Strategischer Review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/>
                <a:t>Fortschritt zur Strategie &amp; Zielen überprüfen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/>
                <a:t>Adjustieren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de-CH" sz="1000" dirty="0"/>
            </a:p>
            <a:p>
              <a:r>
                <a:rPr lang="de-CH" sz="1000" b="1" dirty="0"/>
                <a:t>Gremium: </a:t>
              </a:r>
              <a:r>
                <a:rPr lang="de-CH" sz="1000" dirty="0"/>
                <a:t>VR-Sitzung</a:t>
              </a:r>
            </a:p>
          </p:txBody>
        </p: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81983527-D143-FFBD-D203-98920EE00208}"/>
                </a:ext>
              </a:extLst>
            </p:cNvPr>
            <p:cNvGrpSpPr/>
            <p:nvPr/>
          </p:nvGrpSpPr>
          <p:grpSpPr>
            <a:xfrm>
              <a:off x="11192129" y="3878639"/>
              <a:ext cx="730648" cy="730648"/>
              <a:chOff x="7085288" y="5182367"/>
              <a:chExt cx="730648" cy="730648"/>
            </a:xfrm>
          </p:grpSpPr>
          <p:pic>
            <p:nvPicPr>
              <p:cNvPr id="37" name="Grafik 36" descr="Balkendiagramm mit Aufwärtstrend mit einfarbiger Füllung">
                <a:extLst>
                  <a:ext uri="{FF2B5EF4-FFF2-40B4-BE49-F238E27FC236}">
                    <a16:creationId xmlns:a16="http://schemas.microsoft.com/office/drawing/2014/main" id="{D613DC05-E74E-6337-D438-FEFFF0BF0F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320164" y="5282599"/>
                <a:ext cx="386743" cy="386743"/>
              </a:xfrm>
              <a:prstGeom prst="rect">
                <a:avLst/>
              </a:prstGeom>
            </p:spPr>
          </p:pic>
          <p:pic>
            <p:nvPicPr>
              <p:cNvPr id="45" name="Grafik 44" descr="Lupe mit einfarbiger Füllung">
                <a:extLst>
                  <a:ext uri="{FF2B5EF4-FFF2-40B4-BE49-F238E27FC236}">
                    <a16:creationId xmlns:a16="http://schemas.microsoft.com/office/drawing/2014/main" id="{495E2B47-3E01-B9E1-AE8A-AC26FF171A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7085288" y="5182367"/>
                <a:ext cx="730648" cy="730648"/>
              </a:xfrm>
              <a:prstGeom prst="rect">
                <a:avLst/>
              </a:prstGeom>
            </p:spPr>
          </p:pic>
        </p:grpSp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D19D8FD1-0A1C-00FE-CD0A-E7B1796424EC}"/>
              </a:ext>
            </a:extLst>
          </p:cNvPr>
          <p:cNvGrpSpPr/>
          <p:nvPr/>
        </p:nvGrpSpPr>
        <p:grpSpPr>
          <a:xfrm>
            <a:off x="8731937" y="1397981"/>
            <a:ext cx="3309394" cy="1335758"/>
            <a:chOff x="8775465" y="1949186"/>
            <a:chExt cx="3082647" cy="1210846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3" name="Rechteck: abgerundete Ecken 22">
              <a:extLst>
                <a:ext uri="{FF2B5EF4-FFF2-40B4-BE49-F238E27FC236}">
                  <a16:creationId xmlns:a16="http://schemas.microsoft.com/office/drawing/2014/main" id="{C19336A4-7F12-A8C5-1125-01B7C230DABB}"/>
                </a:ext>
              </a:extLst>
            </p:cNvPr>
            <p:cNvSpPr/>
            <p:nvPr/>
          </p:nvSpPr>
          <p:spPr>
            <a:xfrm>
              <a:off x="8775465" y="1949186"/>
              <a:ext cx="3051727" cy="1210846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de-CH" sz="1200" b="1" dirty="0">
                  <a:solidFill>
                    <a:schemeClr val="accent3">
                      <a:lumMod val="50000"/>
                    </a:schemeClr>
                  </a:solidFill>
                </a:rPr>
                <a:t>Monatlicher Operationeller Review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3">
                      <a:lumMod val="50000"/>
                    </a:schemeClr>
                  </a:solidFill>
                </a:rPr>
                <a:t>Priorisierung und Freigabe von Streams und Projekten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3">
                      <a:lumMod val="50000"/>
                    </a:schemeClr>
                  </a:solidFill>
                </a:rPr>
                <a:t>Abnahme von Meilensteinen &amp; Ergebnissen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3">
                      <a:lumMod val="50000"/>
                    </a:schemeClr>
                  </a:solidFill>
                </a:rPr>
                <a:t>Eskalationen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de-CH" sz="1000" dirty="0">
                <a:solidFill>
                  <a:schemeClr val="accent3">
                    <a:lumMod val="50000"/>
                  </a:schemeClr>
                </a:solidFill>
              </a:endParaRPr>
            </a:p>
            <a:p>
              <a:r>
                <a:rPr lang="de-CH" sz="1000" b="1" dirty="0">
                  <a:solidFill>
                    <a:schemeClr val="accent3">
                      <a:lumMod val="50000"/>
                    </a:schemeClr>
                  </a:solidFill>
                </a:rPr>
                <a:t>Gremium: </a:t>
              </a:r>
              <a:r>
                <a:rPr lang="de-CH" sz="1000" dirty="0" err="1">
                  <a:solidFill>
                    <a:schemeClr val="accent3">
                      <a:lumMod val="50000"/>
                    </a:schemeClr>
                  </a:solidFill>
                </a:rPr>
                <a:t>Prg</a:t>
              </a:r>
              <a:r>
                <a:rPr lang="de-CH" sz="1000" dirty="0">
                  <a:solidFill>
                    <a:schemeClr val="accent3">
                      <a:lumMod val="50000"/>
                    </a:schemeClr>
                  </a:solidFill>
                </a:rPr>
                <a:t>. Ausschuss – Transformation (PRAT) </a:t>
              </a:r>
            </a:p>
          </p:txBody>
        </p:sp>
        <p:pic>
          <p:nvPicPr>
            <p:cNvPr id="47" name="Grafik 46" descr="Prüfliste mit einfarbiger Füllung">
              <a:extLst>
                <a:ext uri="{FF2B5EF4-FFF2-40B4-BE49-F238E27FC236}">
                  <a16:creationId xmlns:a16="http://schemas.microsoft.com/office/drawing/2014/main" id="{F9AA59FD-52EB-E750-9FF6-C6EF7A8569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420951" y="2248665"/>
              <a:ext cx="437161" cy="437161"/>
            </a:xfrm>
            <a:prstGeom prst="rect">
              <a:avLst/>
            </a:prstGeom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CC586DDD-AE78-75C8-325D-13F068712B21}"/>
              </a:ext>
            </a:extLst>
          </p:cNvPr>
          <p:cNvGrpSpPr/>
          <p:nvPr/>
        </p:nvGrpSpPr>
        <p:grpSpPr>
          <a:xfrm>
            <a:off x="8766692" y="4888954"/>
            <a:ext cx="3255099" cy="1175785"/>
            <a:chOff x="8870672" y="4861074"/>
            <a:chExt cx="3070544" cy="1175785"/>
          </a:xfrm>
        </p:grpSpPr>
        <p:sp>
          <p:nvSpPr>
            <p:cNvPr id="26" name="Rechteck: abgerundete Ecken 25">
              <a:extLst>
                <a:ext uri="{FF2B5EF4-FFF2-40B4-BE49-F238E27FC236}">
                  <a16:creationId xmlns:a16="http://schemas.microsoft.com/office/drawing/2014/main" id="{76D0CB04-E6AC-1FE6-CC58-31101F90D0C3}"/>
                </a:ext>
              </a:extLst>
            </p:cNvPr>
            <p:cNvSpPr/>
            <p:nvPr/>
          </p:nvSpPr>
          <p:spPr>
            <a:xfrm>
              <a:off x="8870672" y="4861074"/>
              <a:ext cx="3070544" cy="1175785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de-CH" sz="1200" b="1" dirty="0"/>
                <a:t>Rückblick zum Jahresende (Q4)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/>
                <a:t>Ergebnisse und gewonnene </a:t>
              </a:r>
              <a:br>
                <a:rPr lang="de-CH" sz="1000" dirty="0"/>
              </a:br>
              <a:r>
                <a:rPr lang="de-CH" sz="1000" dirty="0"/>
                <a:t>Erkenntnisse auswerten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/>
                <a:t>Planung für den nächsten Zyklus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de-CH" sz="1000" dirty="0"/>
            </a:p>
            <a:p>
              <a:r>
                <a:rPr lang="de-CH" sz="1000" b="1" dirty="0"/>
                <a:t>Gremium: </a:t>
              </a:r>
              <a:r>
                <a:rPr lang="de-CH" sz="1000" dirty="0" err="1"/>
                <a:t>Prg.Ausschuss</a:t>
              </a:r>
              <a:r>
                <a:rPr lang="de-CH" sz="1000" dirty="0"/>
                <a:t>-Transformation (PRAT)</a:t>
              </a:r>
            </a:p>
          </p:txBody>
        </p:sp>
        <p:pic>
          <p:nvPicPr>
            <p:cNvPr id="49" name="Grafik 48" descr="Geschäftswachstum mit einfarbiger Füllung">
              <a:extLst>
                <a:ext uri="{FF2B5EF4-FFF2-40B4-BE49-F238E27FC236}">
                  <a16:creationId xmlns:a16="http://schemas.microsoft.com/office/drawing/2014/main" id="{FFE85815-261F-B532-A495-3B2BC8F293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278602" y="5232966"/>
              <a:ext cx="432000" cy="432000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CA90D7E-668F-6C27-9942-AF7333DC2CA7}"/>
              </a:ext>
            </a:extLst>
          </p:cNvPr>
          <p:cNvGrpSpPr/>
          <p:nvPr/>
        </p:nvGrpSpPr>
        <p:grpSpPr>
          <a:xfrm>
            <a:off x="2864184" y="2346174"/>
            <a:ext cx="3062480" cy="3062480"/>
            <a:chOff x="2599358" y="2422881"/>
            <a:chExt cx="3062480" cy="3062480"/>
          </a:xfrm>
        </p:grpSpPr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8883BBD2-EA52-614A-6F97-DEF5194B76BB}"/>
                </a:ext>
              </a:extLst>
            </p:cNvPr>
            <p:cNvSpPr/>
            <p:nvPr/>
          </p:nvSpPr>
          <p:spPr>
            <a:xfrm>
              <a:off x="2851992" y="2586684"/>
              <a:ext cx="2646042" cy="2646042"/>
            </a:xfrm>
            <a:custGeom>
              <a:avLst/>
              <a:gdLst>
                <a:gd name="connsiteX0" fmla="*/ 1323021 w 2646042"/>
                <a:gd name="connsiteY0" fmla="*/ 0 h 2646042"/>
                <a:gd name="connsiteX1" fmla="*/ 2646042 w 2646042"/>
                <a:gd name="connsiteY1" fmla="*/ 1323021 h 2646042"/>
                <a:gd name="connsiteX2" fmla="*/ 1323021 w 2646042"/>
                <a:gd name="connsiteY2" fmla="*/ 1323021 h 2646042"/>
                <a:gd name="connsiteX3" fmla="*/ 1323021 w 2646042"/>
                <a:gd name="connsiteY3" fmla="*/ 0 h 264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6042" h="2646042">
                  <a:moveTo>
                    <a:pt x="1323021" y="0"/>
                  </a:moveTo>
                  <a:cubicBezTo>
                    <a:pt x="2053705" y="0"/>
                    <a:pt x="2646042" y="592337"/>
                    <a:pt x="2646042" y="1323021"/>
                  </a:cubicBezTo>
                  <a:lnTo>
                    <a:pt x="1323021" y="1323021"/>
                  </a:lnTo>
                  <a:lnTo>
                    <a:pt x="1323021" y="0"/>
                  </a:lnTo>
                  <a:close/>
                </a:path>
              </a:pathLst>
            </a:custGeom>
            <a:solidFill>
              <a:srgbClr val="A895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shade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shade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63028" tIns="606844" rIns="323339" bIns="1431527" numCol="1" spcCol="1270" anchor="ctr" anchorCtr="0">
              <a:noAutofit/>
            </a:bodyPr>
            <a:lstStyle/>
            <a:p>
              <a:pPr marL="0" lvl="0" indent="0" algn="ctr" defTabSz="2044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4600" kern="1200" dirty="0">
                  <a:solidFill>
                    <a:schemeClr val="accent4">
                      <a:lumMod val="10000"/>
                    </a:schemeClr>
                  </a:solidFill>
                </a:rPr>
                <a:t>Q1</a:t>
              </a:r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2629545C-C37E-85C9-4648-356DB5E166DA}"/>
                </a:ext>
              </a:extLst>
            </p:cNvPr>
            <p:cNvSpPr/>
            <p:nvPr/>
          </p:nvSpPr>
          <p:spPr>
            <a:xfrm>
              <a:off x="2851992" y="2675515"/>
              <a:ext cx="2646042" cy="2646042"/>
            </a:xfrm>
            <a:custGeom>
              <a:avLst/>
              <a:gdLst>
                <a:gd name="connsiteX0" fmla="*/ 2646042 w 2646042"/>
                <a:gd name="connsiteY0" fmla="*/ 1323021 h 2646042"/>
                <a:gd name="connsiteX1" fmla="*/ 1323021 w 2646042"/>
                <a:gd name="connsiteY1" fmla="*/ 2646042 h 2646042"/>
                <a:gd name="connsiteX2" fmla="*/ 1323021 w 2646042"/>
                <a:gd name="connsiteY2" fmla="*/ 1323021 h 2646042"/>
                <a:gd name="connsiteX3" fmla="*/ 2646042 w 2646042"/>
                <a:gd name="connsiteY3" fmla="*/ 1323021 h 264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6042" h="2646042">
                  <a:moveTo>
                    <a:pt x="2646042" y="1323021"/>
                  </a:moveTo>
                  <a:cubicBezTo>
                    <a:pt x="2646042" y="2053705"/>
                    <a:pt x="2053705" y="2646042"/>
                    <a:pt x="1323021" y="2646042"/>
                  </a:cubicBezTo>
                  <a:lnTo>
                    <a:pt x="1323021" y="1323021"/>
                  </a:lnTo>
                  <a:lnTo>
                    <a:pt x="2646042" y="1323021"/>
                  </a:lnTo>
                  <a:close/>
                </a:path>
              </a:pathLst>
            </a:custGeom>
            <a:solidFill>
              <a:srgbClr val="D1B8C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shade val="50000"/>
                <a:hueOff val="19046"/>
                <a:satOff val="10790"/>
                <a:lumOff val="14990"/>
                <a:alphaOff val="0"/>
              </a:schemeClr>
            </a:fillRef>
            <a:effectRef idx="0">
              <a:schemeClr val="accent4">
                <a:shade val="50000"/>
                <a:hueOff val="19046"/>
                <a:satOff val="10790"/>
                <a:lumOff val="1499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63028" tIns="1431528" rIns="323339" bIns="606843" numCol="1" spcCol="1270" anchor="ctr" anchorCtr="0">
              <a:noAutofit/>
            </a:bodyPr>
            <a:lstStyle/>
            <a:p>
              <a:pPr marL="0" lvl="0" indent="0" algn="ctr" defTabSz="2044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4600" kern="1200" dirty="0">
                  <a:solidFill>
                    <a:schemeClr val="accent4">
                      <a:lumMod val="10000"/>
                    </a:schemeClr>
                  </a:solidFill>
                </a:rPr>
                <a:t>Q2</a:t>
              </a:r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8353F3C0-08DF-EC88-6A65-8772AB7D7E79}"/>
                </a:ext>
              </a:extLst>
            </p:cNvPr>
            <p:cNvSpPr/>
            <p:nvPr/>
          </p:nvSpPr>
          <p:spPr>
            <a:xfrm>
              <a:off x="2763161" y="2675515"/>
              <a:ext cx="2646042" cy="2646042"/>
            </a:xfrm>
            <a:custGeom>
              <a:avLst/>
              <a:gdLst>
                <a:gd name="connsiteX0" fmla="*/ 1323021 w 2646042"/>
                <a:gd name="connsiteY0" fmla="*/ 2646042 h 2646042"/>
                <a:gd name="connsiteX1" fmla="*/ 0 w 2646042"/>
                <a:gd name="connsiteY1" fmla="*/ 1323021 h 2646042"/>
                <a:gd name="connsiteX2" fmla="*/ 1323021 w 2646042"/>
                <a:gd name="connsiteY2" fmla="*/ 1323021 h 2646042"/>
                <a:gd name="connsiteX3" fmla="*/ 1323021 w 2646042"/>
                <a:gd name="connsiteY3" fmla="*/ 2646042 h 264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6042" h="2646042">
                  <a:moveTo>
                    <a:pt x="1323021" y="2646042"/>
                  </a:moveTo>
                  <a:cubicBezTo>
                    <a:pt x="592337" y="2646042"/>
                    <a:pt x="0" y="2053705"/>
                    <a:pt x="0" y="1323021"/>
                  </a:cubicBezTo>
                  <a:lnTo>
                    <a:pt x="1323021" y="1323021"/>
                  </a:lnTo>
                  <a:lnTo>
                    <a:pt x="1323021" y="2646042"/>
                  </a:lnTo>
                  <a:close/>
                </a:path>
              </a:pathLst>
            </a:custGeom>
            <a:solidFill>
              <a:srgbClr val="F1E4E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shade val="50000"/>
                <a:hueOff val="38091"/>
                <a:satOff val="21580"/>
                <a:lumOff val="29981"/>
                <a:alphaOff val="0"/>
              </a:schemeClr>
            </a:fillRef>
            <a:effectRef idx="0">
              <a:schemeClr val="accent4">
                <a:shade val="50000"/>
                <a:hueOff val="38091"/>
                <a:satOff val="21580"/>
                <a:lumOff val="29981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3339" tIns="1431528" rIns="1463028" bIns="606843" numCol="1" spcCol="1270" anchor="ctr" anchorCtr="0">
              <a:noAutofit/>
            </a:bodyPr>
            <a:lstStyle/>
            <a:p>
              <a:pPr marL="0" lvl="0" indent="0" algn="ctr" defTabSz="2044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4600" kern="1200" dirty="0">
                  <a:solidFill>
                    <a:schemeClr val="accent4">
                      <a:lumMod val="25000"/>
                    </a:schemeClr>
                  </a:solidFill>
                </a:rPr>
                <a:t>Q3</a:t>
              </a:r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56304A0D-AE12-EECC-B835-B7910E576C32}"/>
                </a:ext>
              </a:extLst>
            </p:cNvPr>
            <p:cNvSpPr/>
            <p:nvPr/>
          </p:nvSpPr>
          <p:spPr>
            <a:xfrm>
              <a:off x="2763161" y="2586684"/>
              <a:ext cx="2646042" cy="2646042"/>
            </a:xfrm>
            <a:custGeom>
              <a:avLst/>
              <a:gdLst>
                <a:gd name="connsiteX0" fmla="*/ 0 w 2646042"/>
                <a:gd name="connsiteY0" fmla="*/ 1323021 h 2646042"/>
                <a:gd name="connsiteX1" fmla="*/ 1323021 w 2646042"/>
                <a:gd name="connsiteY1" fmla="*/ 0 h 2646042"/>
                <a:gd name="connsiteX2" fmla="*/ 1323021 w 2646042"/>
                <a:gd name="connsiteY2" fmla="*/ 1323021 h 2646042"/>
                <a:gd name="connsiteX3" fmla="*/ 0 w 2646042"/>
                <a:gd name="connsiteY3" fmla="*/ 1323021 h 264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6042" h="2646042">
                  <a:moveTo>
                    <a:pt x="0" y="1323021"/>
                  </a:moveTo>
                  <a:cubicBezTo>
                    <a:pt x="0" y="592337"/>
                    <a:pt x="592337" y="0"/>
                    <a:pt x="1323021" y="0"/>
                  </a:cubicBezTo>
                  <a:lnTo>
                    <a:pt x="1323021" y="1323021"/>
                  </a:lnTo>
                  <a:lnTo>
                    <a:pt x="0" y="1323021"/>
                  </a:lnTo>
                  <a:close/>
                </a:path>
              </a:pathLst>
            </a:custGeom>
            <a:solidFill>
              <a:srgbClr val="D1B8C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shade val="50000"/>
                <a:hueOff val="19046"/>
                <a:satOff val="10790"/>
                <a:lumOff val="14990"/>
                <a:alphaOff val="0"/>
              </a:schemeClr>
            </a:fillRef>
            <a:effectRef idx="0">
              <a:schemeClr val="accent4">
                <a:shade val="50000"/>
                <a:hueOff val="19046"/>
                <a:satOff val="10790"/>
                <a:lumOff val="1499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3339" tIns="606844" rIns="1463028" bIns="1431527" numCol="1" spcCol="1270" anchor="ctr" anchorCtr="0">
              <a:noAutofit/>
            </a:bodyPr>
            <a:lstStyle/>
            <a:p>
              <a:pPr marL="0" lvl="0" indent="0" algn="ctr" defTabSz="2044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4600" kern="1200" dirty="0">
                  <a:solidFill>
                    <a:schemeClr val="accent4">
                      <a:lumMod val="10000"/>
                    </a:schemeClr>
                  </a:solidFill>
                </a:rPr>
                <a:t>Q4</a:t>
              </a:r>
            </a:p>
          </p:txBody>
        </p:sp>
        <p:sp>
          <p:nvSpPr>
            <p:cNvPr id="36" name="Pfeil: gebogen 35">
              <a:extLst>
                <a:ext uri="{FF2B5EF4-FFF2-40B4-BE49-F238E27FC236}">
                  <a16:creationId xmlns:a16="http://schemas.microsoft.com/office/drawing/2014/main" id="{3FF0B2D9-735E-AC0A-24D6-96FADDBFB7AC}"/>
                </a:ext>
              </a:extLst>
            </p:cNvPr>
            <p:cNvSpPr/>
            <p:nvPr/>
          </p:nvSpPr>
          <p:spPr>
            <a:xfrm>
              <a:off x="2688190" y="2422881"/>
              <a:ext cx="2973648" cy="2973648"/>
            </a:xfrm>
            <a:prstGeom prst="circularArrow">
              <a:avLst>
                <a:gd name="adj1" fmla="val 5085"/>
                <a:gd name="adj2" fmla="val 327528"/>
                <a:gd name="adj3" fmla="val 21272472"/>
                <a:gd name="adj4" fmla="val 16200000"/>
                <a:gd name="adj5" fmla="val 5932"/>
              </a:avLst>
            </a:prstGeom>
            <a:ln w="28575">
              <a:solidFill>
                <a:schemeClr val="bg1"/>
              </a:solidFill>
            </a:ln>
          </p:spPr>
          <p:style>
            <a:lnRef idx="0">
              <a:schemeClr val="accent4">
                <a:shade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shade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38" name="Pfeil: gebogen 37">
              <a:extLst>
                <a:ext uri="{FF2B5EF4-FFF2-40B4-BE49-F238E27FC236}">
                  <a16:creationId xmlns:a16="http://schemas.microsoft.com/office/drawing/2014/main" id="{9DDE6B99-2813-EC5D-1A2B-DF443A1C5AA0}"/>
                </a:ext>
              </a:extLst>
            </p:cNvPr>
            <p:cNvSpPr/>
            <p:nvPr/>
          </p:nvSpPr>
          <p:spPr>
            <a:xfrm>
              <a:off x="2688190" y="2511713"/>
              <a:ext cx="2973648" cy="2973648"/>
            </a:xfrm>
            <a:prstGeom prst="circularArrow">
              <a:avLst>
                <a:gd name="adj1" fmla="val 5085"/>
                <a:gd name="adj2" fmla="val 327528"/>
                <a:gd name="adj3" fmla="val 5072472"/>
                <a:gd name="adj4" fmla="val 0"/>
                <a:gd name="adj5" fmla="val 5932"/>
              </a:avLst>
            </a:prstGeom>
            <a:ln w="28575">
              <a:solidFill>
                <a:schemeClr val="bg1"/>
              </a:solidFill>
            </a:ln>
          </p:spPr>
          <p:style>
            <a:lnRef idx="0">
              <a:schemeClr val="accent4">
                <a:shade val="90000"/>
                <a:hueOff val="20717"/>
                <a:satOff val="3017"/>
                <a:lumOff val="5996"/>
                <a:alphaOff val="0"/>
              </a:schemeClr>
            </a:lnRef>
            <a:fillRef idx="1">
              <a:schemeClr val="accent4">
                <a:shade val="90000"/>
                <a:hueOff val="20717"/>
                <a:satOff val="3017"/>
                <a:lumOff val="5996"/>
                <a:alphaOff val="0"/>
              </a:schemeClr>
            </a:fillRef>
            <a:effectRef idx="0">
              <a:schemeClr val="accent4">
                <a:shade val="90000"/>
                <a:hueOff val="20717"/>
                <a:satOff val="3017"/>
                <a:lumOff val="599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39" name="Pfeil: gebogen 38">
              <a:extLst>
                <a:ext uri="{FF2B5EF4-FFF2-40B4-BE49-F238E27FC236}">
                  <a16:creationId xmlns:a16="http://schemas.microsoft.com/office/drawing/2014/main" id="{E230BA2F-C75A-93D5-4859-1E0A9EB0EE32}"/>
                </a:ext>
              </a:extLst>
            </p:cNvPr>
            <p:cNvSpPr/>
            <p:nvPr/>
          </p:nvSpPr>
          <p:spPr>
            <a:xfrm>
              <a:off x="2599358" y="2511713"/>
              <a:ext cx="2973648" cy="2973648"/>
            </a:xfrm>
            <a:prstGeom prst="circularArrow">
              <a:avLst>
                <a:gd name="adj1" fmla="val 5085"/>
                <a:gd name="adj2" fmla="val 327528"/>
                <a:gd name="adj3" fmla="val 10472472"/>
                <a:gd name="adj4" fmla="val 5400000"/>
                <a:gd name="adj5" fmla="val 5932"/>
              </a:avLst>
            </a:prstGeom>
            <a:ln w="28575">
              <a:solidFill>
                <a:schemeClr val="bg1"/>
              </a:solidFill>
            </a:ln>
          </p:spPr>
          <p:style>
            <a:lnRef idx="0">
              <a:schemeClr val="accent4">
                <a:shade val="90000"/>
                <a:hueOff val="41433"/>
                <a:satOff val="6034"/>
                <a:lumOff val="11991"/>
                <a:alphaOff val="0"/>
              </a:schemeClr>
            </a:lnRef>
            <a:fillRef idx="1">
              <a:schemeClr val="accent4">
                <a:shade val="90000"/>
                <a:hueOff val="41433"/>
                <a:satOff val="6034"/>
                <a:lumOff val="11991"/>
                <a:alphaOff val="0"/>
              </a:schemeClr>
            </a:fillRef>
            <a:effectRef idx="0">
              <a:schemeClr val="accent4">
                <a:shade val="90000"/>
                <a:hueOff val="41433"/>
                <a:satOff val="6034"/>
                <a:lumOff val="1199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40" name="Pfeil: gebogen 39">
              <a:extLst>
                <a:ext uri="{FF2B5EF4-FFF2-40B4-BE49-F238E27FC236}">
                  <a16:creationId xmlns:a16="http://schemas.microsoft.com/office/drawing/2014/main" id="{4C9A0C6C-2F5C-71FD-2687-0621CD8A1E4B}"/>
                </a:ext>
              </a:extLst>
            </p:cNvPr>
            <p:cNvSpPr/>
            <p:nvPr/>
          </p:nvSpPr>
          <p:spPr>
            <a:xfrm>
              <a:off x="2599358" y="2422881"/>
              <a:ext cx="2973648" cy="2973648"/>
            </a:xfrm>
            <a:prstGeom prst="circularArrow">
              <a:avLst>
                <a:gd name="adj1" fmla="val 5085"/>
                <a:gd name="adj2" fmla="val 327528"/>
                <a:gd name="adj3" fmla="val 15872472"/>
                <a:gd name="adj4" fmla="val 10800000"/>
                <a:gd name="adj5" fmla="val 5932"/>
              </a:avLst>
            </a:prstGeom>
            <a:ln w="28575">
              <a:solidFill>
                <a:schemeClr val="bg1"/>
              </a:solidFill>
            </a:ln>
          </p:spPr>
          <p:style>
            <a:lnRef idx="0">
              <a:schemeClr val="accent4">
                <a:shade val="90000"/>
                <a:hueOff val="20717"/>
                <a:satOff val="3017"/>
                <a:lumOff val="5996"/>
                <a:alphaOff val="0"/>
              </a:schemeClr>
            </a:lnRef>
            <a:fillRef idx="1">
              <a:schemeClr val="accent4">
                <a:shade val="90000"/>
                <a:hueOff val="20717"/>
                <a:satOff val="3017"/>
                <a:lumOff val="5996"/>
                <a:alphaOff val="0"/>
              </a:schemeClr>
            </a:fillRef>
            <a:effectRef idx="0">
              <a:schemeClr val="accent4">
                <a:shade val="90000"/>
                <a:hueOff val="20717"/>
                <a:satOff val="3017"/>
                <a:lumOff val="599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DF4C03A-8D62-62CD-1CE6-3302A2E8831E}"/>
              </a:ext>
            </a:extLst>
          </p:cNvPr>
          <p:cNvSpPr/>
          <p:nvPr/>
        </p:nvSpPr>
        <p:spPr>
          <a:xfrm>
            <a:off x="5898460" y="2658692"/>
            <a:ext cx="2431226" cy="988016"/>
          </a:xfrm>
          <a:prstGeom prst="roundRect">
            <a:avLst/>
          </a:prstGeom>
          <a:solidFill>
            <a:srgbClr val="D1B8C3"/>
          </a:solidFill>
          <a:ln>
            <a:solidFill>
              <a:srgbClr val="A8959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b="1" dirty="0">
                <a:solidFill>
                  <a:sysClr val="windowText" lastClr="000000"/>
                </a:solidFill>
              </a:rPr>
              <a:t>Vorbereitung Strategie Aktualisierung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000" dirty="0">
                <a:solidFill>
                  <a:sysClr val="windowText" lastClr="000000"/>
                </a:solidFill>
              </a:rPr>
              <a:t>Sammeln der Trends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000" dirty="0">
                <a:solidFill>
                  <a:sysClr val="windowText" lastClr="000000"/>
                </a:solidFill>
              </a:rPr>
              <a:t>PESTEL Analyse</a:t>
            </a:r>
          </a:p>
          <a:p>
            <a:r>
              <a:rPr lang="de-CH" sz="1100" b="1" dirty="0">
                <a:solidFill>
                  <a:sysClr val="windowText" lastClr="000000"/>
                </a:solidFill>
              </a:rPr>
              <a:t>Führung: </a:t>
            </a:r>
            <a:r>
              <a:rPr lang="de-CH" sz="1100" dirty="0">
                <a:solidFill>
                  <a:sysClr val="windowText" lastClr="000000"/>
                </a:solidFill>
              </a:rPr>
              <a:t>VR in </a:t>
            </a:r>
            <a:r>
              <a:rPr lang="de-CH" sz="1100" dirty="0" err="1">
                <a:solidFill>
                  <a:sysClr val="windowText" lastClr="000000"/>
                </a:solidFill>
              </a:rPr>
              <a:t>Zus.arbeit</a:t>
            </a:r>
            <a:r>
              <a:rPr lang="de-CH" sz="1100" dirty="0">
                <a:solidFill>
                  <a:sysClr val="windowText" lastClr="000000"/>
                </a:solidFill>
              </a:rPr>
              <a:t> GL/UE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C0CF7B2-790E-5669-2060-87EF0E687BB2}"/>
              </a:ext>
            </a:extLst>
          </p:cNvPr>
          <p:cNvGrpSpPr/>
          <p:nvPr/>
        </p:nvGrpSpPr>
        <p:grpSpPr>
          <a:xfrm>
            <a:off x="4914121" y="1494156"/>
            <a:ext cx="3756496" cy="919574"/>
            <a:chOff x="4914121" y="1494156"/>
            <a:chExt cx="3756496" cy="919574"/>
          </a:xfrm>
        </p:grpSpPr>
        <p:sp>
          <p:nvSpPr>
            <p:cNvPr id="21" name="Pfeil: Fünfeck 20">
              <a:extLst>
                <a:ext uri="{FF2B5EF4-FFF2-40B4-BE49-F238E27FC236}">
                  <a16:creationId xmlns:a16="http://schemas.microsoft.com/office/drawing/2014/main" id="{32C51E6B-4A6E-798B-BDD8-E1978EA98B5C}"/>
                </a:ext>
              </a:extLst>
            </p:cNvPr>
            <p:cNvSpPr/>
            <p:nvPr/>
          </p:nvSpPr>
          <p:spPr>
            <a:xfrm>
              <a:off x="4914121" y="1494156"/>
              <a:ext cx="3756496" cy="919574"/>
            </a:xfrm>
            <a:prstGeom prst="homePlate">
              <a:avLst>
                <a:gd name="adj" fmla="val 40662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de-CH" sz="1400" b="1" dirty="0">
                  <a:solidFill>
                    <a:schemeClr val="accent4">
                      <a:lumMod val="10000"/>
                    </a:schemeClr>
                  </a:solidFill>
                </a:rPr>
                <a:t>Start der Umsetzung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Finalisierung der Projekte &amp; KPIs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Interne Kommunikation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Überführen in PM / MAGs</a:t>
              </a:r>
            </a:p>
            <a:p>
              <a:r>
                <a:rPr lang="de-CH" sz="1000" b="1" dirty="0">
                  <a:solidFill>
                    <a:schemeClr val="accent4">
                      <a:lumMod val="10000"/>
                    </a:schemeClr>
                  </a:solidFill>
                </a:rPr>
                <a:t>Führung: </a:t>
              </a:r>
              <a:r>
                <a:rPr lang="de-CH" sz="1000" dirty="0" err="1">
                  <a:solidFill>
                    <a:schemeClr val="accent4">
                      <a:lumMod val="10000"/>
                    </a:schemeClr>
                  </a:solidFill>
                </a:rPr>
                <a:t>erw</a:t>
              </a:r>
              <a:r>
                <a:rPr lang="de-CH" sz="1000" dirty="0">
                  <a:solidFill>
                    <a:schemeClr val="accent4">
                      <a:lumMod val="10000"/>
                    </a:schemeClr>
                  </a:solidFill>
                </a:rPr>
                <a:t>. Führungsteams</a:t>
              </a:r>
            </a:p>
          </p:txBody>
        </p:sp>
        <p:pic>
          <p:nvPicPr>
            <p:cNvPr id="43" name="Grafik 42" descr="Ausführen mit einfarbiger Füllung">
              <a:extLst>
                <a:ext uri="{FF2B5EF4-FFF2-40B4-BE49-F238E27FC236}">
                  <a16:creationId xmlns:a16="http://schemas.microsoft.com/office/drawing/2014/main" id="{89FC1A90-F458-CF99-39C5-C8863BE804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43587" y="1757543"/>
              <a:ext cx="447919" cy="447919"/>
            </a:xfrm>
            <a:prstGeom prst="rect">
              <a:avLst/>
            </a:prstGeom>
          </p:spPr>
        </p:pic>
      </p:grpSp>
      <p:pic>
        <p:nvPicPr>
          <p:cNvPr id="9" name="Grafik 8" descr="Tools mit einfarbiger Füllung">
            <a:extLst>
              <a:ext uri="{FF2B5EF4-FFF2-40B4-BE49-F238E27FC236}">
                <a16:creationId xmlns:a16="http://schemas.microsoft.com/office/drawing/2014/main" id="{551F47A5-182D-E0BA-EEA5-125578264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71337" y="2774502"/>
            <a:ext cx="385482" cy="385482"/>
          </a:xfrm>
          <a:prstGeom prst="rect">
            <a:avLst/>
          </a:prstGeom>
        </p:spPr>
      </p:pic>
      <p:pic>
        <p:nvPicPr>
          <p:cNvPr id="11" name="Grafik 10" descr="Häkchen mit einfarbiger Füllung">
            <a:extLst>
              <a:ext uri="{FF2B5EF4-FFF2-40B4-BE49-F238E27FC236}">
                <a16:creationId xmlns:a16="http://schemas.microsoft.com/office/drawing/2014/main" id="{78B1A41E-DB6B-4F55-4B78-F3E8007A6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03148" y="5677918"/>
            <a:ext cx="484633" cy="48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7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D90AF-1DDB-48CC-BFC9-AFFE5F88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043CD089-D22A-2E5B-D219-3321B5FC4744}"/>
              </a:ext>
            </a:extLst>
          </p:cNvPr>
          <p:cNvSpPr txBox="1"/>
          <p:nvPr/>
        </p:nvSpPr>
        <p:spPr>
          <a:xfrm>
            <a:off x="1200756" y="1171355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Handlungsfeld 1  ·  Deep Dive Ziel K3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409A288-3233-3921-3C38-5AA27FA600FF}"/>
              </a:ext>
            </a:extLst>
          </p:cNvPr>
          <p:cNvSpPr/>
          <p:nvPr/>
        </p:nvSpPr>
        <p:spPr>
          <a:xfrm>
            <a:off x="8818038" y="122687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17B85E-D996-272A-348E-4F7E4C66B622}"/>
              </a:ext>
            </a:extLst>
          </p:cNvPr>
          <p:cNvSpPr txBox="1"/>
          <p:nvPr/>
        </p:nvSpPr>
        <p:spPr>
          <a:xfrm>
            <a:off x="9019206" y="111715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Strategische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2030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7BF0369-603A-C13A-FE82-D1F5194E7429}"/>
              </a:ext>
            </a:extLst>
          </p:cNvPr>
          <p:cNvSpPr/>
          <p:nvPr/>
        </p:nvSpPr>
        <p:spPr>
          <a:xfrm>
            <a:off x="10561320" y="1226878"/>
            <a:ext cx="128016" cy="128016"/>
          </a:xfrm>
          <a:prstGeom prst="ellipse">
            <a:avLst/>
          </a:prstGeom>
          <a:solidFill>
            <a:srgbClr val="B4700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A8C4C46-580D-7F3E-0BA8-5292B457C0CD}"/>
              </a:ext>
            </a:extLst>
          </p:cNvPr>
          <p:cNvSpPr/>
          <p:nvPr/>
        </p:nvSpPr>
        <p:spPr>
          <a:xfrm>
            <a:off x="457200" y="1477378"/>
            <a:ext cx="11247120" cy="0"/>
          </a:xfrm>
          <a:prstGeom prst="line">
            <a:avLst/>
          </a:prstGeom>
          <a:noFill/>
          <a:ln w="12700">
            <a:solidFill>
              <a:srgbClr val="D9DCE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7" name="Titel 4">
            <a:extLst>
              <a:ext uri="{FF2B5EF4-FFF2-40B4-BE49-F238E27FC236}">
                <a16:creationId xmlns:a16="http://schemas.microsoft.com/office/drawing/2014/main" id="{0F83038F-2E93-81F4-B253-B65D029F8DED}"/>
              </a:ext>
            </a:extLst>
          </p:cNvPr>
          <p:cNvSpPr txBox="1">
            <a:spLocks/>
          </p:cNvSpPr>
          <p:nvPr/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3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539750" algn="l"/>
              </a:tabLst>
            </a:pPr>
            <a:r>
              <a:rPr lang="de-CH" dirty="0"/>
              <a:t>	Mitarbeitende und Unternehmenskultur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5559DC4B-B047-081A-F375-35E62BA444DA}"/>
              </a:ext>
            </a:extLst>
          </p:cNvPr>
          <p:cNvSpPr/>
          <p:nvPr/>
        </p:nvSpPr>
        <p:spPr>
          <a:xfrm>
            <a:off x="457200" y="775766"/>
            <a:ext cx="480224" cy="48022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BDFFD3A2-F0C6-BE87-CDB8-E3FE99E89307}"/>
              </a:ext>
            </a:extLst>
          </p:cNvPr>
          <p:cNvSpPr txBox="1"/>
          <p:nvPr/>
        </p:nvSpPr>
        <p:spPr>
          <a:xfrm>
            <a:off x="10771830" y="111715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Jahresziele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2027</a:t>
            </a:r>
            <a:endParaRPr lang="en-US" sz="1050" dirty="0"/>
          </a:p>
        </p:txBody>
      </p:sp>
      <p:sp>
        <p:nvSpPr>
          <p:cNvPr id="127" name="Shape 11">
            <a:extLst>
              <a:ext uri="{FF2B5EF4-FFF2-40B4-BE49-F238E27FC236}">
                <a16:creationId xmlns:a16="http://schemas.microsoft.com/office/drawing/2014/main" id="{7A49BE1A-7294-934B-21BD-1F871552571E}"/>
              </a:ext>
            </a:extLst>
          </p:cNvPr>
          <p:cNvSpPr/>
          <p:nvPr/>
        </p:nvSpPr>
        <p:spPr>
          <a:xfrm>
            <a:off x="950976" y="3208936"/>
            <a:ext cx="2914147" cy="641067"/>
          </a:xfrm>
          <a:prstGeom prst="roundRect">
            <a:avLst>
              <a:gd name="adj" fmla="val 7843"/>
            </a:avLst>
          </a:prstGeom>
          <a:solidFill>
            <a:srgbClr val="E7ECF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9" name="Text 12">
            <a:extLst>
              <a:ext uri="{FF2B5EF4-FFF2-40B4-BE49-F238E27FC236}">
                <a16:creationId xmlns:a16="http://schemas.microsoft.com/office/drawing/2014/main" id="{BA4745D2-8479-4FB6-6BCE-37ADC7BD869B}"/>
              </a:ext>
            </a:extLst>
          </p:cNvPr>
          <p:cNvSpPr txBox="1"/>
          <p:nvPr/>
        </p:nvSpPr>
        <p:spPr>
          <a:xfrm>
            <a:off x="1115568" y="3258807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INTEGRITÄT LEBEN</a:t>
            </a:r>
            <a:endParaRPr lang="en-US" sz="1200" dirty="0"/>
          </a:p>
        </p:txBody>
      </p:sp>
      <p:sp>
        <p:nvSpPr>
          <p:cNvPr id="131" name="Text 13">
            <a:extLst>
              <a:ext uri="{FF2B5EF4-FFF2-40B4-BE49-F238E27FC236}">
                <a16:creationId xmlns:a16="http://schemas.microsoft.com/office/drawing/2014/main" id="{321E13B8-40EF-422E-F521-F70C038792BB}"/>
              </a:ext>
            </a:extLst>
          </p:cNvPr>
          <p:cNvSpPr txBox="1"/>
          <p:nvPr/>
        </p:nvSpPr>
        <p:spPr>
          <a:xfrm>
            <a:off x="1115568" y="3457316"/>
            <a:ext cx="2529062" cy="366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de-DE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Regeln werden verstanden und konsequent eingehalten.</a:t>
            </a:r>
            <a:endParaRPr lang="en-US" sz="1100" dirty="0"/>
          </a:p>
        </p:txBody>
      </p:sp>
      <p:sp>
        <p:nvSpPr>
          <p:cNvPr id="133" name="Text 14">
            <a:extLst>
              <a:ext uri="{FF2B5EF4-FFF2-40B4-BE49-F238E27FC236}">
                <a16:creationId xmlns:a16="http://schemas.microsoft.com/office/drawing/2014/main" id="{B568FC63-B5FC-3F91-2D47-AE362F563574}"/>
              </a:ext>
            </a:extLst>
          </p:cNvPr>
          <p:cNvSpPr txBox="1"/>
          <p:nvPr/>
        </p:nvSpPr>
        <p:spPr>
          <a:xfrm>
            <a:off x="3910975" y="3208936"/>
            <a:ext cx="292608" cy="641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5" name="Shape 15">
            <a:extLst>
              <a:ext uri="{FF2B5EF4-FFF2-40B4-BE49-F238E27FC236}">
                <a16:creationId xmlns:a16="http://schemas.microsoft.com/office/drawing/2014/main" id="{BA2226B6-4258-17BB-B414-DA872292B0B2}"/>
              </a:ext>
            </a:extLst>
          </p:cNvPr>
          <p:cNvSpPr/>
          <p:nvPr/>
        </p:nvSpPr>
        <p:spPr>
          <a:xfrm>
            <a:off x="4254978" y="3208936"/>
            <a:ext cx="2392257" cy="641064"/>
          </a:xfrm>
          <a:prstGeom prst="roundRect">
            <a:avLst>
              <a:gd name="adj" fmla="val 7843"/>
            </a:avLst>
          </a:prstGeom>
          <a:solidFill>
            <a:srgbClr val="FBEFD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7" name="Text 16">
            <a:extLst>
              <a:ext uri="{FF2B5EF4-FFF2-40B4-BE49-F238E27FC236}">
                <a16:creationId xmlns:a16="http://schemas.microsoft.com/office/drawing/2014/main" id="{567ACD8D-56FC-1C4E-464F-BD2B2E22CFD6}"/>
              </a:ext>
            </a:extLst>
          </p:cNvPr>
          <p:cNvSpPr txBox="1"/>
          <p:nvPr/>
        </p:nvSpPr>
        <p:spPr>
          <a:xfrm>
            <a:off x="4395932" y="3258807"/>
            <a:ext cx="21799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7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K3.1 </a:t>
            </a:r>
            <a:r>
              <a:rPr lang="en-US" sz="1200" b="1" kern="0" spc="100" dirty="0" err="1">
                <a:solidFill>
                  <a:srgbClr val="B47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Weisungen</a:t>
            </a:r>
            <a:r>
              <a:rPr lang="en-US" sz="1200" b="1" kern="0" spc="100" dirty="0">
                <a:solidFill>
                  <a:srgbClr val="B47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100" dirty="0" err="1">
                <a:solidFill>
                  <a:srgbClr val="B47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umsetzen</a:t>
            </a:r>
            <a:endParaRPr lang="en-US" sz="1200" dirty="0"/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C8F891BD-A615-2D0D-CD5D-A5BE88EE6C56}"/>
              </a:ext>
            </a:extLst>
          </p:cNvPr>
          <p:cNvSpPr txBox="1"/>
          <p:nvPr/>
        </p:nvSpPr>
        <p:spPr>
          <a:xfrm>
            <a:off x="4395932" y="3463569"/>
            <a:ext cx="2179966" cy="223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E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Compliance-</a:t>
            </a:r>
            <a:r>
              <a:rPr lang="en-US" sz="1100" dirty="0" err="1">
                <a:solidFill>
                  <a:srgbClr val="3E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Weisungen</a:t>
            </a:r>
            <a:r>
              <a:rPr lang="en-US" sz="1100" dirty="0">
                <a:solidFill>
                  <a:srgbClr val="3E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E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verbindlich</a:t>
            </a:r>
            <a:r>
              <a:rPr lang="en-US" sz="1100" dirty="0">
                <a:solidFill>
                  <a:srgbClr val="3E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E2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einführen</a:t>
            </a:r>
            <a:endParaRPr lang="en-US" sz="1100" dirty="0"/>
          </a:p>
        </p:txBody>
      </p:sp>
      <p:sp>
        <p:nvSpPr>
          <p:cNvPr id="141" name="Ellipse 140">
            <a:extLst>
              <a:ext uri="{FF2B5EF4-FFF2-40B4-BE49-F238E27FC236}">
                <a16:creationId xmlns:a16="http://schemas.microsoft.com/office/drawing/2014/main" id="{1BAB6AA3-839C-2059-4E21-1CEBCE27D707}"/>
              </a:ext>
            </a:extLst>
          </p:cNvPr>
          <p:cNvSpPr/>
          <p:nvPr/>
        </p:nvSpPr>
        <p:spPr>
          <a:xfrm>
            <a:off x="469008" y="3307057"/>
            <a:ext cx="380939" cy="38093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06AFBA55-3AA5-6700-5544-62F67494DB16}"/>
              </a:ext>
            </a:extLst>
          </p:cNvPr>
          <p:cNvSpPr txBox="1"/>
          <p:nvPr/>
        </p:nvSpPr>
        <p:spPr>
          <a:xfrm flipH="1">
            <a:off x="436583" y="3329987"/>
            <a:ext cx="473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K3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F4211D70-EEB5-501C-97DE-1822B70BF708}"/>
              </a:ext>
            </a:extLst>
          </p:cNvPr>
          <p:cNvSpPr txBox="1">
            <a:spLocks/>
          </p:cNvSpPr>
          <p:nvPr/>
        </p:nvSpPr>
        <p:spPr>
          <a:xfrm>
            <a:off x="1195607" y="6552969"/>
            <a:ext cx="4114800" cy="18288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dirty="0"/>
              <a:t>VR - Roadmap 2030 und Ziele 2027</a:t>
            </a:r>
            <a:endParaRPr lang="en-US" sz="8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29569B0C-DC18-EB57-88E5-2703E471AD41}"/>
              </a:ext>
            </a:extLst>
          </p:cNvPr>
          <p:cNvSpPr/>
          <p:nvPr/>
        </p:nvSpPr>
        <p:spPr>
          <a:xfrm>
            <a:off x="950975" y="3958956"/>
            <a:ext cx="2914147" cy="910490"/>
          </a:xfrm>
          <a:prstGeom prst="roundRect">
            <a:avLst>
              <a:gd name="adj" fmla="val 7843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de-CH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9E481506-3CCB-D816-1014-C30677F7D566}"/>
              </a:ext>
            </a:extLst>
          </p:cNvPr>
          <p:cNvSpPr txBox="1"/>
          <p:nvPr/>
        </p:nvSpPr>
        <p:spPr>
          <a:xfrm>
            <a:off x="1115568" y="3996971"/>
            <a:ext cx="2529062" cy="767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de-DE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Insel Gruppe verfügt über eine </a:t>
            </a:r>
            <a:r>
              <a:rPr lang="de-DE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gelebte Compliance- und Integritätskultur</a:t>
            </a:r>
            <a:r>
              <a:rPr lang="de-DE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Regeln sind klar, bekannt und werden konsequent eingehalten.</a:t>
            </a:r>
            <a:endParaRPr lang="en-US" sz="11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652AD650-FA75-6A70-47C1-BACA2E239E66}"/>
              </a:ext>
            </a:extLst>
          </p:cNvPr>
          <p:cNvSpPr/>
          <p:nvPr/>
        </p:nvSpPr>
        <p:spPr>
          <a:xfrm>
            <a:off x="4254978" y="3958956"/>
            <a:ext cx="2392257" cy="910490"/>
          </a:xfrm>
          <a:prstGeom prst="roundRect">
            <a:avLst>
              <a:gd name="adj" fmla="val 7843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de-CH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8FCED290-3B49-ADFE-BE2D-6ACE7892E2E7}"/>
              </a:ext>
            </a:extLst>
          </p:cNvPr>
          <p:cNvSpPr txBox="1"/>
          <p:nvPr/>
        </p:nvSpPr>
        <p:spPr>
          <a:xfrm>
            <a:off x="4419571" y="3996972"/>
            <a:ext cx="2227664" cy="76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de-DE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neuen Weisungen </a:t>
            </a:r>
            <a:r>
              <a:rPr lang="de-DE" sz="11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Weisungen</a:t>
            </a:r>
            <a:r>
              <a:rPr lang="de-DE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de-DE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de-DE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 </a:t>
            </a:r>
            <a:r>
              <a:rPr lang="de-DE" sz="11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</a:t>
            </a:r>
            <a:r>
              <a:rPr lang="de-DE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Kraft (IK/NB/Spesen &amp; Fonds).</a:t>
            </a:r>
            <a:endParaRPr lang="en-US" sz="110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0AD9B4DF-B780-0D6E-A008-57409D715529}"/>
              </a:ext>
            </a:extLst>
          </p:cNvPr>
          <p:cNvSpPr/>
          <p:nvPr/>
        </p:nvSpPr>
        <p:spPr>
          <a:xfrm>
            <a:off x="7037091" y="3958956"/>
            <a:ext cx="2392257" cy="910490"/>
          </a:xfrm>
          <a:prstGeom prst="roundRect">
            <a:avLst>
              <a:gd name="adj" fmla="val 7843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de-CH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65AB83CC-6A8F-81CA-4991-1CFFA4CE25CB}"/>
              </a:ext>
            </a:extLst>
          </p:cNvPr>
          <p:cNvSpPr txBox="1"/>
          <p:nvPr/>
        </p:nvSpPr>
        <p:spPr>
          <a:xfrm>
            <a:off x="7201684" y="3996972"/>
            <a:ext cx="2114196" cy="76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de-DE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Compliance Sensibilisierung und Schulung am "Leadership Onboarding" Programm sowie am Lehrgang Leadership</a:t>
            </a:r>
            <a:endParaRPr lang="en-US" sz="1100" dirty="0"/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922A3696-BAC6-37A1-886E-6150AF41258C}"/>
              </a:ext>
            </a:extLst>
          </p:cNvPr>
          <p:cNvSpPr/>
          <p:nvPr/>
        </p:nvSpPr>
        <p:spPr>
          <a:xfrm>
            <a:off x="9819205" y="3958956"/>
            <a:ext cx="1833048" cy="910490"/>
          </a:xfrm>
          <a:prstGeom prst="roundRect">
            <a:avLst>
              <a:gd name="adj" fmla="val 7843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de-CH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2A1591BE-254C-529C-4BCC-89963C520B30}"/>
              </a:ext>
            </a:extLst>
          </p:cNvPr>
          <p:cNvSpPr txBox="1"/>
          <p:nvPr/>
        </p:nvSpPr>
        <p:spPr>
          <a:xfrm>
            <a:off x="9983797" y="3996972"/>
            <a:ext cx="1257228" cy="76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de-DE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/ NB &amp; Spesenreglement</a:t>
            </a:r>
            <a:endParaRPr lang="en-US" sz="1100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0FF7DE0B-50B7-1E64-2BF2-3AE7CDAC5E2C}"/>
              </a:ext>
            </a:extLst>
          </p:cNvPr>
          <p:cNvSpPr/>
          <p:nvPr/>
        </p:nvSpPr>
        <p:spPr>
          <a:xfrm>
            <a:off x="4254978" y="5128149"/>
            <a:ext cx="7397274" cy="910490"/>
          </a:xfrm>
          <a:prstGeom prst="roundRect">
            <a:avLst>
              <a:gd name="adj" fmla="val 7843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de-CH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3B75BFB-CAB5-525B-57D1-E11A07D8A19A}"/>
              </a:ext>
            </a:extLst>
          </p:cNvPr>
          <p:cNvSpPr txBox="1"/>
          <p:nvPr/>
        </p:nvSpPr>
        <p:spPr>
          <a:xfrm>
            <a:off x="4419571" y="5166165"/>
            <a:ext cx="2227664" cy="767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de-DE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Weisung in Kraft ja/nein</a:t>
            </a:r>
            <a:endParaRPr lang="en-US" sz="1100" dirty="0"/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A03B7F2F-77D9-FF51-E053-2182C3A1EC71}"/>
              </a:ext>
            </a:extLst>
          </p:cNvPr>
          <p:cNvCxnSpPr>
            <a:cxnSpLocks/>
          </p:cNvCxnSpPr>
          <p:nvPr/>
        </p:nvCxnSpPr>
        <p:spPr>
          <a:xfrm flipH="1">
            <a:off x="634468" y="3668541"/>
            <a:ext cx="18035" cy="2370098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3">
            <a:extLst>
              <a:ext uri="{FF2B5EF4-FFF2-40B4-BE49-F238E27FC236}">
                <a16:creationId xmlns:a16="http://schemas.microsoft.com/office/drawing/2014/main" id="{E064DE57-3321-87B1-5734-C883F44FCE33}"/>
              </a:ext>
            </a:extLst>
          </p:cNvPr>
          <p:cNvSpPr txBox="1"/>
          <p:nvPr/>
        </p:nvSpPr>
        <p:spPr>
          <a:xfrm>
            <a:off x="950975" y="2674919"/>
            <a:ext cx="2914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Strategisches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Ziel 2030</a:t>
            </a:r>
            <a:endParaRPr lang="en-US" sz="1400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D4C4BF07-5180-974E-0A08-35F5BA1A7417}"/>
              </a:ext>
            </a:extLst>
          </p:cNvPr>
          <p:cNvSpPr txBox="1"/>
          <p:nvPr/>
        </p:nvSpPr>
        <p:spPr>
          <a:xfrm>
            <a:off x="4254978" y="2674919"/>
            <a:ext cx="2392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Jahresziel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2027</a:t>
            </a:r>
            <a:endParaRPr lang="en-US" sz="1400" dirty="0"/>
          </a:p>
        </p:txBody>
      </p:sp>
      <p:sp>
        <p:nvSpPr>
          <p:cNvPr id="58" name="Text 3">
            <a:extLst>
              <a:ext uri="{FF2B5EF4-FFF2-40B4-BE49-F238E27FC236}">
                <a16:creationId xmlns:a16="http://schemas.microsoft.com/office/drawing/2014/main" id="{2B0775A3-440F-C427-5194-D16D94EFEE57}"/>
              </a:ext>
            </a:extLst>
          </p:cNvPr>
          <p:cNvSpPr txBox="1"/>
          <p:nvPr/>
        </p:nvSpPr>
        <p:spPr>
          <a:xfrm>
            <a:off x="7037090" y="2674919"/>
            <a:ext cx="2392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Hauptaktivitäten</a:t>
            </a:r>
            <a:endParaRPr lang="en-US" sz="1400" dirty="0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190FCD9D-1B20-D4D3-BF70-359805D8FBB4}"/>
              </a:ext>
            </a:extLst>
          </p:cNvPr>
          <p:cNvSpPr txBox="1"/>
          <p:nvPr/>
        </p:nvSpPr>
        <p:spPr>
          <a:xfrm>
            <a:off x="9819203" y="2674919"/>
            <a:ext cx="183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</a:t>
            </a:r>
            <a:endParaRPr lang="en-US" sz="1400" dirty="0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14F05DA1-0D2A-CD81-BF2D-E2E550D2DFF8}"/>
              </a:ext>
            </a:extLst>
          </p:cNvPr>
          <p:cNvSpPr txBox="1"/>
          <p:nvPr/>
        </p:nvSpPr>
        <p:spPr>
          <a:xfrm>
            <a:off x="2126780" y="5125210"/>
            <a:ext cx="17383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6905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243ED50-BE89-DF02-674A-8CBB90DAB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6BBE39-B059-46B4-9E94-40E43501EE7D}" type="datetime1">
              <a:rPr kumimoji="0" lang="de-CH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26.10.2026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2A5C08B-7251-144B-9919-8A12B0AA2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Strategieumsetzung und Projektmanagement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4E7E47-1403-B337-EA41-0AC9B4E3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202F54-BD24-4091-80C5-A159FB9A23AA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39E6345-931B-D755-33BB-B59C204DD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Portfolios und Rollen</a:t>
            </a:r>
            <a:endParaRPr lang="de-CH" dirty="0">
              <a:solidFill>
                <a:srgbClr val="FF0000"/>
              </a:solidFill>
            </a:endParaRP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054FC194-C632-5B0A-4286-717A4406C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878470"/>
              </p:ext>
            </p:extLst>
          </p:nvPr>
        </p:nvGraphicFramePr>
        <p:xfrm>
          <a:off x="539748" y="1331416"/>
          <a:ext cx="11110913" cy="49773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8958">
                  <a:extLst>
                    <a:ext uri="{9D8B030D-6E8A-4147-A177-3AD203B41FA5}">
                      <a16:colId xmlns:a16="http://schemas.microsoft.com/office/drawing/2014/main" val="980383452"/>
                    </a:ext>
                  </a:extLst>
                </a:gridCol>
                <a:gridCol w="1601822">
                  <a:extLst>
                    <a:ext uri="{9D8B030D-6E8A-4147-A177-3AD203B41FA5}">
                      <a16:colId xmlns:a16="http://schemas.microsoft.com/office/drawing/2014/main" val="3330433584"/>
                    </a:ext>
                  </a:extLst>
                </a:gridCol>
                <a:gridCol w="1452663">
                  <a:extLst>
                    <a:ext uri="{9D8B030D-6E8A-4147-A177-3AD203B41FA5}">
                      <a16:colId xmlns:a16="http://schemas.microsoft.com/office/drawing/2014/main" val="2074846575"/>
                    </a:ext>
                  </a:extLst>
                </a:gridCol>
                <a:gridCol w="1446179">
                  <a:extLst>
                    <a:ext uri="{9D8B030D-6E8A-4147-A177-3AD203B41FA5}">
                      <a16:colId xmlns:a16="http://schemas.microsoft.com/office/drawing/2014/main" val="3860776801"/>
                    </a:ext>
                  </a:extLst>
                </a:gridCol>
                <a:gridCol w="1439694">
                  <a:extLst>
                    <a:ext uri="{9D8B030D-6E8A-4147-A177-3AD203B41FA5}">
                      <a16:colId xmlns:a16="http://schemas.microsoft.com/office/drawing/2014/main" val="1294408683"/>
                    </a:ext>
                  </a:extLst>
                </a:gridCol>
                <a:gridCol w="4711597">
                  <a:extLst>
                    <a:ext uri="{9D8B030D-6E8A-4147-A177-3AD203B41FA5}">
                      <a16:colId xmlns:a16="http://schemas.microsoft.com/office/drawing/2014/main" val="1652702376"/>
                    </a:ext>
                  </a:extLst>
                </a:gridCol>
              </a:tblGrid>
              <a:tr h="511002">
                <a:tc>
                  <a:txBody>
                    <a:bodyPr/>
                    <a:lstStyle/>
                    <a:p>
                      <a:pPr marL="71755" marR="71755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 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>
                          <a:effectLst/>
                        </a:rPr>
                        <a:t>Rolle</a:t>
                      </a:r>
                      <a:endParaRPr lang="de-CH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Strategisches </a:t>
                      </a:r>
                      <a:br>
                        <a:rPr lang="de-CH" sz="1200" dirty="0">
                          <a:effectLst/>
                        </a:rPr>
                      </a:br>
                      <a:r>
                        <a:rPr lang="de-CH" sz="1200" dirty="0">
                          <a:effectLst/>
                        </a:rPr>
                        <a:t>Transformations-portfolio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Taktisch / </a:t>
                      </a:r>
                      <a:br>
                        <a:rPr lang="de-CH" sz="1200" dirty="0">
                          <a:effectLst/>
                        </a:rPr>
                      </a:br>
                      <a:r>
                        <a:rPr lang="de-CH" sz="1200" dirty="0">
                          <a:effectLst/>
                        </a:rPr>
                        <a:t>operatives </a:t>
                      </a:r>
                      <a:br>
                        <a:rPr lang="de-CH" sz="1200" dirty="0">
                          <a:effectLst/>
                        </a:rPr>
                      </a:br>
                      <a:r>
                        <a:rPr lang="de-CH" sz="1200" dirty="0">
                          <a:effectLst/>
                        </a:rPr>
                        <a:t>Portfolio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Operatives </a:t>
                      </a:r>
                      <a:br>
                        <a:rPr lang="de-CH" sz="1200" dirty="0">
                          <a:effectLst/>
                        </a:rPr>
                      </a:br>
                      <a:r>
                        <a:rPr lang="de-CH" sz="1200" dirty="0">
                          <a:effectLst/>
                        </a:rPr>
                        <a:t>Portfolio der </a:t>
                      </a:r>
                      <a:br>
                        <a:rPr lang="de-CH" sz="1200" dirty="0">
                          <a:effectLst/>
                        </a:rPr>
                      </a:br>
                      <a:r>
                        <a:rPr lang="de-CH" sz="1200" dirty="0">
                          <a:effectLst/>
                        </a:rPr>
                        <a:t>Direktionen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99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Verantwortlichkeit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0810193"/>
                  </a:ext>
                </a:extLst>
              </a:tr>
              <a:tr h="511002">
                <a:tc rowSpan="5">
                  <a:txBody>
                    <a:bodyPr/>
                    <a:lstStyle/>
                    <a:p>
                      <a:pPr marL="71755" marR="71755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de-CH" sz="1200">
                          <a:effectLst/>
                        </a:rPr>
                        <a:t>Ebene Programm</a:t>
                      </a:r>
                      <a:endParaRPr lang="de-CH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Programm-</a:t>
                      </a:r>
                      <a:br>
                        <a:rPr lang="de-CH" sz="1200" dirty="0">
                          <a:effectLst/>
                        </a:rPr>
                      </a:br>
                      <a:r>
                        <a:rPr lang="de-CH" sz="1200" dirty="0" err="1">
                          <a:effectLst/>
                        </a:rPr>
                        <a:t>auftraggeber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VR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Portfolio-Steuerung durch GL</a:t>
                      </a:r>
                      <a:endParaRPr lang="de-CH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Portfolio-</a:t>
                      </a:r>
                      <a:br>
                        <a:rPr lang="de-CH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</a:br>
                      <a:r>
                        <a:rPr lang="de-CH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Steuerung durch </a:t>
                      </a:r>
                      <a:br>
                        <a:rPr lang="de-CH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</a:br>
                      <a:r>
                        <a:rPr lang="de-CH" sz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Direktionen</a:t>
                      </a:r>
                      <a:endParaRPr lang="de-CH" sz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strategische Aufsicht über das Transformationsprogramm; stellt Ausrichtung an Unternehmensstrategie sicher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613517"/>
                  </a:ext>
                </a:extLst>
              </a:tr>
              <a:tr h="34066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SNS (VR-Ausschuss)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>
                          <a:effectLst/>
                        </a:rPr>
                        <a:t>SNS</a:t>
                      </a:r>
                      <a:endParaRPr lang="de-CH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Schnittstelle zwischen PRAT und Auftraggeber (VR)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039138"/>
                  </a:ext>
                </a:extLst>
              </a:tr>
              <a:tr h="511002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Programmausschuss </a:t>
                      </a:r>
                      <a:br>
                        <a:rPr lang="de-CH" sz="1200" dirty="0">
                          <a:effectLst/>
                        </a:rPr>
                      </a:br>
                      <a:r>
                        <a:rPr lang="de-CH" sz="1200" dirty="0">
                          <a:effectLst/>
                        </a:rPr>
                        <a:t>Transformation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PRAT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steuert das strategische Projektportfolio; entscheidet über Prioritäten, Freigaben und Eskalationen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244941"/>
                  </a:ext>
                </a:extLst>
              </a:tr>
              <a:tr h="34066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Programmsponsor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CEO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>
                          <a:effectLst/>
                        </a:rPr>
                        <a:t>operative Gesamtverantwortung für das Programm</a:t>
                      </a:r>
                      <a:endParaRPr lang="de-CH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400061"/>
                  </a:ext>
                </a:extLst>
              </a:tr>
              <a:tr h="511002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Programmleitung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UE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führt und steuert das Transformationsprogramm operativ; bereitet Entscheidungsgrundlagen vor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415449"/>
                  </a:ext>
                </a:extLst>
              </a:tr>
              <a:tr h="511002">
                <a:tc rowSpan="5">
                  <a:txBody>
                    <a:bodyPr/>
                    <a:lstStyle/>
                    <a:p>
                      <a:pPr marL="71755" marR="71755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de-CH" sz="1200">
                          <a:effectLst/>
                        </a:rPr>
                        <a:t>Ebene Projekte</a:t>
                      </a:r>
                      <a:endParaRPr lang="de-CH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Projektauftraggeber und -sponsor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GL-Mitglied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GL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Direktion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FD0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vertritt das Projekt in der Linie, sichert strategische Verankerung, unterstützt bei Entscheidungen und Eskalationen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36500"/>
                  </a:ext>
                </a:extLst>
              </a:tr>
              <a:tr h="511002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Projektleitung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PL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PL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PL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FD0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plant, führt und steuert das Projekt; verantwortet die </a:t>
                      </a:r>
                      <a:br>
                        <a:rPr lang="de-CH" sz="1200" dirty="0">
                          <a:effectLst/>
                        </a:rPr>
                      </a:br>
                      <a:r>
                        <a:rPr lang="de-CH" sz="1200" dirty="0">
                          <a:effectLst/>
                        </a:rPr>
                        <a:t>Erreichung der Projektziele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035509"/>
                  </a:ext>
                </a:extLst>
              </a:tr>
              <a:tr h="511002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Clinical Transformation Lead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CTL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Bei Bedarf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Bei Bedarf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FD0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verantwortet die fachlich-klinische Zielerreichung; stellt die Berücksichtigung klinischer Anforderungen sicher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653238"/>
                  </a:ext>
                </a:extLst>
              </a:tr>
              <a:tr h="34066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Kernteam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KT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KT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KT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FD0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leitet Teilprojekte oder einzelne Projektkomponenten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587141"/>
                  </a:ext>
                </a:extLst>
              </a:tr>
              <a:tr h="34066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Projektmitarbeitende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PM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PM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PM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FD0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0"/>
                        </a:spcBef>
                        <a:spcAft>
                          <a:spcPts val="230"/>
                        </a:spcAft>
                        <a:buNone/>
                      </a:pPr>
                      <a:r>
                        <a:rPr lang="de-CH" sz="1200" dirty="0">
                          <a:effectLst/>
                        </a:rPr>
                        <a:t>erarbeiten und realisieren die Projektlieferergebnisse</a:t>
                      </a:r>
                      <a:endParaRPr lang="de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42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488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A2B5F-DF34-1EF6-DBA7-45A450190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407E1B6-9B0D-865A-F879-85443169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04419" y="6598364"/>
            <a:ext cx="1136809" cy="12311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C276FD-9F68-4E41-8C68-C8E3F49D2330}" type="datetime1">
              <a:rPr kumimoji="0" lang="de-CH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26.10.2026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6001133-EE44-4A4D-7FBD-1ACCC997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Strategieumsetzung und Projektmanagement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C50CB6-82A6-34A3-E725-8BB3CD6C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228" y="6598364"/>
            <a:ext cx="309600" cy="12311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202F54-BD24-4091-80C5-A159FB9A23AA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71C3795-6C75-28D1-003C-D03C5ACA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Organisationsstruktur &amp; Projekt Organisation</a:t>
            </a:r>
            <a:endParaRPr lang="de-CH" b="0" dirty="0"/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605CA14-AEEF-292B-DA18-8EB1AE7FBE3C}"/>
              </a:ext>
            </a:extLst>
          </p:cNvPr>
          <p:cNvCxnSpPr>
            <a:cxnSpLocks/>
            <a:endCxn id="105" idx="2"/>
          </p:cNvCxnSpPr>
          <p:nvPr/>
        </p:nvCxnSpPr>
        <p:spPr>
          <a:xfrm flipV="1">
            <a:off x="5657312" y="3738433"/>
            <a:ext cx="0" cy="495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hteck 52">
            <a:extLst>
              <a:ext uri="{FF2B5EF4-FFF2-40B4-BE49-F238E27FC236}">
                <a16:creationId xmlns:a16="http://schemas.microsoft.com/office/drawing/2014/main" id="{174FB8B2-9CE6-11E7-F0AF-79842E9C0187}"/>
              </a:ext>
            </a:extLst>
          </p:cNvPr>
          <p:cNvSpPr/>
          <p:nvPr/>
        </p:nvSpPr>
        <p:spPr>
          <a:xfrm>
            <a:off x="4631608" y="2737836"/>
            <a:ext cx="2052523" cy="44992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Programm-Sponsor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(CEO)</a:t>
            </a: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A49E113A-05C7-95B6-3F92-37155DB3E7CF}"/>
              </a:ext>
            </a:extLst>
          </p:cNvPr>
          <p:cNvCxnSpPr>
            <a:cxnSpLocks/>
            <a:stCxn id="53" idx="0"/>
            <a:endCxn id="44" idx="2"/>
          </p:cNvCxnSpPr>
          <p:nvPr/>
        </p:nvCxnSpPr>
        <p:spPr>
          <a:xfrm flipH="1" flipV="1">
            <a:off x="5657312" y="2644308"/>
            <a:ext cx="558" cy="93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833EF05E-953D-5F04-7C89-92CD76BCD983}"/>
              </a:ext>
            </a:extLst>
          </p:cNvPr>
          <p:cNvSpPr/>
          <p:nvPr/>
        </p:nvSpPr>
        <p:spPr>
          <a:xfrm>
            <a:off x="4631050" y="1926937"/>
            <a:ext cx="2052523" cy="717371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chemeClr val="accent3">
                  <a:lumMod val="75000"/>
                </a:schemeClr>
              </a:gs>
            </a:gsLst>
            <a:lin ang="5400000" scaled="1"/>
          </a:gradFill>
          <a:ln>
            <a:solidFill>
              <a:schemeClr val="tx2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Programmausschuss Transformation PRAT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(GL)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5396D951-F32A-CE22-8E0F-7D4E34D2E799}"/>
              </a:ext>
            </a:extLst>
          </p:cNvPr>
          <p:cNvSpPr/>
          <p:nvPr/>
        </p:nvSpPr>
        <p:spPr>
          <a:xfrm>
            <a:off x="8701691" y="4074830"/>
            <a:ext cx="939091" cy="358010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accent3">
                <a:lumMod val="50000"/>
                <a:alpha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Projekt Leitung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Projekt B</a:t>
            </a:r>
          </a:p>
        </p:txBody>
      </p:sp>
      <p:sp>
        <p:nvSpPr>
          <p:cNvPr id="173" name="Rechteck 172">
            <a:extLst>
              <a:ext uri="{FF2B5EF4-FFF2-40B4-BE49-F238E27FC236}">
                <a16:creationId xmlns:a16="http://schemas.microsoft.com/office/drawing/2014/main" id="{F9C63C20-6A0A-4423-F362-272433009998}"/>
              </a:ext>
            </a:extLst>
          </p:cNvPr>
          <p:cNvSpPr/>
          <p:nvPr/>
        </p:nvSpPr>
        <p:spPr>
          <a:xfrm>
            <a:off x="8701692" y="4515164"/>
            <a:ext cx="939090" cy="358011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accent3">
                <a:lumMod val="50000"/>
                <a:alpha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Projekt Leitung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Projekt C</a:t>
            </a:r>
          </a:p>
        </p:txBody>
      </p:sp>
      <p:cxnSp>
        <p:nvCxnSpPr>
          <p:cNvPr id="179" name="Verbinder: gewinkelt 178">
            <a:extLst>
              <a:ext uri="{FF2B5EF4-FFF2-40B4-BE49-F238E27FC236}">
                <a16:creationId xmlns:a16="http://schemas.microsoft.com/office/drawing/2014/main" id="{DEE7F29B-FB3C-8BF0-FF84-88CE8DBDC38F}"/>
              </a:ext>
            </a:extLst>
          </p:cNvPr>
          <p:cNvCxnSpPr>
            <a:cxnSpLocks/>
            <a:stCxn id="105" idx="2"/>
            <a:endCxn id="63" idx="0"/>
          </p:cNvCxnSpPr>
          <p:nvPr/>
        </p:nvCxnSpPr>
        <p:spPr>
          <a:xfrm rot="16200000" flipH="1">
            <a:off x="7246076" y="2149668"/>
            <a:ext cx="336397" cy="351392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Gerader Verbinder 179">
            <a:extLst>
              <a:ext uri="{FF2B5EF4-FFF2-40B4-BE49-F238E27FC236}">
                <a16:creationId xmlns:a16="http://schemas.microsoft.com/office/drawing/2014/main" id="{CEC2B37E-8CB1-0A9D-B7FF-E21705FF7D7E}"/>
              </a:ext>
            </a:extLst>
          </p:cNvPr>
          <p:cNvCxnSpPr>
            <a:cxnSpLocks/>
            <a:stCxn id="173" idx="0"/>
            <a:endCxn id="63" idx="2"/>
          </p:cNvCxnSpPr>
          <p:nvPr/>
        </p:nvCxnSpPr>
        <p:spPr>
          <a:xfrm flipV="1">
            <a:off x="9171237" y="4432840"/>
            <a:ext cx="0" cy="82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458DB0C8-EFAC-8885-D032-FA2AF162D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166" y="4082821"/>
            <a:ext cx="5229591" cy="1453084"/>
          </a:xfrm>
          <a:prstGeom prst="rect">
            <a:avLst/>
          </a:prstGeom>
        </p:spPr>
      </p:pic>
      <p:sp>
        <p:nvSpPr>
          <p:cNvPr id="40" name="Stern: 5 Zacken 39">
            <a:extLst>
              <a:ext uri="{FF2B5EF4-FFF2-40B4-BE49-F238E27FC236}">
                <a16:creationId xmlns:a16="http://schemas.microsoft.com/office/drawing/2014/main" id="{D9B4D101-A8CC-3C3A-6628-FB4F92AA8060}"/>
              </a:ext>
            </a:extLst>
          </p:cNvPr>
          <p:cNvSpPr/>
          <p:nvPr/>
        </p:nvSpPr>
        <p:spPr>
          <a:xfrm>
            <a:off x="7408014" y="3942746"/>
            <a:ext cx="288000" cy="288000"/>
          </a:xfrm>
          <a:prstGeom prst="star5">
            <a:avLst>
              <a:gd name="adj" fmla="val 22332"/>
              <a:gd name="hf" fmla="val 105146"/>
              <a:gd name="vf" fmla="val 110557"/>
            </a:avLst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C10232A-6140-5D60-C457-2641401CD988}"/>
              </a:ext>
            </a:extLst>
          </p:cNvPr>
          <p:cNvSpPr/>
          <p:nvPr/>
        </p:nvSpPr>
        <p:spPr>
          <a:xfrm>
            <a:off x="8714506" y="4975154"/>
            <a:ext cx="939090" cy="358011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accent3">
                <a:lumMod val="50000"/>
                <a:alpha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Projekt Leitung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Projekt D</a:t>
            </a: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2BF64637-09FC-A775-1B09-1629AA04DDEA}"/>
              </a:ext>
            </a:extLst>
          </p:cNvPr>
          <p:cNvCxnSpPr>
            <a:cxnSpLocks/>
          </p:cNvCxnSpPr>
          <p:nvPr/>
        </p:nvCxnSpPr>
        <p:spPr>
          <a:xfrm flipV="1">
            <a:off x="9191557" y="4890040"/>
            <a:ext cx="0" cy="82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feld 65">
            <a:extLst>
              <a:ext uri="{FF2B5EF4-FFF2-40B4-BE49-F238E27FC236}">
                <a16:creationId xmlns:a16="http://schemas.microsoft.com/office/drawing/2014/main" id="{B7DAA510-FAD6-417F-B94E-AD317E02E5D7}"/>
              </a:ext>
            </a:extLst>
          </p:cNvPr>
          <p:cNvSpPr txBox="1"/>
          <p:nvPr/>
        </p:nvSpPr>
        <p:spPr>
          <a:xfrm>
            <a:off x="6164784" y="5713393"/>
            <a:ext cx="2609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«Clinical Transformation Lead»:</a:t>
            </a:r>
            <a:r>
              <a:rPr lang="de-CH" sz="1000" dirty="0">
                <a:solidFill>
                  <a:srgbClr val="000000"/>
                </a:solidFill>
                <a:latin typeface="Arial"/>
              </a:rPr>
              <a:t> </a:t>
            </a:r>
            <a:br>
              <a:rPr lang="de-CH" sz="1000" dirty="0">
                <a:solidFill>
                  <a:srgbClr val="000000"/>
                </a:solidFill>
                <a:latin typeface="Arial"/>
              </a:rPr>
            </a:b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End-to-End Verantwortung der klinischen </a:t>
            </a:r>
            <a:b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und organisatorischen Lösung.</a:t>
            </a:r>
          </a:p>
        </p:txBody>
      </p: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CA5B2483-F818-3696-BEA3-1A39C6599C10}"/>
              </a:ext>
            </a:extLst>
          </p:cNvPr>
          <p:cNvCxnSpPr>
            <a:cxnSpLocks/>
          </p:cNvCxnSpPr>
          <p:nvPr/>
        </p:nvCxnSpPr>
        <p:spPr>
          <a:xfrm flipV="1">
            <a:off x="5621759" y="3755613"/>
            <a:ext cx="0" cy="3272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80F77432-9679-EB13-2FD0-66D40925E997}"/>
              </a:ext>
            </a:extLst>
          </p:cNvPr>
          <p:cNvGrpSpPr/>
          <p:nvPr/>
        </p:nvGrpSpPr>
        <p:grpSpPr>
          <a:xfrm>
            <a:off x="3160293" y="5757182"/>
            <a:ext cx="2315804" cy="246221"/>
            <a:chOff x="9554092" y="2865106"/>
            <a:chExt cx="2315804" cy="246221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C90C45F5-C36E-99A1-B3DD-293E3946B9EC}"/>
                </a:ext>
              </a:extLst>
            </p:cNvPr>
            <p:cNvCxnSpPr>
              <a:cxnSpLocks/>
            </p:cNvCxnSpPr>
            <p:nvPr/>
          </p:nvCxnSpPr>
          <p:spPr>
            <a:xfrm>
              <a:off x="9554092" y="2988216"/>
              <a:ext cx="34134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0A244181-E442-5A02-9CC8-E214DFCDBC96}"/>
                </a:ext>
              </a:extLst>
            </p:cNvPr>
            <p:cNvSpPr txBox="1"/>
            <p:nvPr/>
          </p:nvSpPr>
          <p:spPr>
            <a:xfrm>
              <a:off x="9925133" y="2865106"/>
              <a:ext cx="19447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Umsetzung der Transformation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85D1F0D4-61B0-7723-2AED-C4CAD76665EA}"/>
              </a:ext>
            </a:extLst>
          </p:cNvPr>
          <p:cNvGrpSpPr/>
          <p:nvPr/>
        </p:nvGrpSpPr>
        <p:grpSpPr>
          <a:xfrm>
            <a:off x="3160293" y="5982271"/>
            <a:ext cx="2685199" cy="246221"/>
            <a:chOff x="9554092" y="3090195"/>
            <a:chExt cx="2685199" cy="246221"/>
          </a:xfrm>
        </p:grpSpPr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E0BC7D8E-4F0F-1590-FA2F-0B7DD66B3D2D}"/>
                </a:ext>
              </a:extLst>
            </p:cNvPr>
            <p:cNvSpPr txBox="1"/>
            <p:nvPr/>
          </p:nvSpPr>
          <p:spPr>
            <a:xfrm>
              <a:off x="9937058" y="3090195"/>
              <a:ext cx="23022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Funktionierende Versorgungslösung</a:t>
              </a:r>
            </a:p>
          </p:txBody>
        </p:sp>
        <p:cxnSp>
          <p:nvCxnSpPr>
            <p:cNvPr id="74" name="Gerader Verbinder 73">
              <a:extLst>
                <a:ext uri="{FF2B5EF4-FFF2-40B4-BE49-F238E27FC236}">
                  <a16:creationId xmlns:a16="http://schemas.microsoft.com/office/drawing/2014/main" id="{23DCD30C-8515-1B72-26E7-D2996FCF615F}"/>
                </a:ext>
              </a:extLst>
            </p:cNvPr>
            <p:cNvCxnSpPr>
              <a:cxnSpLocks/>
            </p:cNvCxnSpPr>
            <p:nvPr/>
          </p:nvCxnSpPr>
          <p:spPr>
            <a:xfrm>
              <a:off x="9554092" y="3205087"/>
              <a:ext cx="35111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Rechteck 88">
            <a:extLst>
              <a:ext uri="{FF2B5EF4-FFF2-40B4-BE49-F238E27FC236}">
                <a16:creationId xmlns:a16="http://schemas.microsoft.com/office/drawing/2014/main" id="{2C657356-8FB1-EF36-D022-DB9634BFF833}"/>
              </a:ext>
            </a:extLst>
          </p:cNvPr>
          <p:cNvSpPr/>
          <p:nvPr/>
        </p:nvSpPr>
        <p:spPr>
          <a:xfrm>
            <a:off x="3249668" y="3870480"/>
            <a:ext cx="1487166" cy="36843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Projekt-Sponsor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(Mitglied der GL)</a:t>
            </a:r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CF689B27-9869-D39C-6CB5-F4F7D0DEB9F6}"/>
              </a:ext>
            </a:extLst>
          </p:cNvPr>
          <p:cNvSpPr/>
          <p:nvPr/>
        </p:nvSpPr>
        <p:spPr>
          <a:xfrm>
            <a:off x="4631050" y="1334754"/>
            <a:ext cx="2052523" cy="498236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2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Programm-Auftraggeber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 i="1" dirty="0">
                <a:solidFill>
                  <a:schemeClr val="bg1"/>
                </a:solidFill>
                <a:latin typeface="Arial"/>
              </a:rPr>
              <a:t>(</a:t>
            </a:r>
            <a:r>
              <a:rPr kumimoji="0" lang="de-CH" sz="12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Verwaltungsrat)</a:t>
            </a:r>
          </a:p>
        </p:txBody>
      </p: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E237758A-84BB-06F7-E53D-03B11F3D9E9F}"/>
              </a:ext>
            </a:extLst>
          </p:cNvPr>
          <p:cNvCxnSpPr>
            <a:cxnSpLocks/>
            <a:stCxn id="44" idx="0"/>
            <a:endCxn id="92" idx="2"/>
          </p:cNvCxnSpPr>
          <p:nvPr/>
        </p:nvCxnSpPr>
        <p:spPr>
          <a:xfrm flipV="1">
            <a:off x="5657312" y="1832990"/>
            <a:ext cx="0" cy="93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hteck 104">
            <a:extLst>
              <a:ext uri="{FF2B5EF4-FFF2-40B4-BE49-F238E27FC236}">
                <a16:creationId xmlns:a16="http://schemas.microsoft.com/office/drawing/2014/main" id="{B2463BAB-10B5-DEB3-594E-9734B3DC6F23}"/>
              </a:ext>
            </a:extLst>
          </p:cNvPr>
          <p:cNvSpPr/>
          <p:nvPr/>
        </p:nvSpPr>
        <p:spPr>
          <a:xfrm>
            <a:off x="4631050" y="3288513"/>
            <a:ext cx="2052523" cy="44992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2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Programmleitung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lang="de-CH" sz="1200" i="1" dirty="0">
                <a:solidFill>
                  <a:srgbClr val="FFFFFF"/>
                </a:solidFill>
                <a:latin typeface="Arial"/>
              </a:rPr>
              <a:t>UE</a:t>
            </a:r>
            <a:r>
              <a:rPr kumimoji="0" lang="de-CH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119" name="Stern: 5 Zacken 118">
            <a:extLst>
              <a:ext uri="{FF2B5EF4-FFF2-40B4-BE49-F238E27FC236}">
                <a16:creationId xmlns:a16="http://schemas.microsoft.com/office/drawing/2014/main" id="{177759E1-6165-510C-E056-782219E55C10}"/>
              </a:ext>
            </a:extLst>
          </p:cNvPr>
          <p:cNvSpPr/>
          <p:nvPr/>
        </p:nvSpPr>
        <p:spPr>
          <a:xfrm>
            <a:off x="5883659" y="5691999"/>
            <a:ext cx="288000" cy="288000"/>
          </a:xfrm>
          <a:prstGeom prst="star5">
            <a:avLst>
              <a:gd name="adj" fmla="val 22332"/>
              <a:gd name="hf" fmla="val 105146"/>
              <a:gd name="vf" fmla="val 110557"/>
            </a:avLst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" name="Rechteck: abgerundete Ecken 120">
            <a:extLst>
              <a:ext uri="{FF2B5EF4-FFF2-40B4-BE49-F238E27FC236}">
                <a16:creationId xmlns:a16="http://schemas.microsoft.com/office/drawing/2014/main" id="{AEEAB330-2FC8-FAB2-766E-23AABBF4D031}"/>
              </a:ext>
            </a:extLst>
          </p:cNvPr>
          <p:cNvSpPr/>
          <p:nvPr/>
        </p:nvSpPr>
        <p:spPr>
          <a:xfrm>
            <a:off x="2631965" y="1334754"/>
            <a:ext cx="307571" cy="2403677"/>
          </a:xfrm>
          <a:prstGeom prst="roundRect">
            <a:avLst>
              <a:gd name="adj" fmla="val 29856"/>
            </a:avLst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 b="1" dirty="0">
                <a:solidFill>
                  <a:srgbClr val="FFFFFF"/>
                </a:solidFill>
                <a:latin typeface="Arial"/>
              </a:rPr>
              <a:t>Programm</a:t>
            </a:r>
            <a:endParaRPr kumimoji="0" lang="de-CH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" name="Rechteck: abgerundete Ecken 123">
            <a:extLst>
              <a:ext uri="{FF2B5EF4-FFF2-40B4-BE49-F238E27FC236}">
                <a16:creationId xmlns:a16="http://schemas.microsoft.com/office/drawing/2014/main" id="{634ACEAB-761A-F38C-E1CB-C28DE2E96084}"/>
              </a:ext>
            </a:extLst>
          </p:cNvPr>
          <p:cNvSpPr/>
          <p:nvPr/>
        </p:nvSpPr>
        <p:spPr>
          <a:xfrm>
            <a:off x="2631965" y="3852138"/>
            <a:ext cx="307571" cy="1683768"/>
          </a:xfrm>
          <a:prstGeom prst="roundRect">
            <a:avLst>
              <a:gd name="adj" fmla="val 29856"/>
            </a:avLst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 b="1" dirty="0">
                <a:solidFill>
                  <a:srgbClr val="FFFFFF"/>
                </a:solidFill>
                <a:latin typeface="Arial"/>
              </a:rPr>
              <a:t>Projekte</a:t>
            </a:r>
            <a:endParaRPr kumimoji="0" lang="de-CH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641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39DC5B-CF90-FB3B-F5AE-38DF01CE8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004363-0A97-41D9-B333-732709882DC5}" type="datetime1">
              <a:rPr kumimoji="0" lang="de-CH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26.10.2026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3CC69A-D94B-08DB-4529-0D6BAF6C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Strategieumsetzung und Projektmanagement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2DCD02-8B0A-D250-A953-92F55E995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202F54-BD24-4091-80C5-A159FB9A23AA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9E40FD0-5333-2429-5A19-659084BA7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6" y="1426210"/>
            <a:ext cx="11110914" cy="789115"/>
          </a:xfrm>
        </p:spPr>
        <p:txBody>
          <a:bodyPr/>
          <a:lstStyle/>
          <a:p>
            <a:endParaRPr lang="de-CH" dirty="0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2BFC52D1-9B01-B632-862F-5A8EB0AAF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251908"/>
              </p:ext>
            </p:extLst>
          </p:nvPr>
        </p:nvGraphicFramePr>
        <p:xfrm>
          <a:off x="513804" y="1404898"/>
          <a:ext cx="11138445" cy="46017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3605">
                  <a:extLst>
                    <a:ext uri="{9D8B030D-6E8A-4147-A177-3AD203B41FA5}">
                      <a16:colId xmlns:a16="http://schemas.microsoft.com/office/drawing/2014/main" val="4112247009"/>
                    </a:ext>
                  </a:extLst>
                </a:gridCol>
                <a:gridCol w="1980968">
                  <a:extLst>
                    <a:ext uri="{9D8B030D-6E8A-4147-A177-3AD203B41FA5}">
                      <a16:colId xmlns:a16="http://schemas.microsoft.com/office/drawing/2014/main" val="3868471104"/>
                    </a:ext>
                  </a:extLst>
                </a:gridCol>
                <a:gridCol w="1980968">
                  <a:extLst>
                    <a:ext uri="{9D8B030D-6E8A-4147-A177-3AD203B41FA5}">
                      <a16:colId xmlns:a16="http://schemas.microsoft.com/office/drawing/2014/main" val="1319172782"/>
                    </a:ext>
                  </a:extLst>
                </a:gridCol>
                <a:gridCol w="1980968">
                  <a:extLst>
                    <a:ext uri="{9D8B030D-6E8A-4147-A177-3AD203B41FA5}">
                      <a16:colId xmlns:a16="http://schemas.microsoft.com/office/drawing/2014/main" val="2973148426"/>
                    </a:ext>
                  </a:extLst>
                </a:gridCol>
                <a:gridCol w="1980968">
                  <a:extLst>
                    <a:ext uri="{9D8B030D-6E8A-4147-A177-3AD203B41FA5}">
                      <a16:colId xmlns:a16="http://schemas.microsoft.com/office/drawing/2014/main" val="1389551798"/>
                    </a:ext>
                  </a:extLst>
                </a:gridCol>
                <a:gridCol w="1980968">
                  <a:extLst>
                    <a:ext uri="{9D8B030D-6E8A-4147-A177-3AD203B41FA5}">
                      <a16:colId xmlns:a16="http://schemas.microsoft.com/office/drawing/2014/main" val="1084193055"/>
                    </a:ext>
                  </a:extLst>
                </a:gridCol>
              </a:tblGrid>
              <a:tr h="45803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de-CH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</a:rPr>
                        <a:t>Leitfragen</a:t>
                      </a:r>
                    </a:p>
                  </a:txBody>
                  <a:tcPr marL="54000" marR="54000" marT="36000" marB="3600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CH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Initialisierung</a:t>
                      </a:r>
                      <a:endParaRPr lang="de-CH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36000" marB="3600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Konzept &amp; Planung</a:t>
                      </a:r>
                      <a:endParaRPr lang="de-CH" sz="105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36000" marB="3600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CH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Implementierung</a:t>
                      </a:r>
                      <a:endParaRPr lang="de-CH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36000" marB="3600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CH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Stabilisierung &amp; Monitorierung</a:t>
                      </a:r>
                      <a:endParaRPr lang="de-CH" sz="1200" b="1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36000" marB="3600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CH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Abschluss</a:t>
                      </a:r>
                      <a:endParaRPr lang="de-CH" sz="12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36000" marB="3600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305430"/>
                  </a:ext>
                </a:extLst>
              </a:tr>
              <a:tr h="272738">
                <a:tc vMerge="1"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Phase 0</a:t>
                      </a:r>
                      <a:endParaRPr lang="de-CH" sz="11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0" marB="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Phase 1</a:t>
                      </a:r>
                      <a:endParaRPr lang="de-CH" sz="11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0" marB="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Phase 2</a:t>
                      </a:r>
                      <a:endParaRPr lang="de-CH" sz="11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0" marB="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Phase 3</a:t>
                      </a:r>
                      <a:endParaRPr lang="de-CH" sz="1100" b="1" i="0" u="none" strike="noStrike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0" marB="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CH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Phase 4</a:t>
                      </a:r>
                      <a:endParaRPr lang="de-CH" sz="11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0" marB="0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435160"/>
                  </a:ext>
                </a:extLst>
              </a:tr>
              <a:tr h="590820">
                <a:tc>
                  <a:txBody>
                    <a:bodyPr/>
                    <a:lstStyle/>
                    <a:p>
                      <a:pPr marL="0" indent="0" algn="l" fontAlgn="t">
                        <a:buFont typeface="Wingdings" panose="05000000000000000000" pitchFamily="2" charset="2"/>
                        <a:buNone/>
                      </a:pPr>
                      <a:endParaRPr lang="de-CH" sz="1400" b="1" i="0" u="none" strike="noStrike" dirty="0">
                        <a:solidFill>
                          <a:srgbClr val="0070C0"/>
                        </a:solidFill>
                        <a:effectLst/>
                      </a:endParaRPr>
                    </a:p>
                    <a:p>
                      <a:pPr marL="0" indent="0" algn="l" fontAlgn="t">
                        <a:buFont typeface="Wingdings" panose="05000000000000000000" pitchFamily="2" charset="2"/>
                        <a:buNone/>
                      </a:pPr>
                      <a:r>
                        <a:rPr lang="de-CH" sz="1400" b="1" i="0" u="none" strike="noStrike" dirty="0">
                          <a:solidFill>
                            <a:srgbClr val="0070C0"/>
                          </a:solidFill>
                          <a:effectLst/>
                        </a:rPr>
                        <a:t>P0 Eintritt</a:t>
                      </a:r>
                    </a:p>
                    <a:p>
                      <a:pPr marL="0" indent="0" algn="l" fontAlgn="t">
                        <a:buFont typeface="Wingdings" panose="05000000000000000000" pitchFamily="2" charset="2"/>
                        <a:buNone/>
                      </a:pPr>
                      <a:endParaRPr lang="de-CH" sz="1100" b="0" i="1" u="none" strike="noStrike" dirty="0">
                        <a:solidFill>
                          <a:srgbClr val="0070C0"/>
                        </a:solidFill>
                        <a:effectLst/>
                      </a:endParaRPr>
                    </a:p>
                    <a:p>
                      <a:pPr marL="171450" indent="-171450" algn="l" fontAlgn="t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Ist die Initiative strategisch relevant?</a:t>
                      </a:r>
                    </a:p>
                    <a:p>
                      <a:pPr marL="171450" indent="-171450" algn="l" fontAlgn="t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dirty="0">
                        <a:solidFill>
                          <a:srgbClr val="0070C0"/>
                        </a:solidFill>
                        <a:effectLst/>
                      </a:endParaRPr>
                    </a:p>
                    <a:p>
                      <a:pPr marL="171450" indent="-171450" algn="l" fontAlgn="t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Ist Projektziel klar?</a:t>
                      </a:r>
                    </a:p>
                    <a:p>
                      <a:pPr marL="171450" indent="-171450" algn="l" fontAlgn="t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dirty="0">
                        <a:solidFill>
                          <a:srgbClr val="0070C0"/>
                        </a:solidFill>
                        <a:effectLst/>
                      </a:endParaRPr>
                    </a:p>
                    <a:p>
                      <a:pPr marL="171450" indent="-171450" algn="l" fontAlgn="t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Ist die klinische Fragestellung klar</a:t>
                      </a:r>
                    </a:p>
                    <a:p>
                      <a:pPr marL="171450" indent="-171450" algn="l" fontAlgn="t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dirty="0">
                        <a:solidFill>
                          <a:srgbClr val="0070C0"/>
                        </a:solidFill>
                        <a:effectLst/>
                      </a:endParaRPr>
                    </a:p>
                    <a:p>
                      <a:pPr marL="171450" indent="-171450" algn="l" fontAlgn="t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Braucht es ICT Einbindung?</a:t>
                      </a:r>
                    </a:p>
                    <a:p>
                      <a:pPr marL="171450" indent="-171450" algn="l" fontAlgn="t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dirty="0">
                        <a:solidFill>
                          <a:srgbClr val="0070C0"/>
                        </a:solidFill>
                        <a:effectLst/>
                      </a:endParaRPr>
                    </a:p>
                    <a:p>
                      <a:pPr marL="171450" indent="-171450" algn="l" fontAlgn="t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Braucht es Infrastruktur Anpassungen?</a:t>
                      </a:r>
                    </a:p>
                    <a:p>
                      <a:pPr algn="l" fontAlgn="t"/>
                      <a:endParaRPr lang="de-CH" sz="1100" b="1" u="none" strike="noStrike" dirty="0">
                        <a:effectLst/>
                      </a:endParaRPr>
                    </a:p>
                    <a:p>
                      <a:pPr algn="l" fontAlgn="t"/>
                      <a:endParaRPr lang="de-CH" sz="1100" b="1" u="none" strike="noStrike" dirty="0">
                        <a:effectLst/>
                      </a:endParaRPr>
                    </a:p>
                  </a:txBody>
                  <a:tcPr marL="54000" marR="5400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t" latinLnBrk="0" hangingPunct="1">
                        <a:buFont typeface="Wingdings" panose="05000000000000000000" pitchFamily="2" charset="2"/>
                        <a:buNone/>
                      </a:pPr>
                      <a:endParaRPr lang="de-CH" sz="1400" b="1" i="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t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de-CH" sz="14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P0 –P1 Gate</a:t>
                      </a:r>
                      <a:br>
                        <a:rPr lang="de-CH" sz="14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de-CH" sz="1400" b="1" i="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Hat das Projekt ausreichenden Nutzen?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das Projekt ausreichend definiert?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das Zielbild der Klinischen Transformation klar?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Verstehen wir die initialen ICT Anforderungen?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Verstehen wir die Initialen Infrastruktur Anforderungen?</a:t>
                      </a:r>
                    </a:p>
                  </a:txBody>
                  <a:tcPr marL="54000" marR="5400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de-CH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  <a:p>
                      <a:pPr marL="0" indent="0" algn="ctr" defTabSz="914400" rtl="0" eaLnBrk="1" fontAlgn="t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de-CH" sz="14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P1 –P2 Gate</a:t>
                      </a:r>
                      <a:br>
                        <a:rPr lang="de-CH" sz="18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de-CH" sz="1800" b="1" i="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Stimmt das Kosten/Nutzen Verhältnis?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Sind wir reif für die Umsetzung können es finanzieren?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die Lösung klinisch umsetzbar?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Haben wir einen robusten ICT Integrationsplan?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Haben wir einen robusten Infrastruktur Umsetzungsplan?</a:t>
                      </a:r>
                    </a:p>
                  </a:txBody>
                  <a:tcPr marL="54000" marR="5400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t" latinLnBrk="0" hangingPunct="1">
                        <a:buFont typeface="Wingdings" panose="05000000000000000000" pitchFamily="2" charset="2"/>
                        <a:buNone/>
                      </a:pPr>
                      <a:endParaRPr lang="de-CH" sz="1400" b="1" i="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t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de-CH" sz="14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P2 –P3 Gate</a:t>
                      </a:r>
                      <a:br>
                        <a:rPr lang="de-CH" sz="12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de-CH" sz="1200" b="1" i="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Haben wir kosteneffizient Nutzen erreicht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die Organisation Go-Live bereit?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die klinische Lösung erfolgreich implementiert?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die ICT Integration erfolgreich vollzogen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die Infrastruktur Anpassung erfolgreich umgesetzt?</a:t>
                      </a:r>
                      <a:endParaRPr lang="de-CH" sz="9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36000" marB="3600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t" latinLnBrk="0" hangingPunct="1">
                        <a:buFont typeface="Wingdings" panose="05000000000000000000" pitchFamily="2" charset="2"/>
                        <a:buNone/>
                      </a:pPr>
                      <a:endParaRPr lang="de-CH" sz="1400" b="1" i="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t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de-CH" sz="14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P3 –P4 Gate</a:t>
                      </a:r>
                      <a:br>
                        <a:rPr lang="de-CH" sz="10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de-CH" sz="1000" b="1" i="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Nutzen stabil erreicht?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Projektziel stabil erreicht?</a:t>
                      </a:r>
                    </a:p>
                    <a:p>
                      <a:pPr marL="0" indent="0" algn="l" defTabSz="914400" rtl="0" eaLnBrk="1" fontAlgn="t" latinLnBrk="0" hangingPunct="1">
                        <a:buFont typeface="Wingdings" panose="05000000000000000000" pitchFamily="2" charset="2"/>
                        <a:buNone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die klinische Lösung stabil verankert?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die Integration stabil?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die ICT Infrastruktur stabil genutzt</a:t>
                      </a:r>
                    </a:p>
                    <a:p>
                      <a:pPr algn="l" fontAlgn="t"/>
                      <a:endParaRPr lang="de-CH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t" latinLnBrk="0" hangingPunct="1">
                        <a:buFont typeface="Wingdings" panose="05000000000000000000" pitchFamily="2" charset="2"/>
                        <a:buNone/>
                      </a:pPr>
                      <a:endParaRPr lang="de-CH" sz="1400" b="1" i="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fontAlgn="t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de-CH" sz="14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P4 Exit Gate</a:t>
                      </a:r>
                      <a:br>
                        <a:rPr lang="de-CH" sz="8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de-CH" sz="800" b="1" i="0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Haben wir Kosten/Nutzen erreicht?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Kann das Projekt formal abgeschlossen werden?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Kann die klinische Lösung an Linienorganisation übergeben werden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operative ICT Übergabe erfolgreich abgeschlossen?</a:t>
                      </a: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endParaRPr lang="de-CH" sz="1100" b="0" i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fontAlgn="t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de-CH" sz="1100" b="0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 die operative Infrastruktur Übergabe erfolgreich abgeschlossen?</a:t>
                      </a:r>
                    </a:p>
                    <a:p>
                      <a:pPr algn="l" fontAlgn="t"/>
                      <a:endParaRPr lang="de-CH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4000" marR="5400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42879"/>
                  </a:ext>
                </a:extLst>
              </a:tr>
            </a:tbl>
          </a:graphicData>
        </a:graphic>
      </p:graphicFrame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B6781823-5AEB-603A-303C-986FC5D4592A}"/>
              </a:ext>
            </a:extLst>
          </p:cNvPr>
          <p:cNvGrpSpPr/>
          <p:nvPr/>
        </p:nvGrpSpPr>
        <p:grpSpPr>
          <a:xfrm>
            <a:off x="1480193" y="1198618"/>
            <a:ext cx="10369181" cy="1144130"/>
            <a:chOff x="1480195" y="1225148"/>
            <a:chExt cx="10369181" cy="1144130"/>
          </a:xfrm>
        </p:grpSpPr>
        <p:sp>
          <p:nvSpPr>
            <p:cNvPr id="41" name="Raute 40">
              <a:extLst>
                <a:ext uri="{FF2B5EF4-FFF2-40B4-BE49-F238E27FC236}">
                  <a16:creationId xmlns:a16="http://schemas.microsoft.com/office/drawing/2014/main" id="{0BF4D235-9299-BFB6-D9F3-BEF413EAAEBE}"/>
                </a:ext>
              </a:extLst>
            </p:cNvPr>
            <p:cNvSpPr/>
            <p:nvPr/>
          </p:nvSpPr>
          <p:spPr>
            <a:xfrm>
              <a:off x="4596563" y="2081278"/>
              <a:ext cx="288000" cy="288000"/>
            </a:xfrm>
            <a:prstGeom prst="diamond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CP</a:t>
              </a: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0B10DE2F-357D-92F1-18B5-65441E47F98C}"/>
                </a:ext>
              </a:extLst>
            </p:cNvPr>
            <p:cNvSpPr/>
            <p:nvPr/>
          </p:nvSpPr>
          <p:spPr>
            <a:xfrm>
              <a:off x="7580002" y="1331343"/>
              <a:ext cx="189129" cy="200166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FCFBBC73-7310-B8EA-FFD0-8151A3325175}"/>
                </a:ext>
              </a:extLst>
            </p:cNvPr>
            <p:cNvSpPr txBox="1"/>
            <p:nvPr/>
          </p:nvSpPr>
          <p:spPr>
            <a:xfrm>
              <a:off x="7764045" y="1225148"/>
              <a:ext cx="700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Go Live</a:t>
              </a:r>
            </a:p>
          </p:txBody>
        </p: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080E29D8-8CF3-D5D1-4D02-0024E57B3751}"/>
                </a:ext>
              </a:extLst>
            </p:cNvPr>
            <p:cNvGrpSpPr/>
            <p:nvPr/>
          </p:nvGrpSpPr>
          <p:grpSpPr>
            <a:xfrm>
              <a:off x="3452196" y="1723168"/>
              <a:ext cx="577402" cy="432000"/>
              <a:chOff x="3452196" y="1723168"/>
              <a:chExt cx="577402" cy="432000"/>
            </a:xfrm>
          </p:grpSpPr>
          <p:sp>
            <p:nvSpPr>
              <p:cNvPr id="60" name="Raute 59">
                <a:extLst>
                  <a:ext uri="{FF2B5EF4-FFF2-40B4-BE49-F238E27FC236}">
                    <a16:creationId xmlns:a16="http://schemas.microsoft.com/office/drawing/2014/main" id="{715B8C1B-E8DA-376D-DCB8-76FDDA24E3BD}"/>
                  </a:ext>
                </a:extLst>
              </p:cNvPr>
              <p:cNvSpPr/>
              <p:nvPr/>
            </p:nvSpPr>
            <p:spPr>
              <a:xfrm>
                <a:off x="3505357" y="1723168"/>
                <a:ext cx="432000" cy="432000"/>
              </a:xfrm>
              <a:prstGeom prst="diamond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7B6C48C2-C694-3D2E-63B0-D6BD0994AFEB}"/>
                  </a:ext>
                </a:extLst>
              </p:cNvPr>
              <p:cNvSpPr txBox="1"/>
              <p:nvPr/>
            </p:nvSpPr>
            <p:spPr>
              <a:xfrm>
                <a:off x="3452196" y="1819668"/>
                <a:ext cx="5774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P0-P1</a:t>
                </a:r>
              </a:p>
            </p:txBody>
          </p:sp>
        </p:grpSp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1CBCC12E-6308-8F25-42E5-4AA3F40F21CB}"/>
                </a:ext>
              </a:extLst>
            </p:cNvPr>
            <p:cNvGrpSpPr/>
            <p:nvPr/>
          </p:nvGrpSpPr>
          <p:grpSpPr>
            <a:xfrm>
              <a:off x="5430210" y="1705353"/>
              <a:ext cx="559769" cy="432000"/>
              <a:chOff x="5430210" y="1705353"/>
              <a:chExt cx="559769" cy="432000"/>
            </a:xfrm>
          </p:grpSpPr>
          <p:sp>
            <p:nvSpPr>
              <p:cNvPr id="58" name="Raute 57">
                <a:extLst>
                  <a:ext uri="{FF2B5EF4-FFF2-40B4-BE49-F238E27FC236}">
                    <a16:creationId xmlns:a16="http://schemas.microsoft.com/office/drawing/2014/main" id="{33275DF3-0A54-DD2E-8ED2-7983B832DA56}"/>
                  </a:ext>
                </a:extLst>
              </p:cNvPr>
              <p:cNvSpPr/>
              <p:nvPr/>
            </p:nvSpPr>
            <p:spPr>
              <a:xfrm>
                <a:off x="5471866" y="1705353"/>
                <a:ext cx="468000" cy="432000"/>
              </a:xfrm>
              <a:prstGeom prst="diamond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B5CDB63D-D76C-B3E3-F203-87C62AAE7C62}"/>
                  </a:ext>
                </a:extLst>
              </p:cNvPr>
              <p:cNvSpPr txBox="1"/>
              <p:nvPr/>
            </p:nvSpPr>
            <p:spPr>
              <a:xfrm>
                <a:off x="5430210" y="1801013"/>
                <a:ext cx="55976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P1-P2</a:t>
                </a:r>
              </a:p>
            </p:txBody>
          </p:sp>
        </p:grp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8F7255B5-F466-065E-A5C1-E2CA6F039042}"/>
                </a:ext>
              </a:extLst>
            </p:cNvPr>
            <p:cNvGrpSpPr/>
            <p:nvPr/>
          </p:nvGrpSpPr>
          <p:grpSpPr>
            <a:xfrm>
              <a:off x="7412268" y="1723168"/>
              <a:ext cx="559769" cy="432000"/>
              <a:chOff x="7412268" y="1723168"/>
              <a:chExt cx="559769" cy="432000"/>
            </a:xfrm>
          </p:grpSpPr>
          <p:sp>
            <p:nvSpPr>
              <p:cNvPr id="56" name="Raute 55">
                <a:extLst>
                  <a:ext uri="{FF2B5EF4-FFF2-40B4-BE49-F238E27FC236}">
                    <a16:creationId xmlns:a16="http://schemas.microsoft.com/office/drawing/2014/main" id="{ABE9E52F-18DD-100E-817E-11CBFC96019F}"/>
                  </a:ext>
                </a:extLst>
              </p:cNvPr>
              <p:cNvSpPr/>
              <p:nvPr/>
            </p:nvSpPr>
            <p:spPr>
              <a:xfrm>
                <a:off x="7451438" y="1723168"/>
                <a:ext cx="468000" cy="432000"/>
              </a:xfrm>
              <a:prstGeom prst="diamond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72E403EF-D5D2-1F4F-5D67-1D27EA8CE6C3}"/>
                  </a:ext>
                </a:extLst>
              </p:cNvPr>
              <p:cNvSpPr txBox="1"/>
              <p:nvPr/>
            </p:nvSpPr>
            <p:spPr>
              <a:xfrm>
                <a:off x="7412268" y="1820521"/>
                <a:ext cx="55976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P2-P3</a:t>
                </a:r>
              </a:p>
            </p:txBody>
          </p:sp>
        </p:grp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EA2B6026-3FFA-9E51-4BF7-CE1670FCDC15}"/>
                </a:ext>
              </a:extLst>
            </p:cNvPr>
            <p:cNvGrpSpPr/>
            <p:nvPr/>
          </p:nvGrpSpPr>
          <p:grpSpPr>
            <a:xfrm>
              <a:off x="9393647" y="1705775"/>
              <a:ext cx="559769" cy="432000"/>
              <a:chOff x="9393647" y="1705775"/>
              <a:chExt cx="559769" cy="432000"/>
            </a:xfrm>
          </p:grpSpPr>
          <p:sp>
            <p:nvSpPr>
              <p:cNvPr id="54" name="Raute 53">
                <a:extLst>
                  <a:ext uri="{FF2B5EF4-FFF2-40B4-BE49-F238E27FC236}">
                    <a16:creationId xmlns:a16="http://schemas.microsoft.com/office/drawing/2014/main" id="{F7A066CE-1E9F-C7F6-3762-CB6909E730C3}"/>
                  </a:ext>
                </a:extLst>
              </p:cNvPr>
              <p:cNvSpPr/>
              <p:nvPr/>
            </p:nvSpPr>
            <p:spPr>
              <a:xfrm>
                <a:off x="9431011" y="1705775"/>
                <a:ext cx="468000" cy="432000"/>
              </a:xfrm>
              <a:prstGeom prst="diamond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744CDED6-ADDF-6430-ED78-ABD19E66E3F8}"/>
                  </a:ext>
                </a:extLst>
              </p:cNvPr>
              <p:cNvSpPr txBox="1"/>
              <p:nvPr/>
            </p:nvSpPr>
            <p:spPr>
              <a:xfrm>
                <a:off x="9393647" y="1794395"/>
                <a:ext cx="55976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P3-P4</a:t>
                </a:r>
              </a:p>
            </p:txBody>
          </p: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BF09F6C2-EF0C-3205-C308-B73E22C401BD}"/>
                </a:ext>
              </a:extLst>
            </p:cNvPr>
            <p:cNvGrpSpPr/>
            <p:nvPr/>
          </p:nvGrpSpPr>
          <p:grpSpPr>
            <a:xfrm>
              <a:off x="11381376" y="1731479"/>
              <a:ext cx="468000" cy="432000"/>
              <a:chOff x="11381376" y="1731479"/>
              <a:chExt cx="468000" cy="432000"/>
            </a:xfrm>
          </p:grpSpPr>
          <p:sp>
            <p:nvSpPr>
              <p:cNvPr id="52" name="Raute 51">
                <a:extLst>
                  <a:ext uri="{FF2B5EF4-FFF2-40B4-BE49-F238E27FC236}">
                    <a16:creationId xmlns:a16="http://schemas.microsoft.com/office/drawing/2014/main" id="{FEF3F24F-7199-4F98-D34C-17A7879CE695}"/>
                  </a:ext>
                </a:extLst>
              </p:cNvPr>
              <p:cNvSpPr/>
              <p:nvPr/>
            </p:nvSpPr>
            <p:spPr>
              <a:xfrm>
                <a:off x="11381376" y="1731479"/>
                <a:ext cx="468000" cy="432000"/>
              </a:xfrm>
              <a:prstGeom prst="diamond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3B99E524-B333-995B-36E5-4672EC783E38}"/>
                  </a:ext>
                </a:extLst>
              </p:cNvPr>
              <p:cNvSpPr txBox="1"/>
              <p:nvPr/>
            </p:nvSpPr>
            <p:spPr>
              <a:xfrm>
                <a:off x="11419292" y="1733317"/>
                <a:ext cx="417102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P4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105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exit</a:t>
                </a:r>
                <a:endParaRPr kumimoji="0" lang="de-CH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ECF2E785-5D41-9619-F6F2-D956EEF1A020}"/>
                </a:ext>
              </a:extLst>
            </p:cNvPr>
            <p:cNvGrpSpPr/>
            <p:nvPr/>
          </p:nvGrpSpPr>
          <p:grpSpPr>
            <a:xfrm>
              <a:off x="1480195" y="1731479"/>
              <a:ext cx="556563" cy="432000"/>
              <a:chOff x="1480195" y="1731479"/>
              <a:chExt cx="556563" cy="432000"/>
            </a:xfrm>
          </p:grpSpPr>
          <p:sp>
            <p:nvSpPr>
              <p:cNvPr id="50" name="Raute 49">
                <a:extLst>
                  <a:ext uri="{FF2B5EF4-FFF2-40B4-BE49-F238E27FC236}">
                    <a16:creationId xmlns:a16="http://schemas.microsoft.com/office/drawing/2014/main" id="{BAF10741-EA44-07AB-83C8-DFF47B928028}"/>
                  </a:ext>
                </a:extLst>
              </p:cNvPr>
              <p:cNvSpPr/>
              <p:nvPr/>
            </p:nvSpPr>
            <p:spPr>
              <a:xfrm>
                <a:off x="1518117" y="1731479"/>
                <a:ext cx="468000" cy="432000"/>
              </a:xfrm>
              <a:prstGeom prst="diamond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Textfeld 50">
                <a:extLst>
                  <a:ext uri="{FF2B5EF4-FFF2-40B4-BE49-F238E27FC236}">
                    <a16:creationId xmlns:a16="http://schemas.microsoft.com/office/drawing/2014/main" id="{F0B9F9FF-E66E-303C-CB39-E09CE9873E83}"/>
                  </a:ext>
                </a:extLst>
              </p:cNvPr>
              <p:cNvSpPr txBox="1"/>
              <p:nvPr/>
            </p:nvSpPr>
            <p:spPr>
              <a:xfrm>
                <a:off x="1480195" y="1735385"/>
                <a:ext cx="5565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P0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CH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Eintritt</a:t>
                </a:r>
              </a:p>
            </p:txBody>
          </p:sp>
        </p:grpSp>
      </p:grpSp>
      <p:sp>
        <p:nvSpPr>
          <p:cNvPr id="63" name="Titel 4">
            <a:extLst>
              <a:ext uri="{FF2B5EF4-FFF2-40B4-BE49-F238E27FC236}">
                <a16:creationId xmlns:a16="http://schemas.microsoft.com/office/drawing/2014/main" id="{8A5FC4CF-336F-FB21-F0F8-5C201F21046A}"/>
              </a:ext>
            </a:extLst>
          </p:cNvPr>
          <p:cNvSpPr txBox="1">
            <a:spLocks/>
          </p:cNvSpPr>
          <p:nvPr/>
        </p:nvSpPr>
        <p:spPr>
          <a:xfrm>
            <a:off x="541338" y="736298"/>
            <a:ext cx="11110914" cy="7891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ts val="33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PRAT </a:t>
            </a:r>
            <a:r>
              <a:rPr kumimoji="0" lang="de-CH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Governance</a:t>
            </a:r>
            <a:r>
              <a:rPr kumimoji="0" lang="de-CH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&amp; Leitfragen</a:t>
            </a:r>
          </a:p>
        </p:txBody>
      </p:sp>
    </p:spTree>
    <p:extLst>
      <p:ext uri="{BB962C8B-B14F-4D97-AF65-F5344CB8AC3E}">
        <p14:creationId xmlns:p14="http://schemas.microsoft.com/office/powerpoint/2010/main" val="344660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2242F11-AC73-389F-980A-A916B2927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7E8-90DB-4872-B4CB-1CF177C6876D}" type="datetime1">
              <a:rPr lang="de-CH" smtClean="0"/>
              <a:t>26.10.2026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BAE782-7066-E9D8-4C45-CF2674ABC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Strategieumsetzung und Projektmanagement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558FDF-9773-DEB0-9BB5-D2F4BB0E1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2F54-BD24-4091-80C5-A159FB9A23AA}" type="slidenum">
              <a:rPr lang="en-US" smtClean="0"/>
              <a:t>7</a:t>
            </a:fld>
            <a:endParaRPr lang="en-US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5C4FBDA-576E-12D2-3FC1-72066ADDD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Dashboard Transformationsprogramm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C79D826-335F-F2AC-51EE-78478E35B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38" y="1199743"/>
            <a:ext cx="11080099" cy="528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5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6505BA2-AE72-2A80-E0BF-8DCC0C89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ACFADC-D14C-45A0-B5F7-6AD4451FE9A8}" type="datetime1">
              <a:rPr kumimoji="0" lang="de-CH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26.10.2026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4167CC7-1A91-18F5-B7F4-01B1EE94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Strategieumsetzung und Projektmanagement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87CEE9-B982-F0EA-1BD6-5CB4C4C0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202F54-BD24-4091-80C5-A159FB9A23AA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9F53464-4AE2-60D8-1D2A-0714D009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736298"/>
            <a:ext cx="8204368" cy="789115"/>
          </a:xfrm>
        </p:spPr>
        <p:txBody>
          <a:bodyPr/>
          <a:lstStyle/>
          <a:p>
            <a:r>
              <a:rPr lang="de-CH" dirty="0"/>
              <a:t>Transformationsprogramm Portfolio  -  </a:t>
            </a:r>
            <a:r>
              <a:rPr lang="de-CH" i="1" dirty="0">
                <a:solidFill>
                  <a:srgbClr val="C00000"/>
                </a:solidFill>
              </a:rPr>
              <a:t>Mockups</a:t>
            </a:r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A58F3931-E5DA-CC4F-B364-DF6A0B7D96D5}"/>
              </a:ext>
            </a:extLst>
          </p:cNvPr>
          <p:cNvSpPr/>
          <p:nvPr/>
        </p:nvSpPr>
        <p:spPr>
          <a:xfrm rot="5400000">
            <a:off x="4408942" y="-381678"/>
            <a:ext cx="3808664" cy="8995202"/>
          </a:xfrm>
          <a:prstGeom prst="trapezoid">
            <a:avLst>
              <a:gd name="adj" fmla="val 21901"/>
            </a:avLst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515BC70-83BB-AA8A-36F0-70CA0A4E1067}"/>
              </a:ext>
            </a:extLst>
          </p:cNvPr>
          <p:cNvCxnSpPr>
            <a:cxnSpLocks/>
          </p:cNvCxnSpPr>
          <p:nvPr/>
        </p:nvCxnSpPr>
        <p:spPr>
          <a:xfrm>
            <a:off x="5417324" y="2173491"/>
            <a:ext cx="0" cy="392400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2A784EE9-6F2A-34F4-C198-F2AD5C964E10}"/>
              </a:ext>
            </a:extLst>
          </p:cNvPr>
          <p:cNvGraphicFramePr>
            <a:graphicFrameLocks noGrp="1"/>
          </p:cNvGraphicFramePr>
          <p:nvPr/>
        </p:nvGraphicFramePr>
        <p:xfrm>
          <a:off x="541334" y="1659450"/>
          <a:ext cx="10269541" cy="511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941">
                  <a:extLst>
                    <a:ext uri="{9D8B030D-6E8A-4147-A177-3AD203B41FA5}">
                      <a16:colId xmlns:a16="http://schemas.microsoft.com/office/drawing/2014/main" val="227905684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7343309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3023513686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3572829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195584574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1557370046"/>
                    </a:ext>
                  </a:extLst>
                </a:gridCol>
              </a:tblGrid>
              <a:tr h="511508">
                <a:tc>
                  <a:txBody>
                    <a:bodyPr/>
                    <a:lstStyle/>
                    <a:p>
                      <a:pPr algn="ctr"/>
                      <a:r>
                        <a:rPr lang="de-CH" sz="1100" b="1" dirty="0" err="1">
                          <a:solidFill>
                            <a:schemeClr val="bg1"/>
                          </a:solidFill>
                        </a:rPr>
                        <a:t>Pre</a:t>
                      </a:r>
                      <a:r>
                        <a:rPr lang="de-CH" sz="1100" b="1" dirty="0">
                          <a:solidFill>
                            <a:schemeClr val="bg1"/>
                          </a:solidFill>
                        </a:rPr>
                        <a:t> P0</a:t>
                      </a:r>
                    </a:p>
                    <a:p>
                      <a:pPr algn="ctr"/>
                      <a:r>
                        <a:rPr lang="de-CH" sz="1100" b="1" dirty="0">
                          <a:solidFill>
                            <a:schemeClr val="bg1"/>
                          </a:solidFill>
                        </a:rPr>
                        <a:t>Ideen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100" b="1" dirty="0">
                          <a:solidFill>
                            <a:schemeClr val="bg1"/>
                          </a:solidFill>
                        </a:rPr>
                        <a:t>P0</a:t>
                      </a:r>
                    </a:p>
                    <a:p>
                      <a:pPr algn="ctr"/>
                      <a:r>
                        <a:rPr lang="de-CH" sz="1100" b="1" dirty="0">
                          <a:solidFill>
                            <a:schemeClr val="bg1"/>
                          </a:solidFill>
                        </a:rPr>
                        <a:t>Initialisierung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100" b="1" dirty="0">
                          <a:solidFill>
                            <a:schemeClr val="bg1"/>
                          </a:solidFill>
                        </a:rPr>
                        <a:t>P1</a:t>
                      </a:r>
                    </a:p>
                    <a:p>
                      <a:pPr algn="ctr"/>
                      <a:r>
                        <a:rPr lang="de-CH" sz="1100" b="1" dirty="0">
                          <a:solidFill>
                            <a:schemeClr val="bg1"/>
                          </a:solidFill>
                        </a:rPr>
                        <a:t>Konzept / Planung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100" b="1" dirty="0">
                          <a:solidFill>
                            <a:schemeClr val="bg1"/>
                          </a:solidFill>
                        </a:rPr>
                        <a:t>P2</a:t>
                      </a:r>
                    </a:p>
                    <a:p>
                      <a:pPr algn="ctr"/>
                      <a:r>
                        <a:rPr lang="de-CH" sz="1100" b="1" dirty="0">
                          <a:solidFill>
                            <a:schemeClr val="bg1"/>
                          </a:solidFill>
                        </a:rPr>
                        <a:t>Umsetzung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100" b="1" dirty="0">
                          <a:solidFill>
                            <a:schemeClr val="bg1"/>
                          </a:solidFill>
                        </a:rPr>
                        <a:t>P3</a:t>
                      </a:r>
                    </a:p>
                    <a:p>
                      <a:pPr algn="ctr"/>
                      <a:r>
                        <a:rPr lang="de-CH" sz="1100" b="1" noProof="0" dirty="0">
                          <a:solidFill>
                            <a:schemeClr val="bg1"/>
                          </a:solidFill>
                        </a:rPr>
                        <a:t>Stabilisierung/</a:t>
                      </a:r>
                      <a:br>
                        <a:rPr lang="de-CH" sz="1100" b="1" noProof="0" dirty="0">
                          <a:solidFill>
                            <a:schemeClr val="bg1"/>
                          </a:solidFill>
                        </a:rPr>
                      </a:br>
                      <a:r>
                        <a:rPr lang="de-CH" sz="1100" b="1" noProof="0" dirty="0" err="1">
                          <a:solidFill>
                            <a:schemeClr val="bg1"/>
                          </a:solidFill>
                        </a:rPr>
                        <a:t>Monitorierung</a:t>
                      </a:r>
                      <a:endParaRPr lang="de-CH" sz="11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100" b="1" dirty="0">
                          <a:solidFill>
                            <a:schemeClr val="bg1"/>
                          </a:solidFill>
                        </a:rPr>
                        <a:t>P4</a:t>
                      </a:r>
                    </a:p>
                    <a:p>
                      <a:pPr algn="ctr"/>
                      <a:r>
                        <a:rPr lang="de-CH" sz="1100" b="1" dirty="0">
                          <a:solidFill>
                            <a:schemeClr val="bg1"/>
                          </a:solidFill>
                        </a:rPr>
                        <a:t>Abschluss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549603"/>
                  </a:ext>
                </a:extLst>
              </a:tr>
            </a:tbl>
          </a:graphicData>
        </a:graphic>
      </p:graphicFrame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8FB81B8-1FCE-856E-1DAB-2031A8162610}"/>
              </a:ext>
            </a:extLst>
          </p:cNvPr>
          <p:cNvCxnSpPr>
            <a:cxnSpLocks/>
          </p:cNvCxnSpPr>
          <p:nvPr/>
        </p:nvCxnSpPr>
        <p:spPr>
          <a:xfrm>
            <a:off x="9007751" y="2173491"/>
            <a:ext cx="0" cy="392400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36EC442-4682-5E70-4F73-340AF7EDC863}"/>
              </a:ext>
            </a:extLst>
          </p:cNvPr>
          <p:cNvCxnSpPr>
            <a:cxnSpLocks/>
          </p:cNvCxnSpPr>
          <p:nvPr/>
        </p:nvCxnSpPr>
        <p:spPr>
          <a:xfrm>
            <a:off x="7209101" y="2173491"/>
            <a:ext cx="0" cy="392400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DEFE7F6-9A8B-6636-8A98-946F02632308}"/>
              </a:ext>
            </a:extLst>
          </p:cNvPr>
          <p:cNvCxnSpPr>
            <a:cxnSpLocks/>
          </p:cNvCxnSpPr>
          <p:nvPr/>
        </p:nvCxnSpPr>
        <p:spPr>
          <a:xfrm>
            <a:off x="10810875" y="2173491"/>
            <a:ext cx="0" cy="392400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6F3A819C-99F2-A852-1693-74B19CD7B6D5}"/>
              </a:ext>
            </a:extLst>
          </p:cNvPr>
          <p:cNvCxnSpPr>
            <a:cxnSpLocks/>
          </p:cNvCxnSpPr>
          <p:nvPr/>
        </p:nvCxnSpPr>
        <p:spPr>
          <a:xfrm>
            <a:off x="1815673" y="2173491"/>
            <a:ext cx="0" cy="392400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A97840BA-6CE9-4C8B-587D-4A84F5B5D667}"/>
              </a:ext>
            </a:extLst>
          </p:cNvPr>
          <p:cNvCxnSpPr>
            <a:cxnSpLocks/>
          </p:cNvCxnSpPr>
          <p:nvPr/>
        </p:nvCxnSpPr>
        <p:spPr>
          <a:xfrm>
            <a:off x="3607865" y="2173491"/>
            <a:ext cx="0" cy="392400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F34ED8F-FE94-7DD5-0523-282B9B91012A}"/>
              </a:ext>
            </a:extLst>
          </p:cNvPr>
          <p:cNvGrpSpPr/>
          <p:nvPr/>
        </p:nvGrpSpPr>
        <p:grpSpPr>
          <a:xfrm>
            <a:off x="1518913" y="1925382"/>
            <a:ext cx="556563" cy="448291"/>
            <a:chOff x="1529650" y="1966700"/>
            <a:chExt cx="556563" cy="448291"/>
          </a:xfrm>
        </p:grpSpPr>
        <p:sp>
          <p:nvSpPr>
            <p:cNvPr id="27" name="Raute 26">
              <a:extLst>
                <a:ext uri="{FF2B5EF4-FFF2-40B4-BE49-F238E27FC236}">
                  <a16:creationId xmlns:a16="http://schemas.microsoft.com/office/drawing/2014/main" id="{E532780A-643D-76CA-18E4-E7C983489918}"/>
                </a:ext>
              </a:extLst>
            </p:cNvPr>
            <p:cNvSpPr/>
            <p:nvPr/>
          </p:nvSpPr>
          <p:spPr>
            <a:xfrm>
              <a:off x="1575216" y="1982991"/>
              <a:ext cx="468000" cy="432000"/>
            </a:xfrm>
            <a:prstGeom prst="diamond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87C97A8A-DBAA-2A27-3020-941CFDE3FD0C}"/>
                </a:ext>
              </a:extLst>
            </p:cNvPr>
            <p:cNvSpPr txBox="1"/>
            <p:nvPr/>
          </p:nvSpPr>
          <p:spPr>
            <a:xfrm>
              <a:off x="1529650" y="1966700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Eintritt</a:t>
              </a:r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A6D71616-2898-5BEF-F2BA-AEE77A0CC429}"/>
              </a:ext>
            </a:extLst>
          </p:cNvPr>
          <p:cNvGrpSpPr/>
          <p:nvPr/>
        </p:nvGrpSpPr>
        <p:grpSpPr>
          <a:xfrm>
            <a:off x="3328371" y="1950224"/>
            <a:ext cx="577402" cy="432000"/>
            <a:chOff x="3452196" y="1112024"/>
            <a:chExt cx="577402" cy="432000"/>
          </a:xfrm>
        </p:grpSpPr>
        <p:sp>
          <p:nvSpPr>
            <p:cNvPr id="29" name="Raute 28">
              <a:extLst>
                <a:ext uri="{FF2B5EF4-FFF2-40B4-BE49-F238E27FC236}">
                  <a16:creationId xmlns:a16="http://schemas.microsoft.com/office/drawing/2014/main" id="{B4BBB54D-B958-844D-AB96-BA6EB6EBD4DC}"/>
                </a:ext>
              </a:extLst>
            </p:cNvPr>
            <p:cNvSpPr/>
            <p:nvPr/>
          </p:nvSpPr>
          <p:spPr>
            <a:xfrm>
              <a:off x="3505357" y="1112024"/>
              <a:ext cx="432000" cy="432000"/>
            </a:xfrm>
            <a:prstGeom prst="diamond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0725DDB7-726A-CD9E-2C90-B7FC09F2724F}"/>
                </a:ext>
              </a:extLst>
            </p:cNvPr>
            <p:cNvSpPr txBox="1"/>
            <p:nvPr/>
          </p:nvSpPr>
          <p:spPr>
            <a:xfrm>
              <a:off x="3452196" y="1208524"/>
              <a:ext cx="5774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P0-P1</a:t>
              </a:r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DEC52C88-0009-4BDD-1B9F-385B85528469}"/>
              </a:ext>
            </a:extLst>
          </p:cNvPr>
          <p:cNvGrpSpPr/>
          <p:nvPr/>
        </p:nvGrpSpPr>
        <p:grpSpPr>
          <a:xfrm>
            <a:off x="5134935" y="1941934"/>
            <a:ext cx="559769" cy="432000"/>
            <a:chOff x="5430210" y="1094209"/>
            <a:chExt cx="559769" cy="432000"/>
          </a:xfrm>
        </p:grpSpPr>
        <p:sp>
          <p:nvSpPr>
            <p:cNvPr id="32" name="Raute 31">
              <a:extLst>
                <a:ext uri="{FF2B5EF4-FFF2-40B4-BE49-F238E27FC236}">
                  <a16:creationId xmlns:a16="http://schemas.microsoft.com/office/drawing/2014/main" id="{BC39F791-9D05-2FF7-AC82-A0F47E7543EF}"/>
                </a:ext>
              </a:extLst>
            </p:cNvPr>
            <p:cNvSpPr/>
            <p:nvPr/>
          </p:nvSpPr>
          <p:spPr>
            <a:xfrm>
              <a:off x="5471866" y="1094209"/>
              <a:ext cx="468000" cy="432000"/>
            </a:xfrm>
            <a:prstGeom prst="diamond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317E6FEA-6634-90FF-7C71-29E28F8AF90D}"/>
                </a:ext>
              </a:extLst>
            </p:cNvPr>
            <p:cNvSpPr txBox="1"/>
            <p:nvPr/>
          </p:nvSpPr>
          <p:spPr>
            <a:xfrm>
              <a:off x="5430210" y="1189869"/>
              <a:ext cx="55976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P1-P2</a:t>
              </a:r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67249282-B653-46AB-E01B-04283839A437}"/>
              </a:ext>
            </a:extLst>
          </p:cNvPr>
          <p:cNvGrpSpPr/>
          <p:nvPr/>
        </p:nvGrpSpPr>
        <p:grpSpPr>
          <a:xfrm>
            <a:off x="6936018" y="1950224"/>
            <a:ext cx="559769" cy="432000"/>
            <a:chOff x="6964593" y="2064524"/>
            <a:chExt cx="559769" cy="432000"/>
          </a:xfrm>
        </p:grpSpPr>
        <p:sp>
          <p:nvSpPr>
            <p:cNvPr id="35" name="Raute 34">
              <a:extLst>
                <a:ext uri="{FF2B5EF4-FFF2-40B4-BE49-F238E27FC236}">
                  <a16:creationId xmlns:a16="http://schemas.microsoft.com/office/drawing/2014/main" id="{24D5E20D-7F81-2DFE-CE4A-7FBC0553075F}"/>
                </a:ext>
              </a:extLst>
            </p:cNvPr>
            <p:cNvSpPr/>
            <p:nvPr/>
          </p:nvSpPr>
          <p:spPr>
            <a:xfrm>
              <a:off x="7003763" y="2064524"/>
              <a:ext cx="468000" cy="432000"/>
            </a:xfrm>
            <a:prstGeom prst="diamond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4B20F1E8-31E2-C2F6-4487-9592BDF240A7}"/>
                </a:ext>
              </a:extLst>
            </p:cNvPr>
            <p:cNvSpPr txBox="1"/>
            <p:nvPr/>
          </p:nvSpPr>
          <p:spPr>
            <a:xfrm>
              <a:off x="6964593" y="2161877"/>
              <a:ext cx="55976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P2-P3</a:t>
              </a:r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C675E833-276B-7329-9501-861BFE185736}"/>
              </a:ext>
            </a:extLst>
          </p:cNvPr>
          <p:cNvGrpSpPr/>
          <p:nvPr/>
        </p:nvGrpSpPr>
        <p:grpSpPr>
          <a:xfrm>
            <a:off x="8745706" y="1950224"/>
            <a:ext cx="559769" cy="432000"/>
            <a:chOff x="9393647" y="1094631"/>
            <a:chExt cx="559769" cy="432000"/>
          </a:xfrm>
        </p:grpSpPr>
        <p:sp>
          <p:nvSpPr>
            <p:cNvPr id="38" name="Raute 37">
              <a:extLst>
                <a:ext uri="{FF2B5EF4-FFF2-40B4-BE49-F238E27FC236}">
                  <a16:creationId xmlns:a16="http://schemas.microsoft.com/office/drawing/2014/main" id="{7D81E473-A740-B1E5-8675-E76689B81D6F}"/>
                </a:ext>
              </a:extLst>
            </p:cNvPr>
            <p:cNvSpPr/>
            <p:nvPr/>
          </p:nvSpPr>
          <p:spPr>
            <a:xfrm>
              <a:off x="9431011" y="1094631"/>
              <a:ext cx="468000" cy="432000"/>
            </a:xfrm>
            <a:prstGeom prst="diamond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8C4D91C5-23C2-8D20-4CBC-683D2CFF14DE}"/>
                </a:ext>
              </a:extLst>
            </p:cNvPr>
            <p:cNvSpPr txBox="1"/>
            <p:nvPr/>
          </p:nvSpPr>
          <p:spPr>
            <a:xfrm>
              <a:off x="9393647" y="1183251"/>
              <a:ext cx="55976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P3-P4</a:t>
              </a:r>
            </a:p>
          </p:txBody>
        </p: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D11536B6-F89E-1D50-3FFB-764C85E69123}"/>
              </a:ext>
            </a:extLst>
          </p:cNvPr>
          <p:cNvGrpSpPr/>
          <p:nvPr/>
        </p:nvGrpSpPr>
        <p:grpSpPr>
          <a:xfrm>
            <a:off x="10567556" y="1950224"/>
            <a:ext cx="468000" cy="432000"/>
            <a:chOff x="11400786" y="1035733"/>
            <a:chExt cx="468000" cy="432000"/>
          </a:xfrm>
        </p:grpSpPr>
        <p:sp>
          <p:nvSpPr>
            <p:cNvPr id="41" name="Raute 40">
              <a:extLst>
                <a:ext uri="{FF2B5EF4-FFF2-40B4-BE49-F238E27FC236}">
                  <a16:creationId xmlns:a16="http://schemas.microsoft.com/office/drawing/2014/main" id="{C3B25539-F316-48A7-38B5-9D7E9E511012}"/>
                </a:ext>
              </a:extLst>
            </p:cNvPr>
            <p:cNvSpPr/>
            <p:nvPr/>
          </p:nvSpPr>
          <p:spPr>
            <a:xfrm>
              <a:off x="11400786" y="1035733"/>
              <a:ext cx="468000" cy="432000"/>
            </a:xfrm>
            <a:prstGeom prst="diamond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2E0E6911-7778-77A8-D3D3-B2F3DD8CDDFE}"/>
                </a:ext>
              </a:extLst>
            </p:cNvPr>
            <p:cNvSpPr txBox="1"/>
            <p:nvPr/>
          </p:nvSpPr>
          <p:spPr>
            <a:xfrm>
              <a:off x="11426235" y="1043984"/>
              <a:ext cx="41710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exit</a:t>
              </a:r>
              <a:endParaRPr kumimoji="0" lang="de-CH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F6CA1FC0-400A-12A8-CE04-37AC13A81346}"/>
              </a:ext>
            </a:extLst>
          </p:cNvPr>
          <p:cNvGrpSpPr/>
          <p:nvPr/>
        </p:nvGrpSpPr>
        <p:grpSpPr>
          <a:xfrm>
            <a:off x="8874406" y="477159"/>
            <a:ext cx="1166467" cy="276999"/>
            <a:chOff x="6720018" y="422199"/>
            <a:chExt cx="1166467" cy="276999"/>
          </a:xfrm>
        </p:grpSpPr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66FD3A99-EBDE-C87E-E4F3-24A2343D92BA}"/>
                </a:ext>
              </a:extLst>
            </p:cNvPr>
            <p:cNvSpPr/>
            <p:nvPr/>
          </p:nvSpPr>
          <p:spPr>
            <a:xfrm>
              <a:off x="6720018" y="507445"/>
              <a:ext cx="144000" cy="144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6DDF574F-CD1E-531B-833A-9ECAC1005E60}"/>
                </a:ext>
              </a:extLst>
            </p:cNvPr>
            <p:cNvSpPr txBox="1"/>
            <p:nvPr/>
          </p:nvSpPr>
          <p:spPr>
            <a:xfrm>
              <a:off x="6914488" y="422199"/>
              <a:ext cx="9719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MA &amp; Kultur</a:t>
              </a:r>
            </a:p>
          </p:txBody>
        </p: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822711BB-BEE4-8C6D-78BD-316FAD17F3E2}"/>
              </a:ext>
            </a:extLst>
          </p:cNvPr>
          <p:cNvGrpSpPr/>
          <p:nvPr/>
        </p:nvGrpSpPr>
        <p:grpSpPr>
          <a:xfrm>
            <a:off x="8874406" y="734711"/>
            <a:ext cx="1454747" cy="461665"/>
            <a:chOff x="6720018" y="889985"/>
            <a:chExt cx="1454747" cy="461665"/>
          </a:xfrm>
        </p:grpSpPr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0A0DC6A6-C845-70B6-C943-84060783A5A3}"/>
                </a:ext>
              </a:extLst>
            </p:cNvPr>
            <p:cNvSpPr/>
            <p:nvPr/>
          </p:nvSpPr>
          <p:spPr>
            <a:xfrm>
              <a:off x="6720018" y="1019175"/>
              <a:ext cx="144000" cy="144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82D9F53D-62E0-52E0-4AF4-8AF802321949}"/>
                </a:ext>
              </a:extLst>
            </p:cNvPr>
            <p:cNvSpPr txBox="1"/>
            <p:nvPr/>
          </p:nvSpPr>
          <p:spPr>
            <a:xfrm>
              <a:off x="6932437" y="889985"/>
              <a:ext cx="12423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Patienten:innen</a:t>
              </a:r>
              <a:r>
                <a:rPr kumimoji="0" lang="de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Orientierung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099E67EE-79C8-FC51-9313-AB53418486B5}"/>
              </a:ext>
            </a:extLst>
          </p:cNvPr>
          <p:cNvGrpSpPr/>
          <p:nvPr/>
        </p:nvGrpSpPr>
        <p:grpSpPr>
          <a:xfrm>
            <a:off x="10505692" y="577770"/>
            <a:ext cx="1752984" cy="276999"/>
            <a:chOff x="8246313" y="472710"/>
            <a:chExt cx="1752984" cy="276999"/>
          </a:xfrm>
        </p:grpSpPr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F85DFE45-4B56-7AD0-548E-5DF310C6ADD3}"/>
                </a:ext>
              </a:extLst>
            </p:cNvPr>
            <p:cNvSpPr/>
            <p:nvPr/>
          </p:nvSpPr>
          <p:spPr>
            <a:xfrm>
              <a:off x="8246313" y="558865"/>
              <a:ext cx="144000" cy="144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F0C11E43-112B-AA12-4A4A-858368569DAA}"/>
                </a:ext>
              </a:extLst>
            </p:cNvPr>
            <p:cNvSpPr txBox="1"/>
            <p:nvPr/>
          </p:nvSpPr>
          <p:spPr>
            <a:xfrm>
              <a:off x="8460697" y="472710"/>
              <a:ext cx="1538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Medizin der Zukunft</a:t>
              </a:r>
            </a:p>
          </p:txBody>
        </p:sp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0373486B-4A37-9ADB-AF23-9514469361F9}"/>
              </a:ext>
            </a:extLst>
          </p:cNvPr>
          <p:cNvGrpSpPr/>
          <p:nvPr/>
        </p:nvGrpSpPr>
        <p:grpSpPr>
          <a:xfrm>
            <a:off x="10518824" y="963650"/>
            <a:ext cx="1742870" cy="276999"/>
            <a:chOff x="8246313" y="933539"/>
            <a:chExt cx="1742870" cy="276999"/>
          </a:xfrm>
        </p:grpSpPr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476D6F7D-FAD8-0762-DDE6-BCD4589B127F}"/>
                </a:ext>
              </a:extLst>
            </p:cNvPr>
            <p:cNvSpPr/>
            <p:nvPr/>
          </p:nvSpPr>
          <p:spPr>
            <a:xfrm>
              <a:off x="8246313" y="1010011"/>
              <a:ext cx="144000" cy="144000"/>
            </a:xfrm>
            <a:prstGeom prst="ellipse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B6292AB3-F9E5-1039-AFAD-77D7DE460A9F}"/>
                </a:ext>
              </a:extLst>
            </p:cNvPr>
            <p:cNvSpPr txBox="1"/>
            <p:nvPr/>
          </p:nvSpPr>
          <p:spPr>
            <a:xfrm>
              <a:off x="8450583" y="933539"/>
              <a:ext cx="1538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Markt &amp; Vernetzung</a:t>
              </a:r>
            </a:p>
          </p:txBody>
        </p: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BF5ACA0B-CEF2-2AA6-388B-BDC54C844692}"/>
              </a:ext>
            </a:extLst>
          </p:cNvPr>
          <p:cNvGrpSpPr/>
          <p:nvPr/>
        </p:nvGrpSpPr>
        <p:grpSpPr>
          <a:xfrm>
            <a:off x="8894226" y="1165397"/>
            <a:ext cx="1616340" cy="276999"/>
            <a:chOff x="9588248" y="698346"/>
            <a:chExt cx="1616340" cy="276999"/>
          </a:xfrm>
        </p:grpSpPr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A3B8B0F2-7EF0-B98A-8B91-FD4DE80238BA}"/>
                </a:ext>
              </a:extLst>
            </p:cNvPr>
            <p:cNvSpPr/>
            <p:nvPr/>
          </p:nvSpPr>
          <p:spPr>
            <a:xfrm>
              <a:off x="9588248" y="771000"/>
              <a:ext cx="144000" cy="144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96E6D770-4486-CCF4-1D77-CAD3FB477980}"/>
                </a:ext>
              </a:extLst>
            </p:cNvPr>
            <p:cNvSpPr txBox="1"/>
            <p:nvPr/>
          </p:nvSpPr>
          <p:spPr>
            <a:xfrm>
              <a:off x="9789105" y="698346"/>
              <a:ext cx="14154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Wirtschaftlichkeit</a:t>
              </a:r>
            </a:p>
          </p:txBody>
        </p:sp>
      </p:grpSp>
      <p:sp>
        <p:nvSpPr>
          <p:cNvPr id="56" name="Textfeld 55">
            <a:extLst>
              <a:ext uri="{FF2B5EF4-FFF2-40B4-BE49-F238E27FC236}">
                <a16:creationId xmlns:a16="http://schemas.microsoft.com/office/drawing/2014/main" id="{08929090-D39B-B5F7-B49D-143C3B61FDCA}"/>
              </a:ext>
            </a:extLst>
          </p:cNvPr>
          <p:cNvSpPr txBox="1"/>
          <p:nvPr/>
        </p:nvSpPr>
        <p:spPr>
          <a:xfrm>
            <a:off x="8783070" y="87135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Strategische Handlungsfelder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87C7A2D3-22FB-DC6A-183D-E51BEE96EED2}"/>
              </a:ext>
            </a:extLst>
          </p:cNvPr>
          <p:cNvGrpSpPr/>
          <p:nvPr/>
        </p:nvGrpSpPr>
        <p:grpSpPr>
          <a:xfrm>
            <a:off x="3811790" y="2440113"/>
            <a:ext cx="1212229" cy="282500"/>
            <a:chOff x="3848598" y="2717027"/>
            <a:chExt cx="1212229" cy="282500"/>
          </a:xfrm>
        </p:grpSpPr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9B327BFE-97CD-5DED-AB05-D5C937C9163C}"/>
                </a:ext>
              </a:extLst>
            </p:cNvPr>
            <p:cNvSpPr/>
            <p:nvPr/>
          </p:nvSpPr>
          <p:spPr>
            <a:xfrm>
              <a:off x="3848598" y="2747527"/>
              <a:ext cx="252000" cy="252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03229898-AC10-6F01-C76D-8891AFC97016}"/>
                </a:ext>
              </a:extLst>
            </p:cNvPr>
            <p:cNvSpPr txBox="1"/>
            <p:nvPr/>
          </p:nvSpPr>
          <p:spPr>
            <a:xfrm>
              <a:off x="4080174" y="2717027"/>
              <a:ext cx="9806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Insel</a:t>
              </a:r>
              <a:r>
                <a:rPr kumimoji="0" lang="de-CH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Zukunft</a:t>
              </a:r>
              <a:endParaRPr kumimoji="0" lang="de-CH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F14F190E-F621-FA30-5B7E-2A7BCFAA6984}"/>
              </a:ext>
            </a:extLst>
          </p:cNvPr>
          <p:cNvGrpSpPr/>
          <p:nvPr/>
        </p:nvGrpSpPr>
        <p:grpSpPr>
          <a:xfrm>
            <a:off x="4451347" y="2661293"/>
            <a:ext cx="1337535" cy="430887"/>
            <a:chOff x="4237317" y="3233795"/>
            <a:chExt cx="1337535" cy="430887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74654BCF-94B7-0F7D-51D7-C4F9931A66EB}"/>
                </a:ext>
              </a:extLst>
            </p:cNvPr>
            <p:cNvSpPr/>
            <p:nvPr/>
          </p:nvSpPr>
          <p:spPr>
            <a:xfrm>
              <a:off x="4237317" y="3284627"/>
              <a:ext cx="360000" cy="36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22CD45B0-57E3-AD95-D738-55761A0F67FF}"/>
                </a:ext>
              </a:extLst>
            </p:cNvPr>
            <p:cNvSpPr txBox="1"/>
            <p:nvPr/>
          </p:nvSpPr>
          <p:spPr>
            <a:xfrm>
              <a:off x="4519755" y="3233795"/>
              <a:ext cx="10550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Unsere Werte.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Unser Weg.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559D0E79-7C30-FF8D-65B5-A00CB08946CD}"/>
              </a:ext>
            </a:extLst>
          </p:cNvPr>
          <p:cNvGrpSpPr/>
          <p:nvPr/>
        </p:nvGrpSpPr>
        <p:grpSpPr>
          <a:xfrm>
            <a:off x="3726829" y="3025090"/>
            <a:ext cx="685932" cy="261610"/>
            <a:chOff x="3731520" y="3636233"/>
            <a:chExt cx="685932" cy="261610"/>
          </a:xfrm>
        </p:grpSpPr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BD90A0AE-1200-ADDF-667C-ACD867BB1974}"/>
                </a:ext>
              </a:extLst>
            </p:cNvPr>
            <p:cNvSpPr/>
            <p:nvPr/>
          </p:nvSpPr>
          <p:spPr>
            <a:xfrm>
              <a:off x="3731520" y="3676854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E489122C-2E80-0B78-D467-17C4DDBE72B2}"/>
                </a:ext>
              </a:extLst>
            </p:cNvPr>
            <p:cNvSpPr txBox="1"/>
            <p:nvPr/>
          </p:nvSpPr>
          <p:spPr>
            <a:xfrm>
              <a:off x="3905773" y="3636233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IKRM</a:t>
              </a:r>
            </a:p>
          </p:txBody>
        </p:sp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56B91154-C26F-9832-EC23-B3009E705B7D}"/>
              </a:ext>
            </a:extLst>
          </p:cNvPr>
          <p:cNvGrpSpPr/>
          <p:nvPr/>
        </p:nvGrpSpPr>
        <p:grpSpPr>
          <a:xfrm>
            <a:off x="3718841" y="3272973"/>
            <a:ext cx="1572430" cy="261610"/>
            <a:chOff x="3723532" y="3988891"/>
            <a:chExt cx="1572430" cy="261610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D09A470D-BA68-42AB-3516-6212FA645318}"/>
                </a:ext>
              </a:extLst>
            </p:cNvPr>
            <p:cNvSpPr/>
            <p:nvPr/>
          </p:nvSpPr>
          <p:spPr>
            <a:xfrm>
              <a:off x="3723532" y="4062041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C28470F4-D527-A9D0-B652-F4FB7EDE51E9}"/>
                </a:ext>
              </a:extLst>
            </p:cNvPr>
            <p:cNvSpPr txBox="1"/>
            <p:nvPr/>
          </p:nvSpPr>
          <p:spPr>
            <a:xfrm>
              <a:off x="3913852" y="3988891"/>
              <a:ext cx="13821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IK&amp;NB, Spesenfond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37474AA1-1897-A927-B64C-61B8E27665BD}"/>
              </a:ext>
            </a:extLst>
          </p:cNvPr>
          <p:cNvGrpSpPr/>
          <p:nvPr/>
        </p:nvGrpSpPr>
        <p:grpSpPr>
          <a:xfrm>
            <a:off x="4088626" y="3530528"/>
            <a:ext cx="1148505" cy="261610"/>
            <a:chOff x="4093317" y="4246446"/>
            <a:chExt cx="1148505" cy="261610"/>
          </a:xfrm>
        </p:grpSpPr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85B88217-7D2A-383F-A720-1F016CC7E8AD}"/>
                </a:ext>
              </a:extLst>
            </p:cNvPr>
            <p:cNvSpPr/>
            <p:nvPr/>
          </p:nvSpPr>
          <p:spPr>
            <a:xfrm>
              <a:off x="4093317" y="4328157"/>
              <a:ext cx="144000" cy="144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B8FFB82-EA0B-913F-5597-284C1E0770AB}"/>
                </a:ext>
              </a:extLst>
            </p:cNvPr>
            <p:cNvSpPr txBox="1"/>
            <p:nvPr/>
          </p:nvSpPr>
          <p:spPr>
            <a:xfrm>
              <a:off x="4189931" y="4246446"/>
              <a:ext cx="105189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Source-</a:t>
              </a: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to</a:t>
              </a: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-Pay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C53A6338-D8C7-0F6D-5CD4-F14A0DD1BE36}"/>
              </a:ext>
            </a:extLst>
          </p:cNvPr>
          <p:cNvGrpSpPr/>
          <p:nvPr/>
        </p:nvGrpSpPr>
        <p:grpSpPr>
          <a:xfrm>
            <a:off x="4002841" y="3837851"/>
            <a:ext cx="1387258" cy="261610"/>
            <a:chOff x="4027561" y="4559845"/>
            <a:chExt cx="1387258" cy="261610"/>
          </a:xfrm>
        </p:grpSpPr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84A1AC00-C9B1-A0F5-A466-A794A025287F}"/>
                </a:ext>
              </a:extLst>
            </p:cNvPr>
            <p:cNvSpPr/>
            <p:nvPr/>
          </p:nvSpPr>
          <p:spPr>
            <a:xfrm>
              <a:off x="5198819" y="4603364"/>
              <a:ext cx="216000" cy="216000"/>
            </a:xfrm>
            <a:prstGeom prst="ellipse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C8E223C8-9770-3D2C-EB19-76FCC5545C84}"/>
                </a:ext>
              </a:extLst>
            </p:cNvPr>
            <p:cNvSpPr txBox="1"/>
            <p:nvPr/>
          </p:nvSpPr>
          <p:spPr>
            <a:xfrm>
              <a:off x="4027561" y="4559845"/>
              <a:ext cx="11176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Zuweiser </a:t>
              </a: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Mgmt</a:t>
              </a:r>
              <a:endPara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5AD78125-BAEA-0FBB-F20D-5703D8005A06}"/>
              </a:ext>
            </a:extLst>
          </p:cNvPr>
          <p:cNvGrpSpPr/>
          <p:nvPr/>
        </p:nvGrpSpPr>
        <p:grpSpPr>
          <a:xfrm>
            <a:off x="3669533" y="4115133"/>
            <a:ext cx="1359657" cy="430887"/>
            <a:chOff x="4055162" y="4480751"/>
            <a:chExt cx="1359657" cy="430887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FC9903BE-86F9-2867-5D13-AFA11389FFC1}"/>
                </a:ext>
              </a:extLst>
            </p:cNvPr>
            <p:cNvSpPr/>
            <p:nvPr/>
          </p:nvSpPr>
          <p:spPr>
            <a:xfrm>
              <a:off x="5198819" y="4603364"/>
              <a:ext cx="216000" cy="216000"/>
            </a:xfrm>
            <a:prstGeom prst="ellipse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D90760B9-2821-A33B-F928-0964E85CB969}"/>
                </a:ext>
              </a:extLst>
            </p:cNvPr>
            <p:cNvSpPr txBox="1"/>
            <p:nvPr/>
          </p:nvSpPr>
          <p:spPr>
            <a:xfrm>
              <a:off x="4055162" y="4480751"/>
              <a:ext cx="127926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Standortübergr</a:t>
              </a: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. Altersmedizin</a:t>
              </a:r>
            </a:p>
          </p:txBody>
        </p:sp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9D444FE0-EFD0-D3D0-0BC2-D21E1298D1FF}"/>
              </a:ext>
            </a:extLst>
          </p:cNvPr>
          <p:cNvGrpSpPr/>
          <p:nvPr/>
        </p:nvGrpSpPr>
        <p:grpSpPr>
          <a:xfrm>
            <a:off x="3239861" y="4497352"/>
            <a:ext cx="1895235" cy="430887"/>
            <a:chOff x="3519584" y="4451649"/>
            <a:chExt cx="1895235" cy="430887"/>
          </a:xfrm>
        </p:grpSpPr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13605674-CC96-700E-867F-ADE41DA79BCC}"/>
                </a:ext>
              </a:extLst>
            </p:cNvPr>
            <p:cNvSpPr/>
            <p:nvPr/>
          </p:nvSpPr>
          <p:spPr>
            <a:xfrm>
              <a:off x="5198819" y="4603364"/>
              <a:ext cx="216000" cy="216000"/>
            </a:xfrm>
            <a:prstGeom prst="ellipse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35EB7378-5D73-701E-1A63-EBA81FA0E0E9}"/>
                </a:ext>
              </a:extLst>
            </p:cNvPr>
            <p:cNvSpPr txBox="1"/>
            <p:nvPr/>
          </p:nvSpPr>
          <p:spPr>
            <a:xfrm>
              <a:off x="3519584" y="4451649"/>
              <a:ext cx="172842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Umsetzung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Profilierung </a:t>
              </a: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Aarberg</a:t>
              </a:r>
              <a:endPara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82" name="Ellipse 81">
            <a:extLst>
              <a:ext uri="{FF2B5EF4-FFF2-40B4-BE49-F238E27FC236}">
                <a16:creationId xmlns:a16="http://schemas.microsoft.com/office/drawing/2014/main" id="{C3941C5F-E1A0-8F42-7037-6E94BC865F91}"/>
              </a:ext>
            </a:extLst>
          </p:cNvPr>
          <p:cNvSpPr/>
          <p:nvPr/>
        </p:nvSpPr>
        <p:spPr>
          <a:xfrm>
            <a:off x="4332012" y="5045484"/>
            <a:ext cx="216000" cy="216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15C1BA37-D695-C6A8-3343-EFFF3E80DEDA}"/>
              </a:ext>
            </a:extLst>
          </p:cNvPr>
          <p:cNvSpPr txBox="1"/>
          <p:nvPr/>
        </p:nvSpPr>
        <p:spPr>
          <a:xfrm>
            <a:off x="2547839" y="5004225"/>
            <a:ext cx="18373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Amb. OP Zentrum 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CD8D9E9E-6BE5-FE97-5762-EF3F9E99945C}"/>
              </a:ext>
            </a:extLst>
          </p:cNvPr>
          <p:cNvSpPr/>
          <p:nvPr/>
        </p:nvSpPr>
        <p:spPr>
          <a:xfrm>
            <a:off x="4974284" y="5398479"/>
            <a:ext cx="216000" cy="216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3B432EBF-D1B1-1F64-AB1C-DBD31131013C}"/>
              </a:ext>
            </a:extLst>
          </p:cNvPr>
          <p:cNvSpPr txBox="1"/>
          <p:nvPr/>
        </p:nvSpPr>
        <p:spPr>
          <a:xfrm>
            <a:off x="2982047" y="5304461"/>
            <a:ext cx="20413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Amb. Versorgungsmodell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Insel Campus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1AC84D54-DB13-B590-0B3E-474EEC0737BA}"/>
              </a:ext>
            </a:extLst>
          </p:cNvPr>
          <p:cNvGrpSpPr/>
          <p:nvPr/>
        </p:nvGrpSpPr>
        <p:grpSpPr>
          <a:xfrm>
            <a:off x="315514" y="2860789"/>
            <a:ext cx="1214682" cy="600164"/>
            <a:chOff x="315514" y="3358725"/>
            <a:chExt cx="1214682" cy="600164"/>
          </a:xfrm>
        </p:grpSpPr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15AA83E1-F044-3129-1912-08BCFC1C057C}"/>
                </a:ext>
              </a:extLst>
            </p:cNvPr>
            <p:cNvSpPr/>
            <p:nvPr/>
          </p:nvSpPr>
          <p:spPr>
            <a:xfrm>
              <a:off x="1386196" y="3589333"/>
              <a:ext cx="144000" cy="144000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12CC266D-9DBC-51D8-73BF-6B96BB1450C2}"/>
                </a:ext>
              </a:extLst>
            </p:cNvPr>
            <p:cNvSpPr txBox="1"/>
            <p:nvPr/>
          </p:nvSpPr>
          <p:spPr>
            <a:xfrm>
              <a:off x="315514" y="3358725"/>
              <a:ext cx="108598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Digitale Gesundheits-</a:t>
              </a: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plattform</a:t>
              </a:r>
              <a:endPara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62D20C97-03E0-1732-87BA-053BEDE6B4D8}"/>
              </a:ext>
            </a:extLst>
          </p:cNvPr>
          <p:cNvGrpSpPr/>
          <p:nvPr/>
        </p:nvGrpSpPr>
        <p:grpSpPr>
          <a:xfrm>
            <a:off x="11010107" y="3912704"/>
            <a:ext cx="796556" cy="369332"/>
            <a:chOff x="11407445" y="2895211"/>
            <a:chExt cx="796556" cy="369332"/>
          </a:xfrm>
        </p:grpSpPr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93EE0D13-2443-A83D-F651-3F55BC460C66}"/>
                </a:ext>
              </a:extLst>
            </p:cNvPr>
            <p:cNvSpPr txBox="1"/>
            <p:nvPr/>
          </p:nvSpPr>
          <p:spPr>
            <a:xfrm>
              <a:off x="11608966" y="2895211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ROI</a:t>
              </a:r>
            </a:p>
          </p:txBody>
        </p:sp>
        <p:pic>
          <p:nvPicPr>
            <p:cNvPr id="98" name="Grafik 97" descr="Häkchen mit einfarbiger Füllung">
              <a:extLst>
                <a:ext uri="{FF2B5EF4-FFF2-40B4-BE49-F238E27FC236}">
                  <a16:creationId xmlns:a16="http://schemas.microsoft.com/office/drawing/2014/main" id="{51A52E87-6242-09E2-114F-A23C310FA0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42126" y="2998256"/>
              <a:ext cx="144000" cy="144000"/>
            </a:xfrm>
            <a:prstGeom prst="rect">
              <a:avLst/>
            </a:prstGeom>
          </p:spPr>
        </p:pic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B916FD00-A408-8183-F99A-584093164466}"/>
                </a:ext>
              </a:extLst>
            </p:cNvPr>
            <p:cNvSpPr/>
            <p:nvPr/>
          </p:nvSpPr>
          <p:spPr>
            <a:xfrm>
              <a:off x="11407445" y="2949539"/>
              <a:ext cx="201521" cy="234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0" name="Ellipse 99">
            <a:extLst>
              <a:ext uri="{FF2B5EF4-FFF2-40B4-BE49-F238E27FC236}">
                <a16:creationId xmlns:a16="http://schemas.microsoft.com/office/drawing/2014/main" id="{119BFCFD-C000-4B80-16D1-94FDF65C9889}"/>
              </a:ext>
            </a:extLst>
          </p:cNvPr>
          <p:cNvSpPr/>
          <p:nvPr/>
        </p:nvSpPr>
        <p:spPr>
          <a:xfrm>
            <a:off x="5496104" y="6194551"/>
            <a:ext cx="180000" cy="1800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</a:t>
            </a:r>
          </a:p>
        </p:txBody>
      </p:sp>
      <p:sp>
        <p:nvSpPr>
          <p:cNvPr id="101" name="Ellipse 100">
            <a:extLst>
              <a:ext uri="{FF2B5EF4-FFF2-40B4-BE49-F238E27FC236}">
                <a16:creationId xmlns:a16="http://schemas.microsoft.com/office/drawing/2014/main" id="{D61E8283-BFE3-8ED8-E242-358C46A55170}"/>
              </a:ext>
            </a:extLst>
          </p:cNvPr>
          <p:cNvSpPr/>
          <p:nvPr/>
        </p:nvSpPr>
        <p:spPr>
          <a:xfrm>
            <a:off x="6467001" y="6089515"/>
            <a:ext cx="360000" cy="3600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</a:t>
            </a:r>
          </a:p>
        </p:txBody>
      </p:sp>
      <p:sp>
        <p:nvSpPr>
          <p:cNvPr id="102" name="Ellipse 101">
            <a:extLst>
              <a:ext uri="{FF2B5EF4-FFF2-40B4-BE49-F238E27FC236}">
                <a16:creationId xmlns:a16="http://schemas.microsoft.com/office/drawing/2014/main" id="{56CCFD97-753D-BD64-58D2-AB401D1E0413}"/>
              </a:ext>
            </a:extLst>
          </p:cNvPr>
          <p:cNvSpPr/>
          <p:nvPr/>
        </p:nvSpPr>
        <p:spPr>
          <a:xfrm>
            <a:off x="5945552" y="6143515"/>
            <a:ext cx="252000" cy="2520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39B5D3B5-6A3B-C461-6751-23BB639B81D3}"/>
              </a:ext>
            </a:extLst>
          </p:cNvPr>
          <p:cNvSpPr txBox="1"/>
          <p:nvPr/>
        </p:nvSpPr>
        <p:spPr>
          <a:xfrm>
            <a:off x="6919048" y="5810183"/>
            <a:ext cx="251344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Beispiele: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Ressourcenbedarf / Kosten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Nutzen (Top Line/Bottom Line)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A8C7D079-F592-2448-A5F1-1DFCA16890D5}"/>
              </a:ext>
            </a:extLst>
          </p:cNvPr>
          <p:cNvGrpSpPr/>
          <p:nvPr/>
        </p:nvGrpSpPr>
        <p:grpSpPr>
          <a:xfrm>
            <a:off x="-38190" y="4501938"/>
            <a:ext cx="1260768" cy="261610"/>
            <a:chOff x="-119208" y="4832001"/>
            <a:chExt cx="1654544" cy="26161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6A1E1A89-C9D6-6FBF-AE93-28D3AF255FAD}"/>
                </a:ext>
              </a:extLst>
            </p:cNvPr>
            <p:cNvSpPr/>
            <p:nvPr/>
          </p:nvSpPr>
          <p:spPr>
            <a:xfrm>
              <a:off x="1346360" y="4901484"/>
              <a:ext cx="188976" cy="14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5D0CEF9B-1F16-2214-069B-08ED13D7A0C7}"/>
                </a:ext>
              </a:extLst>
            </p:cNvPr>
            <p:cNvSpPr txBox="1"/>
            <p:nvPr/>
          </p:nvSpPr>
          <p:spPr>
            <a:xfrm>
              <a:off x="-119208" y="4832001"/>
              <a:ext cx="14957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KI </a:t>
              </a: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Governance</a:t>
              </a:r>
              <a:endPara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33F49AEC-8154-A305-9396-81AFCD87FA29}"/>
              </a:ext>
            </a:extLst>
          </p:cNvPr>
          <p:cNvGrpSpPr/>
          <p:nvPr/>
        </p:nvGrpSpPr>
        <p:grpSpPr>
          <a:xfrm>
            <a:off x="-148974" y="3691636"/>
            <a:ext cx="1627887" cy="430887"/>
            <a:chOff x="-148974" y="4189572"/>
            <a:chExt cx="1627887" cy="430887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24011A64-FDD0-7C27-77A0-06009234D014}"/>
                </a:ext>
              </a:extLst>
            </p:cNvPr>
            <p:cNvSpPr txBox="1"/>
            <p:nvPr/>
          </p:nvSpPr>
          <p:spPr>
            <a:xfrm>
              <a:off x="-148974" y="4189572"/>
              <a:ext cx="149578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Insel Data </a:t>
              </a: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Mgmt</a:t>
              </a:r>
              <a:endPara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Governance</a:t>
              </a:r>
              <a:endPara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36F531BE-95C3-AD62-D324-FBC0C5781F39}"/>
                </a:ext>
              </a:extLst>
            </p:cNvPr>
            <p:cNvSpPr/>
            <p:nvPr/>
          </p:nvSpPr>
          <p:spPr>
            <a:xfrm>
              <a:off x="1334913" y="4362523"/>
              <a:ext cx="144000" cy="14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D724C401-68A4-465A-30C1-511374CF24A8}"/>
              </a:ext>
            </a:extLst>
          </p:cNvPr>
          <p:cNvGrpSpPr/>
          <p:nvPr/>
        </p:nvGrpSpPr>
        <p:grpSpPr>
          <a:xfrm>
            <a:off x="47453" y="4863378"/>
            <a:ext cx="1261115" cy="430887"/>
            <a:chOff x="-119663" y="4772625"/>
            <a:chExt cx="1654999" cy="430887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71B3AE38-7D60-BAA9-7F54-3AC528CB708E}"/>
                </a:ext>
              </a:extLst>
            </p:cNvPr>
            <p:cNvSpPr/>
            <p:nvPr/>
          </p:nvSpPr>
          <p:spPr>
            <a:xfrm>
              <a:off x="1346360" y="4901484"/>
              <a:ext cx="188976" cy="14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D895FD79-061F-946C-7F1A-95AAE50E061C}"/>
                </a:ext>
              </a:extLst>
            </p:cNvPr>
            <p:cNvSpPr txBox="1"/>
            <p:nvPr/>
          </p:nvSpPr>
          <p:spPr>
            <a:xfrm>
              <a:off x="-119663" y="4772625"/>
              <a:ext cx="149578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Medizin der Zukunft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0889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ADFC73-2AF5-C0D9-7AD9-0D90E8A0B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7932AC-1CA1-4660-9AC8-B1E28522F236}" type="datetime1">
              <a:rPr kumimoji="0" lang="de-CH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26.10.2026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BE344C-B1B0-3F8E-F8D4-B6FF079ED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Strategieumsetzung und Projektmanagement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4FC913-E7B9-B20D-2317-E786F4C7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202F54-BD24-4091-80C5-A159FB9A23AA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30DA568-0273-F199-FDF4-531BB1CC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Transformationsprogramm Portfolio – </a:t>
            </a:r>
            <a:r>
              <a:rPr lang="de-CH" i="1" dirty="0">
                <a:solidFill>
                  <a:srgbClr val="C00000"/>
                </a:solidFill>
              </a:rPr>
              <a:t>Matrix Sicht Mockup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17C15CBA-04E9-08CF-3A6E-DC71AFD642B8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1771649" y="1831975"/>
          <a:ext cx="8143874" cy="339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71937">
                  <a:extLst>
                    <a:ext uri="{9D8B030D-6E8A-4147-A177-3AD203B41FA5}">
                      <a16:colId xmlns:a16="http://schemas.microsoft.com/office/drawing/2014/main" val="1942847673"/>
                    </a:ext>
                  </a:extLst>
                </a:gridCol>
                <a:gridCol w="4071937">
                  <a:extLst>
                    <a:ext uri="{9D8B030D-6E8A-4147-A177-3AD203B41FA5}">
                      <a16:colId xmlns:a16="http://schemas.microsoft.com/office/drawing/2014/main" val="1793100234"/>
                    </a:ext>
                  </a:extLst>
                </a:gridCol>
              </a:tblGrid>
              <a:tr h="1698625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752091"/>
                  </a:ext>
                </a:extLst>
              </a:tr>
              <a:tr h="1698625"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06912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746BCC44-31D3-BF3D-A5B0-D45E76171F76}"/>
              </a:ext>
            </a:extLst>
          </p:cNvPr>
          <p:cNvSpPr txBox="1"/>
          <p:nvPr/>
        </p:nvSpPr>
        <p:spPr>
          <a:xfrm>
            <a:off x="2035578" y="6002107"/>
            <a:ext cx="771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Beispiele weiterer Matrix Dimensionen: Ressourcen/Kosten </a:t>
            </a:r>
            <a:r>
              <a:rPr kumimoji="0" lang="de-CH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vs</a:t>
            </a:r>
            <a:r>
              <a:rPr kumimoji="0" lang="de-C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Nutzen etc.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253CADE-1659-BD60-DA2D-FA60A5C50BE7}"/>
              </a:ext>
            </a:extLst>
          </p:cNvPr>
          <p:cNvGrpSpPr/>
          <p:nvPr/>
        </p:nvGrpSpPr>
        <p:grpSpPr>
          <a:xfrm>
            <a:off x="7691827" y="2136801"/>
            <a:ext cx="1212229" cy="282500"/>
            <a:chOff x="3848598" y="2717027"/>
            <a:chExt cx="1212229" cy="282500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96126CFE-A292-9F61-191E-780974B18B80}"/>
                </a:ext>
              </a:extLst>
            </p:cNvPr>
            <p:cNvSpPr/>
            <p:nvPr/>
          </p:nvSpPr>
          <p:spPr>
            <a:xfrm>
              <a:off x="3848598" y="2747527"/>
              <a:ext cx="252000" cy="252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4A9915E2-1C1C-A965-0366-03F9F6198166}"/>
                </a:ext>
              </a:extLst>
            </p:cNvPr>
            <p:cNvSpPr txBox="1"/>
            <p:nvPr/>
          </p:nvSpPr>
          <p:spPr>
            <a:xfrm>
              <a:off x="4080174" y="2717027"/>
              <a:ext cx="9806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Insel</a:t>
              </a:r>
              <a:r>
                <a:rPr kumimoji="0" lang="de-CH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Zukunft</a:t>
              </a:r>
              <a:endParaRPr kumimoji="0" lang="de-CH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D231298-F2B8-C43F-E462-5A020BEE3131}"/>
              </a:ext>
            </a:extLst>
          </p:cNvPr>
          <p:cNvGrpSpPr/>
          <p:nvPr/>
        </p:nvGrpSpPr>
        <p:grpSpPr>
          <a:xfrm>
            <a:off x="3133682" y="1889251"/>
            <a:ext cx="1396142" cy="430887"/>
            <a:chOff x="4237317" y="3248278"/>
            <a:chExt cx="1396142" cy="430887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F99A47AD-BACA-B780-0A5F-EFA3461C8386}"/>
                </a:ext>
              </a:extLst>
            </p:cNvPr>
            <p:cNvSpPr/>
            <p:nvPr/>
          </p:nvSpPr>
          <p:spPr>
            <a:xfrm>
              <a:off x="4237317" y="3284627"/>
              <a:ext cx="360000" cy="36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8A4E38C3-5A62-3563-AB71-BD8B78BB2D21}"/>
                </a:ext>
              </a:extLst>
            </p:cNvPr>
            <p:cNvSpPr txBox="1"/>
            <p:nvPr/>
          </p:nvSpPr>
          <p:spPr>
            <a:xfrm>
              <a:off x="4578362" y="3248278"/>
              <a:ext cx="10550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Unsere Werte.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Unser Weg.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86BCABF-D954-AB1B-03D7-2B5ADDD316CB}"/>
              </a:ext>
            </a:extLst>
          </p:cNvPr>
          <p:cNvGrpSpPr/>
          <p:nvPr/>
        </p:nvGrpSpPr>
        <p:grpSpPr>
          <a:xfrm>
            <a:off x="5980522" y="1948477"/>
            <a:ext cx="685932" cy="261610"/>
            <a:chOff x="3731520" y="3636233"/>
            <a:chExt cx="685932" cy="261610"/>
          </a:xfrm>
        </p:grpSpPr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03677585-2206-063D-2F53-C80A53553AB2}"/>
                </a:ext>
              </a:extLst>
            </p:cNvPr>
            <p:cNvSpPr/>
            <p:nvPr/>
          </p:nvSpPr>
          <p:spPr>
            <a:xfrm>
              <a:off x="3731520" y="3676854"/>
              <a:ext cx="180000" cy="18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D1844278-44FD-BFD1-ABA6-6BEBF345F780}"/>
                </a:ext>
              </a:extLst>
            </p:cNvPr>
            <p:cNvSpPr txBox="1"/>
            <p:nvPr/>
          </p:nvSpPr>
          <p:spPr>
            <a:xfrm>
              <a:off x="3905773" y="3636233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IKRM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64DAE167-4DCA-2781-BB82-BE2E05519D07}"/>
              </a:ext>
            </a:extLst>
          </p:cNvPr>
          <p:cNvGrpSpPr/>
          <p:nvPr/>
        </p:nvGrpSpPr>
        <p:grpSpPr>
          <a:xfrm>
            <a:off x="4032552" y="3164250"/>
            <a:ext cx="1572430" cy="261610"/>
            <a:chOff x="3723532" y="3988891"/>
            <a:chExt cx="1572430" cy="261610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FAEF39E3-93CC-FBBE-D333-AED101023ACC}"/>
                </a:ext>
              </a:extLst>
            </p:cNvPr>
            <p:cNvSpPr/>
            <p:nvPr/>
          </p:nvSpPr>
          <p:spPr>
            <a:xfrm>
              <a:off x="3723532" y="4062041"/>
              <a:ext cx="180000" cy="180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096ADE94-0532-02FA-202D-EC39BD3EFF51}"/>
                </a:ext>
              </a:extLst>
            </p:cNvPr>
            <p:cNvSpPr txBox="1"/>
            <p:nvPr/>
          </p:nvSpPr>
          <p:spPr>
            <a:xfrm>
              <a:off x="3913852" y="3988891"/>
              <a:ext cx="13821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IK&amp;NB, Spesenfond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61EC7F4-47BC-160C-45A2-C09A3C81B800}"/>
              </a:ext>
            </a:extLst>
          </p:cNvPr>
          <p:cNvGrpSpPr/>
          <p:nvPr/>
        </p:nvGrpSpPr>
        <p:grpSpPr>
          <a:xfrm>
            <a:off x="3691166" y="3840359"/>
            <a:ext cx="1148505" cy="261610"/>
            <a:chOff x="4093317" y="4246446"/>
            <a:chExt cx="1148505" cy="261610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E2FA112E-B6C3-C557-FAB3-F95D2DCAB8B1}"/>
                </a:ext>
              </a:extLst>
            </p:cNvPr>
            <p:cNvSpPr/>
            <p:nvPr/>
          </p:nvSpPr>
          <p:spPr>
            <a:xfrm>
              <a:off x="4093317" y="4328157"/>
              <a:ext cx="144000" cy="144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DCC9E096-F7DC-D7CF-890C-077180E1761C}"/>
                </a:ext>
              </a:extLst>
            </p:cNvPr>
            <p:cNvSpPr txBox="1"/>
            <p:nvPr/>
          </p:nvSpPr>
          <p:spPr>
            <a:xfrm>
              <a:off x="4189931" y="4246446"/>
              <a:ext cx="105189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Source-</a:t>
              </a: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to</a:t>
              </a: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-Pay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23F49D1-A4E0-3096-864C-C5533FBF2E30}"/>
              </a:ext>
            </a:extLst>
          </p:cNvPr>
          <p:cNvGrpSpPr/>
          <p:nvPr/>
        </p:nvGrpSpPr>
        <p:grpSpPr>
          <a:xfrm>
            <a:off x="2035578" y="2364409"/>
            <a:ext cx="1350425" cy="261610"/>
            <a:chOff x="5198819" y="4587651"/>
            <a:chExt cx="1350425" cy="261610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7F51789D-7EEF-628E-CFF3-DC74A3277474}"/>
                </a:ext>
              </a:extLst>
            </p:cNvPr>
            <p:cNvSpPr/>
            <p:nvPr/>
          </p:nvSpPr>
          <p:spPr>
            <a:xfrm>
              <a:off x="5198819" y="4603364"/>
              <a:ext cx="216000" cy="216000"/>
            </a:xfrm>
            <a:prstGeom prst="ellipse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7335A4F6-FB50-2B5E-A6DE-86738FAFE95D}"/>
                </a:ext>
              </a:extLst>
            </p:cNvPr>
            <p:cNvSpPr txBox="1"/>
            <p:nvPr/>
          </p:nvSpPr>
          <p:spPr>
            <a:xfrm>
              <a:off x="5431630" y="4587651"/>
              <a:ext cx="11176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Zuweiser </a:t>
              </a: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Mgmt</a:t>
              </a:r>
              <a:endPara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888CE8F7-CDE5-1748-9F67-9D03ED5D5195}"/>
              </a:ext>
            </a:extLst>
          </p:cNvPr>
          <p:cNvGrpSpPr/>
          <p:nvPr/>
        </p:nvGrpSpPr>
        <p:grpSpPr>
          <a:xfrm>
            <a:off x="5932751" y="2422988"/>
            <a:ext cx="1484507" cy="430887"/>
            <a:chOff x="5198819" y="4507055"/>
            <a:chExt cx="1484507" cy="430887"/>
          </a:xfrm>
        </p:grpSpPr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02C435A4-4E5F-2B1C-064D-EA364FBD0FBA}"/>
                </a:ext>
              </a:extLst>
            </p:cNvPr>
            <p:cNvSpPr/>
            <p:nvPr/>
          </p:nvSpPr>
          <p:spPr>
            <a:xfrm>
              <a:off x="5198819" y="4603364"/>
              <a:ext cx="216000" cy="216000"/>
            </a:xfrm>
            <a:prstGeom prst="ellipse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0684FB85-5599-F383-35AD-DB934CFB392A}"/>
                </a:ext>
              </a:extLst>
            </p:cNvPr>
            <p:cNvSpPr txBox="1"/>
            <p:nvPr/>
          </p:nvSpPr>
          <p:spPr>
            <a:xfrm>
              <a:off x="5404059" y="4507055"/>
              <a:ext cx="127926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Standortübergr</a:t>
              </a: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. Altersmedizin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6259D29-3E12-2BCD-61E1-1366EF4677EF}"/>
              </a:ext>
            </a:extLst>
          </p:cNvPr>
          <p:cNvGrpSpPr/>
          <p:nvPr/>
        </p:nvGrpSpPr>
        <p:grpSpPr>
          <a:xfrm>
            <a:off x="4220295" y="2016621"/>
            <a:ext cx="1548916" cy="430887"/>
            <a:chOff x="3865903" y="4451649"/>
            <a:chExt cx="1548916" cy="430887"/>
          </a:xfrm>
        </p:grpSpPr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130FF97E-2B3B-97ED-688C-7D8D7F12D018}"/>
                </a:ext>
              </a:extLst>
            </p:cNvPr>
            <p:cNvSpPr/>
            <p:nvPr/>
          </p:nvSpPr>
          <p:spPr>
            <a:xfrm>
              <a:off x="5198819" y="4603364"/>
              <a:ext cx="216000" cy="216000"/>
            </a:xfrm>
            <a:prstGeom prst="ellipse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3AB7528-34EA-890F-2DD3-2AEF3A11A1D8}"/>
                </a:ext>
              </a:extLst>
            </p:cNvPr>
            <p:cNvSpPr txBox="1"/>
            <p:nvPr/>
          </p:nvSpPr>
          <p:spPr>
            <a:xfrm>
              <a:off x="3865903" y="4451649"/>
              <a:ext cx="138211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Umsetzung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Profilierung </a:t>
              </a:r>
              <a:r>
                <a:rPr kumimoji="0" lang="de-CH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Aarberg</a:t>
              </a:r>
              <a:endParaRPr kumimoji="0" lang="de-C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65F6F573-80A4-E8AF-1A2F-D81719B9A110}"/>
              </a:ext>
            </a:extLst>
          </p:cNvPr>
          <p:cNvGrpSpPr/>
          <p:nvPr/>
        </p:nvGrpSpPr>
        <p:grpSpPr>
          <a:xfrm>
            <a:off x="3004921" y="2812387"/>
            <a:ext cx="2000173" cy="261610"/>
            <a:chOff x="2547839" y="5004225"/>
            <a:chExt cx="2000173" cy="26161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B47D1B10-EFF9-B3D6-C9E0-8583459ED08D}"/>
                </a:ext>
              </a:extLst>
            </p:cNvPr>
            <p:cNvSpPr/>
            <p:nvPr/>
          </p:nvSpPr>
          <p:spPr>
            <a:xfrm>
              <a:off x="4332012" y="5045484"/>
              <a:ext cx="216000" cy="216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55735657-EC58-7B8E-DCC3-9CF7B26E7A6D}"/>
                </a:ext>
              </a:extLst>
            </p:cNvPr>
            <p:cNvSpPr txBox="1"/>
            <p:nvPr/>
          </p:nvSpPr>
          <p:spPr>
            <a:xfrm>
              <a:off x="2547839" y="5004225"/>
              <a:ext cx="18373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Amb. OP Zentrum </a:t>
              </a:r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2B5B35FC-AA18-0872-13A4-0E57D0911818}"/>
              </a:ext>
            </a:extLst>
          </p:cNvPr>
          <p:cNvGrpSpPr/>
          <p:nvPr/>
        </p:nvGrpSpPr>
        <p:grpSpPr>
          <a:xfrm>
            <a:off x="2798312" y="2394062"/>
            <a:ext cx="2208237" cy="430887"/>
            <a:chOff x="2982047" y="5304461"/>
            <a:chExt cx="2208237" cy="430887"/>
          </a:xfrm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8D94924B-08D6-5F4F-A5B6-A92C50241006}"/>
                </a:ext>
              </a:extLst>
            </p:cNvPr>
            <p:cNvSpPr/>
            <p:nvPr/>
          </p:nvSpPr>
          <p:spPr>
            <a:xfrm>
              <a:off x="4974284" y="5398479"/>
              <a:ext cx="216000" cy="216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DEFC7F8B-5B80-3844-E793-371BC93481EA}"/>
                </a:ext>
              </a:extLst>
            </p:cNvPr>
            <p:cNvSpPr txBox="1"/>
            <p:nvPr/>
          </p:nvSpPr>
          <p:spPr>
            <a:xfrm>
              <a:off x="2982047" y="5304461"/>
              <a:ext cx="204135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Amb. Versorgungs-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Modell Insel Campus</a:t>
              </a:r>
            </a:p>
          </p:txBody>
        </p:sp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76D6D18-75FF-FB57-DF9E-402E18BDDAF6}"/>
              </a:ext>
            </a:extLst>
          </p:cNvPr>
          <p:cNvGrpSpPr/>
          <p:nvPr/>
        </p:nvGrpSpPr>
        <p:grpSpPr>
          <a:xfrm>
            <a:off x="6296712" y="1269274"/>
            <a:ext cx="3692439" cy="523220"/>
            <a:chOff x="6096000" y="1244762"/>
            <a:chExt cx="3692439" cy="523220"/>
          </a:xfrm>
        </p:grpSpPr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19D6F82F-78F7-9666-A3F9-089AE3F0601E}"/>
                </a:ext>
              </a:extLst>
            </p:cNvPr>
            <p:cNvSpPr/>
            <p:nvPr/>
          </p:nvSpPr>
          <p:spPr>
            <a:xfrm>
              <a:off x="6096000" y="1477679"/>
              <a:ext cx="180000" cy="18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F32A3E28-ABBD-065E-6EE9-5EDDE4BB7B03}"/>
                </a:ext>
              </a:extLst>
            </p:cNvPr>
            <p:cNvSpPr/>
            <p:nvPr/>
          </p:nvSpPr>
          <p:spPr>
            <a:xfrm>
              <a:off x="7066897" y="1372643"/>
              <a:ext cx="360000" cy="360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B130E890-F539-C0D1-A378-E5C0B11EA065}"/>
                </a:ext>
              </a:extLst>
            </p:cNvPr>
            <p:cNvSpPr/>
            <p:nvPr/>
          </p:nvSpPr>
          <p:spPr>
            <a:xfrm>
              <a:off x="6545448" y="1426643"/>
              <a:ext cx="252000" cy="252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65F73DF3-F072-35D9-BF36-9ADA515217B9}"/>
                </a:ext>
              </a:extLst>
            </p:cNvPr>
            <p:cNvSpPr txBox="1"/>
            <p:nvPr/>
          </p:nvSpPr>
          <p:spPr>
            <a:xfrm>
              <a:off x="7525768" y="1244762"/>
              <a:ext cx="22626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Beispiele: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 Light" panose="020B0304020202020204" pitchFamily="34" charset="0"/>
                  <a:ea typeface="+mn-ea"/>
                  <a:cs typeface="+mn-cs"/>
                </a:rPr>
                <a:t>Ressourcenbedarf / Kosten</a:t>
              </a:r>
            </a:p>
          </p:txBody>
        </p:sp>
      </p:grpSp>
      <p:sp>
        <p:nvSpPr>
          <p:cNvPr id="43" name="Textfeld 42">
            <a:extLst>
              <a:ext uri="{FF2B5EF4-FFF2-40B4-BE49-F238E27FC236}">
                <a16:creationId xmlns:a16="http://schemas.microsoft.com/office/drawing/2014/main" id="{A371C09E-29B9-5B7D-C92B-63428947703E}"/>
              </a:ext>
            </a:extLst>
          </p:cNvPr>
          <p:cNvSpPr txBox="1"/>
          <p:nvPr/>
        </p:nvSpPr>
        <p:spPr>
          <a:xfrm>
            <a:off x="5390099" y="531845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Risiko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8D594A17-E20B-BAC5-D761-08F2112D9D1A}"/>
              </a:ext>
            </a:extLst>
          </p:cNvPr>
          <p:cNvSpPr txBox="1"/>
          <p:nvPr/>
        </p:nvSpPr>
        <p:spPr>
          <a:xfrm>
            <a:off x="1119164" y="1744210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Hoch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5E4C984-4D21-772A-A4F0-049821C63CE7}"/>
              </a:ext>
            </a:extLst>
          </p:cNvPr>
          <p:cNvSpPr txBox="1"/>
          <p:nvPr/>
        </p:nvSpPr>
        <p:spPr>
          <a:xfrm>
            <a:off x="1259338" y="4922878"/>
            <a:ext cx="476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Tief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F05BFB16-5BE4-6A98-E2EF-3BABC27D007A}"/>
              </a:ext>
            </a:extLst>
          </p:cNvPr>
          <p:cNvSpPr txBox="1"/>
          <p:nvPr/>
        </p:nvSpPr>
        <p:spPr>
          <a:xfrm>
            <a:off x="108642" y="3217118"/>
            <a:ext cx="1663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Strategischer Nutzen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024EE84-68A2-31BE-BD0C-EBB311820C31}"/>
              </a:ext>
            </a:extLst>
          </p:cNvPr>
          <p:cNvSpPr txBox="1"/>
          <p:nvPr/>
        </p:nvSpPr>
        <p:spPr>
          <a:xfrm>
            <a:off x="1735494" y="5244590"/>
            <a:ext cx="476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Tief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7D867C09-EE82-91C9-DB83-029743E19954}"/>
              </a:ext>
            </a:extLst>
          </p:cNvPr>
          <p:cNvSpPr txBox="1"/>
          <p:nvPr/>
        </p:nvSpPr>
        <p:spPr>
          <a:xfrm>
            <a:off x="9427681" y="5242905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Hoch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FFD8F324-E87A-47AA-19BC-FAAFD121B483}"/>
              </a:ext>
            </a:extLst>
          </p:cNvPr>
          <p:cNvSpPr txBox="1"/>
          <p:nvPr/>
        </p:nvSpPr>
        <p:spPr>
          <a:xfrm>
            <a:off x="1756624" y="4897833"/>
            <a:ext cx="20168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Opportunistisch Umsetzen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0FF2797-70C0-A5A5-A975-B7848D9477CC}"/>
              </a:ext>
            </a:extLst>
          </p:cNvPr>
          <p:cNvSpPr txBox="1"/>
          <p:nvPr/>
        </p:nvSpPr>
        <p:spPr>
          <a:xfrm>
            <a:off x="8838476" y="4930263"/>
            <a:ext cx="10230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Hinterfragen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A1A5FBF7-7A5F-C665-B40F-DF2DE8F12479}"/>
              </a:ext>
            </a:extLst>
          </p:cNvPr>
          <p:cNvSpPr txBox="1"/>
          <p:nvPr/>
        </p:nvSpPr>
        <p:spPr>
          <a:xfrm>
            <a:off x="7854674" y="1841408"/>
            <a:ext cx="21034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Strategische Transformation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F767A4A4-E8A1-9031-DB9E-2ED8B1711685}"/>
              </a:ext>
            </a:extLst>
          </p:cNvPr>
          <p:cNvSpPr txBox="1"/>
          <p:nvPr/>
        </p:nvSpPr>
        <p:spPr>
          <a:xfrm>
            <a:off x="1782447" y="1916205"/>
            <a:ext cx="966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Priorisieren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93F20BD-1DB9-1734-1C53-BC4C765040CD}"/>
              </a:ext>
            </a:extLst>
          </p:cNvPr>
          <p:cNvSpPr txBox="1"/>
          <p:nvPr/>
        </p:nvSpPr>
        <p:spPr>
          <a:xfrm>
            <a:off x="4275292" y="6550223"/>
            <a:ext cx="3668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Evlt</a:t>
            </a:r>
            <a:r>
              <a:rPr kumimoji="0" lang="de-CH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GL-Portfolio in Sicht mit inkludieren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E9C41D58-4748-9AFE-77C7-7645ED59F561}"/>
              </a:ext>
            </a:extLst>
          </p:cNvPr>
          <p:cNvSpPr txBox="1"/>
          <p:nvPr/>
        </p:nvSpPr>
        <p:spPr>
          <a:xfrm>
            <a:off x="9915523" y="1855702"/>
            <a:ext cx="192261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CH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Bewusst steuern, eng begleiten, Risiken aktiv managen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C3909973-80D0-205E-62EF-8ED7BCF8E4A2}"/>
              </a:ext>
            </a:extLst>
          </p:cNvPr>
          <p:cNvSpPr txBox="1"/>
          <p:nvPr/>
        </p:nvSpPr>
        <p:spPr>
          <a:xfrm>
            <a:off x="-89701" y="4569649"/>
            <a:ext cx="18721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CH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Umsetzen, sofern Kapazität verfügbar sind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D729DC6C-E65A-061B-3464-31030E64C1AE}"/>
              </a:ext>
            </a:extLst>
          </p:cNvPr>
          <p:cNvSpPr txBox="1"/>
          <p:nvPr/>
        </p:nvSpPr>
        <p:spPr>
          <a:xfrm>
            <a:off x="694414" y="2019184"/>
            <a:ext cx="1056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CH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Rasch umsetzen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BEDB1E3E-909E-CDA6-0936-400F1E4AAA66}"/>
              </a:ext>
            </a:extLst>
          </p:cNvPr>
          <p:cNvSpPr txBox="1"/>
          <p:nvPr/>
        </p:nvSpPr>
        <p:spPr>
          <a:xfrm>
            <a:off x="9915523" y="4964821"/>
            <a:ext cx="153776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CH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In der Regel nicht starten, ggf. stoppen</a:t>
            </a:r>
          </a:p>
        </p:txBody>
      </p:sp>
    </p:spTree>
    <p:extLst>
      <p:ext uri="{BB962C8B-B14F-4D97-AF65-F5344CB8AC3E}">
        <p14:creationId xmlns:p14="http://schemas.microsoft.com/office/powerpoint/2010/main" val="2433337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RETC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TEMPLATESTYLE" val="3"/>
</p:tagLst>
</file>

<file path=ppt/theme/theme1.xml><?xml version="1.0" encoding="utf-8"?>
<a:theme xmlns:a="http://schemas.openxmlformats.org/drawingml/2006/main" name="Master Titel Insel Gruppe">
  <a:themeElements>
    <a:clrScheme name="Inselgrupe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677078"/>
      </a:accent1>
      <a:accent2>
        <a:srgbClr val="009670"/>
      </a:accent2>
      <a:accent3>
        <a:srgbClr val="6CA5DA"/>
      </a:accent3>
      <a:accent4>
        <a:srgbClr val="E5CBD6"/>
      </a:accent4>
      <a:accent5>
        <a:srgbClr val="EE8F7A"/>
      </a:accent5>
      <a:accent6>
        <a:srgbClr val="D1E2BC"/>
      </a:accent6>
      <a:hlink>
        <a:srgbClr val="0563C1"/>
      </a:hlink>
      <a:folHlink>
        <a:srgbClr val="954F72"/>
      </a:folHlink>
    </a:clrScheme>
    <a:fontScheme name="Inselgrupp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aster Inhalt Insel Gruppe">
  <a:themeElements>
    <a:clrScheme name="Inselgrupe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677078"/>
      </a:accent1>
      <a:accent2>
        <a:srgbClr val="009670"/>
      </a:accent2>
      <a:accent3>
        <a:srgbClr val="6CA5DA"/>
      </a:accent3>
      <a:accent4>
        <a:srgbClr val="E5CBD6"/>
      </a:accent4>
      <a:accent5>
        <a:srgbClr val="EE8F7A"/>
      </a:accent5>
      <a:accent6>
        <a:srgbClr val="D1E2BC"/>
      </a:accent6>
      <a:hlink>
        <a:srgbClr val="0563C1"/>
      </a:hlink>
      <a:folHlink>
        <a:srgbClr val="954F72"/>
      </a:folHlink>
    </a:clrScheme>
    <a:fontScheme name="Inselgrupp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Master Inhalt Insel Gruppe">
  <a:themeElements>
    <a:clrScheme name="Inselgrupe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677078"/>
      </a:accent1>
      <a:accent2>
        <a:srgbClr val="009670"/>
      </a:accent2>
      <a:accent3>
        <a:srgbClr val="6CA5DA"/>
      </a:accent3>
      <a:accent4>
        <a:srgbClr val="E5CBD6"/>
      </a:accent4>
      <a:accent5>
        <a:srgbClr val="EE8F7A"/>
      </a:accent5>
      <a:accent6>
        <a:srgbClr val="D1E2BC"/>
      </a:accent6>
      <a:hlink>
        <a:srgbClr val="0563C1"/>
      </a:hlink>
      <a:folHlink>
        <a:srgbClr val="954F72"/>
      </a:folHlink>
    </a:clrScheme>
    <a:fontScheme name="Inselgrupp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Insel-Gruppe Master_16_9_FWRG" id="{D9A57E0B-731C-7E41-BA6A-275B3BA9B676}" vid="{94FBFC70-513B-6C4B-8345-994A63377C2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79FB61CF317FA4689E23F83238B5213" ma:contentTypeVersion="26" ma:contentTypeDescription="Ein neues Dokument erstellen." ma:contentTypeScope="" ma:versionID="21d93237ed55670867cd0b34dd9f7383">
  <xsd:schema xmlns:xsd="http://www.w3.org/2001/XMLSchema" xmlns:xs="http://www.w3.org/2001/XMLSchema" xmlns:p="http://schemas.microsoft.com/office/2006/metadata/properties" xmlns:ns2="c5be0a8a-2ec2-4bd6-a9c0-6110b76b309c" xmlns:ns3="1fe1d998-5511-4f06-9ce7-f75b48b54738" targetNamespace="http://schemas.microsoft.com/office/2006/metadata/properties" ma:root="true" ma:fieldsID="816288dc4e6755865b373c002084f44a" ns2:_="" ns3:_="">
    <xsd:import namespace="c5be0a8a-2ec2-4bd6-a9c0-6110b76b309c"/>
    <xsd:import namespace="1fe1d998-5511-4f06-9ce7-f75b48b547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Dateiformat" minOccurs="0"/>
                <xsd:element ref="ns2:MediaServiceSearchProperties" minOccurs="0"/>
                <xsd:element ref="ns2:_Flow_Signoff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be0a8a-2ec2-4bd6-a9c0-6110b76b3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fbc16e23-8508-4027-a0bd-27e92fe957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Dateiformat" ma:index="25" nillable="true" ma:displayName="Dateiformat" ma:format="Dropdown" ma:internalName="Dateiformat">
      <xsd:simpleType>
        <xsd:restriction base="dms:Choice">
          <xsd:enumeration value="Word-Dokument"/>
          <xsd:enumeration value="Excel-Tabelle"/>
          <xsd:enumeration value="PDF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7" nillable="true" ma:displayName="Status Unterschrift" ma:internalName="Status_x0020_Unterschrift">
      <xsd:simpleType>
        <xsd:restriction base="dms:Text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e1d998-5511-4f06-9ce7-f75b48b5473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6be3375-961b-4130-b908-f9f645ca9122}" ma:internalName="TaxCatchAll" ma:showField="CatchAllData" ma:web="1fe1d998-5511-4f06-9ce7-f75b48b547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c5be0a8a-2ec2-4bd6-a9c0-6110b76b309c" xsi:nil="true"/>
    <Dateiformat xmlns="c5be0a8a-2ec2-4bd6-a9c0-6110b76b309c" xsi:nil="true"/>
    <TaxCatchAll xmlns="1fe1d998-5511-4f06-9ce7-f75b48b54738" xsi:nil="true"/>
    <lcf76f155ced4ddcb4097134ff3c332f xmlns="c5be0a8a-2ec2-4bd6-a9c0-6110b76b309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34C7CA-F39A-44D4-99CA-ED3DAC5C80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be0a8a-2ec2-4bd6-a9c0-6110b76b309c"/>
    <ds:schemaRef ds:uri="1fe1d998-5511-4f06-9ce7-f75b48b547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006ADA-70FD-469A-9DC7-D9B28489B917}">
  <ds:schemaRefs>
    <ds:schemaRef ds:uri="http://purl.org/dc/dcmitype/"/>
    <ds:schemaRef ds:uri="http://purl.org/dc/elements/1.1/"/>
    <ds:schemaRef ds:uri="http://www.w3.org/XML/1998/namespace"/>
    <ds:schemaRef ds:uri="http://schemas.microsoft.com/office/2006/metadata/properties"/>
    <ds:schemaRef ds:uri="1fe1d998-5511-4f06-9ce7-f75b48b54738"/>
    <ds:schemaRef ds:uri="http://purl.org/dc/terms/"/>
    <ds:schemaRef ds:uri="c5be0a8a-2ec2-4bd6-a9c0-6110b76b30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FE0CD2FE-0696-4615-85BA-CA8D9AC00F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1251</Words>
  <Application>Microsoft Office PowerPoint</Application>
  <PresentationFormat>Breitbild</PresentationFormat>
  <Paragraphs>426</Paragraphs>
  <Slides>9</Slides>
  <Notes>5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9</vt:i4>
      </vt:variant>
    </vt:vector>
  </HeadingPairs>
  <TitlesOfParts>
    <vt:vector size="17" baseType="lpstr">
      <vt:lpstr>Arial</vt:lpstr>
      <vt:lpstr>Arial Nova Light</vt:lpstr>
      <vt:lpstr>Calibri</vt:lpstr>
      <vt:lpstr>Verdana</vt:lpstr>
      <vt:lpstr>Wingdings</vt:lpstr>
      <vt:lpstr>Master Titel Insel Gruppe</vt:lpstr>
      <vt:lpstr>Master Inhalt Insel Gruppe</vt:lpstr>
      <vt:lpstr>1_Master Inhalt Insel Gruppe</vt:lpstr>
      <vt:lpstr>PowerPoint-Präsentation</vt:lpstr>
      <vt:lpstr>Strategieumsetzung – Jährlicher Zyklus</vt:lpstr>
      <vt:lpstr>PowerPoint-Präsentation</vt:lpstr>
      <vt:lpstr>Portfolios und Rollen</vt:lpstr>
      <vt:lpstr>Organisationsstruktur &amp; Projekt Organisation</vt:lpstr>
      <vt:lpstr>PowerPoint-Präsentation</vt:lpstr>
      <vt:lpstr>Dashboard Transformationsprogramm</vt:lpstr>
      <vt:lpstr>Transformationsprogramm Portfolio  -  Mockups</vt:lpstr>
      <vt:lpstr>Transformationsprogramm Portfolio – Matrix Sicht Mockup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 Schulung</dc:title>
  <dc:creator>adrian.bischof@csp-ag.ch</dc:creator>
  <cp:lastModifiedBy>Adrian Bischof CSP AG</cp:lastModifiedBy>
  <cp:revision>83</cp:revision>
  <cp:lastPrinted>2026-06-30T06:26:57Z</cp:lastPrinted>
  <dcterms:created xsi:type="dcterms:W3CDTF">2019-08-28T10:58:14Z</dcterms:created>
  <dcterms:modified xsi:type="dcterms:W3CDTF">2026-10-26T15:28:08Z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0x010100879FB61CF317FA4689E23F83238B5213</vt:lpwstr>
  </property>
  <property fmtid="{D5CDD505-2E9C-101B-9397-08002B2CF9AE}" pid="3" name="MediaServiceImageTags">
    <vt:lpwstr/>
  </property>
</Properties>
</file>